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23"/>
  </p:notesMasterIdLst>
  <p:sldIdLst>
    <p:sldId id="256" r:id="rId5"/>
    <p:sldId id="275" r:id="rId6"/>
    <p:sldId id="277" r:id="rId7"/>
    <p:sldId id="291" r:id="rId8"/>
    <p:sldId id="278" r:id="rId9"/>
    <p:sldId id="280" r:id="rId10"/>
    <p:sldId id="279" r:id="rId11"/>
    <p:sldId id="281" r:id="rId12"/>
    <p:sldId id="282" r:id="rId13"/>
    <p:sldId id="284" r:id="rId14"/>
    <p:sldId id="285" r:id="rId15"/>
    <p:sldId id="283" r:id="rId16"/>
    <p:sldId id="286" r:id="rId17"/>
    <p:sldId id="287" r:id="rId18"/>
    <p:sldId id="288" r:id="rId19"/>
    <p:sldId id="276" r:id="rId20"/>
    <p:sldId id="289" r:id="rId21"/>
    <p:sldId id="290" r:id="rId22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34" d="100"/>
          <a:sy n="134" d="100"/>
        </p:scale>
        <p:origin x="1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31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Proposal for Master Thesis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A93C68-15BF-B81F-B0FF-5A006AF0A3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47685" y="851832"/>
            <a:ext cx="4100279" cy="17199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3D Ultrasound (UR)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Expensive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Not always available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Limited resolution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F7DB6-AC43-C0C5-2BEB-E1C8A3DEEBB7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2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25E6DA-CE14-E9C0-A094-676629A5080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JP" dirty="0"/>
              <a:t>Introduction</a:t>
            </a:r>
          </a:p>
        </p:txBody>
      </p:sp>
      <p:pic>
        <p:nvPicPr>
          <p:cNvPr id="6" name="Picture 5" descr="A black and white image of a device&#10;&#10;AI-generated content may be incorrect.">
            <a:extLst>
              <a:ext uri="{FF2B5EF4-FFF2-40B4-BE49-F238E27FC236}">
                <a16:creationId xmlns:a16="http://schemas.microsoft.com/office/drawing/2014/main" id="{3139948F-60F8-78CE-39F0-DD91F2EE9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4970">
            <a:off x="5668419" y="676221"/>
            <a:ext cx="718291" cy="750607"/>
          </a:xfrm>
          <a:prstGeom prst="rect">
            <a:avLst/>
          </a:prstGeom>
        </p:spPr>
      </p:pic>
      <p:pic>
        <p:nvPicPr>
          <p:cNvPr id="1034" name="Picture 10" descr="Arm - Download free icons">
            <a:extLst>
              <a:ext uri="{FF2B5EF4-FFF2-40B4-BE49-F238E27FC236}">
                <a16:creationId xmlns:a16="http://schemas.microsoft.com/office/drawing/2014/main" id="{266DD1A9-4B11-3F6A-0409-FA418DF08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62171">
            <a:off x="6603427" y="413674"/>
            <a:ext cx="1275699" cy="127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BF72B16-9CBC-A66B-FD0F-B2587DE9532C}"/>
              </a:ext>
            </a:extLst>
          </p:cNvPr>
          <p:cNvSpPr txBox="1">
            <a:spLocks/>
          </p:cNvSpPr>
          <p:nvPr/>
        </p:nvSpPr>
        <p:spPr>
          <a:xfrm>
            <a:off x="124372" y="3939903"/>
            <a:ext cx="5023692" cy="84775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2500"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3D UR Reconstruction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b="0" dirty="0"/>
              <a:t>2D UR Images + Probe Pose = 3D Volume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403C321-F04C-FABF-9CD3-F636EC280002}"/>
              </a:ext>
            </a:extLst>
          </p:cNvPr>
          <p:cNvSpPr/>
          <p:nvPr/>
        </p:nvSpPr>
        <p:spPr>
          <a:xfrm>
            <a:off x="6474028" y="2404358"/>
            <a:ext cx="576064" cy="7836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743BC7A-D94E-713F-3700-2F8A7F1AE2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637" y="2268513"/>
            <a:ext cx="4330799" cy="20952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3B379E-E2A8-90C3-44F6-671FE52AFAD0}"/>
              </a:ext>
            </a:extLst>
          </p:cNvPr>
          <p:cNvSpPr txBox="1"/>
          <p:nvPr/>
        </p:nvSpPr>
        <p:spPr>
          <a:xfrm>
            <a:off x="5388927" y="4211019"/>
            <a:ext cx="27462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https://github.com/ImFusionGmbH/DualTrack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4E6A283-55F4-68F9-AC1F-926F1E690196}"/>
              </a:ext>
            </a:extLst>
          </p:cNvPr>
          <p:cNvSpPr/>
          <p:nvPr/>
        </p:nvSpPr>
        <p:spPr>
          <a:xfrm>
            <a:off x="6258992" y="1516023"/>
            <a:ext cx="576064" cy="62367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790FBAC-A20E-A5E1-D96E-D47C936C81BD}"/>
              </a:ext>
            </a:extLst>
          </p:cNvPr>
          <p:cNvSpPr/>
          <p:nvPr/>
        </p:nvSpPr>
        <p:spPr>
          <a:xfrm>
            <a:off x="899592" y="2876187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9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E55EB-E11D-F0D9-5A29-3350E71D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B47ABC-6FB1-03E0-E874-D20F695F26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5174" y="906652"/>
            <a:ext cx="1976043" cy="423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Tracking Probe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737E1D-618E-C0DD-C155-FC645C545507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3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E38E39-9766-B17D-88EC-3F1427AA815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How do we get the probes pose?</a:t>
            </a:r>
            <a:endParaRPr lang="en-JP" dirty="0"/>
          </a:p>
        </p:txBody>
      </p:sp>
      <p:pic>
        <p:nvPicPr>
          <p:cNvPr id="5" name="Picture 4" descr="A black and white image of a device&#10;&#10;AI-generated content may be incorrect.">
            <a:extLst>
              <a:ext uri="{FF2B5EF4-FFF2-40B4-BE49-F238E27FC236}">
                <a16:creationId xmlns:a16="http://schemas.microsoft.com/office/drawing/2014/main" id="{E4DD0DEE-6676-EA31-F060-26A8455431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4970">
            <a:off x="1492612" y="1330069"/>
            <a:ext cx="718291" cy="750607"/>
          </a:xfrm>
          <a:prstGeom prst="rect">
            <a:avLst/>
          </a:prstGeom>
        </p:spPr>
      </p:pic>
      <p:pic>
        <p:nvPicPr>
          <p:cNvPr id="2052" name="Picture 4" descr="Camera, Photography Icon Hd PNG Transparent Background, Free Download ...">
            <a:extLst>
              <a:ext uri="{FF2B5EF4-FFF2-40B4-BE49-F238E27FC236}">
                <a16:creationId xmlns:a16="http://schemas.microsoft.com/office/drawing/2014/main" id="{75D733EA-C6FD-AAB1-B513-8051442B3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4" y="1419622"/>
            <a:ext cx="744206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0B06FB1-74E8-2392-9FA4-8FFCB822BFC2}"/>
              </a:ext>
            </a:extLst>
          </p:cNvPr>
          <p:cNvSpPr txBox="1">
            <a:spLocks/>
          </p:cNvSpPr>
          <p:nvPr/>
        </p:nvSpPr>
        <p:spPr>
          <a:xfrm>
            <a:off x="3631169" y="902730"/>
            <a:ext cx="1976043" cy="6480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Speckle Decorrelation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7173C920-A56D-FC7A-848D-B0355102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574" y="152307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D28C307-4217-7844-A5B2-D1DD40194925}"/>
              </a:ext>
            </a:extLst>
          </p:cNvPr>
          <p:cNvSpPr txBox="1">
            <a:spLocks/>
          </p:cNvSpPr>
          <p:nvPr/>
        </p:nvSpPr>
        <p:spPr>
          <a:xfrm>
            <a:off x="6329997" y="902730"/>
            <a:ext cx="2485428" cy="6480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Deep Learning (DL)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056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092E2C3E-2DED-7DAC-F359-71AAE9D70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419622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6401323F-E69F-C8ED-8765-639AF517A159}"/>
              </a:ext>
            </a:extLst>
          </p:cNvPr>
          <p:cNvSpPr/>
          <p:nvPr/>
        </p:nvSpPr>
        <p:spPr>
          <a:xfrm rot="16200000">
            <a:off x="2713161" y="1162603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47E588E-0698-FE09-AC97-8A5B17E4A1AD}"/>
              </a:ext>
            </a:extLst>
          </p:cNvPr>
          <p:cNvSpPr/>
          <p:nvPr/>
        </p:nvSpPr>
        <p:spPr>
          <a:xfrm rot="16200000">
            <a:off x="5690447" y="1202958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3417A2A9-0D3B-89BD-C4D2-0A0D1873E4F9}"/>
              </a:ext>
            </a:extLst>
          </p:cNvPr>
          <p:cNvSpPr txBox="1">
            <a:spLocks/>
          </p:cNvSpPr>
          <p:nvPr/>
        </p:nvSpPr>
        <p:spPr>
          <a:xfrm>
            <a:off x="932664" y="3456794"/>
            <a:ext cx="7278672" cy="134720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Oftentimes: </a:t>
            </a:r>
            <a:r>
              <a:rPr lang="en-US" sz="2000" b="0" dirty="0"/>
              <a:t>Additional data from IMU, external sensor etc.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➔ Current research focusses on vision-only DL methods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➔ </a:t>
            </a:r>
            <a:r>
              <a:rPr lang="en-US" sz="2000" dirty="0"/>
              <a:t>Main Problems: </a:t>
            </a:r>
            <a:r>
              <a:rPr lang="en-US" sz="2000" b="0" dirty="0"/>
              <a:t>Drift, Generalizability, Reproducibility</a:t>
            </a: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086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720D-4A8F-BB56-F49C-72729789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50561D-1749-D860-30B5-93FC549147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Build a pose graph from estimated probe poses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Use Pose Graph Optimization (PGO) to increase pose reconstruction accuracy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Existing research: Use of external sensor or IMU data, tests on non-public data sets; implicit global consistency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Vision-only; explicit attention to global consistency; usage of realistic, publicly available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Research hypothesis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“</a:t>
            </a:r>
            <a:r>
              <a:rPr lang="en-US" sz="2000" b="0" i="1" dirty="0"/>
              <a:t>PGO will improve pose estimation performance and consistency of vision-based DL methods for 3d UR reconstruction.”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D70AE-7E1E-8260-B8C4-3C66D7DFD1F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4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504CE6-9EB9-2940-6EA3-37ADB1B3EA9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Research proposal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8946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D8BE-2205-1750-A1D3-EE96FF6B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AAE836-D63B-14B9-2C13-E7449C635A3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544" y="843558"/>
            <a:ext cx="4824536" cy="7920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Simultaneous Localization and Mapping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(SLAM)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235A8-3A15-5530-3742-F21AF6A55281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5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62AE0E-F373-EF72-831E-ED054F0D9F8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Pose Graph Optimization (PGO)</a:t>
            </a:r>
            <a:endParaRPr lang="en-JP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3034D-8FE3-625F-E24C-917F82CD6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35646"/>
            <a:ext cx="4761731" cy="2237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25F79-E5A1-68C9-010A-A7C12FC45192}"/>
              </a:ext>
            </a:extLst>
          </p:cNvPr>
          <p:cNvSpPr txBox="1"/>
          <p:nvPr/>
        </p:nvSpPr>
        <p:spPr>
          <a:xfrm>
            <a:off x="716254" y="3939902"/>
            <a:ext cx="4264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https://sifsof.com/clinical-apps/simultaneous-localization-and-mapping-slam/</a:t>
            </a:r>
          </a:p>
        </p:txBody>
      </p:sp>
      <p:pic>
        <p:nvPicPr>
          <p:cNvPr id="32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7DEE81FC-85B2-C25F-D922-5612E9A3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5968718" y="2023933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F871510-17FA-5DFE-7EF1-6E24DCCD275F}"/>
              </a:ext>
            </a:extLst>
          </p:cNvPr>
          <p:cNvSpPr txBox="1">
            <a:spLocks/>
          </p:cNvSpPr>
          <p:nvPr/>
        </p:nvSpPr>
        <p:spPr>
          <a:xfrm>
            <a:off x="7411491" y="345814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7652B628-D35E-FA5D-0B60-AD7185A6EBD1}"/>
              </a:ext>
            </a:extLst>
          </p:cNvPr>
          <p:cNvSpPr txBox="1">
            <a:spLocks/>
          </p:cNvSpPr>
          <p:nvPr/>
        </p:nvSpPr>
        <p:spPr>
          <a:xfrm>
            <a:off x="7716291" y="221170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A5CAB84-A151-2F76-0C8E-8A4695A8DC3B}"/>
              </a:ext>
            </a:extLst>
          </p:cNvPr>
          <p:cNvSpPr txBox="1">
            <a:spLocks/>
          </p:cNvSpPr>
          <p:nvPr/>
        </p:nvSpPr>
        <p:spPr>
          <a:xfrm>
            <a:off x="6475387" y="136278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1257DF7-0D13-B7F5-7740-4DADA9D5E419}"/>
              </a:ext>
            </a:extLst>
          </p:cNvPr>
          <p:cNvSpPr txBox="1">
            <a:spLocks/>
          </p:cNvSpPr>
          <p:nvPr/>
        </p:nvSpPr>
        <p:spPr>
          <a:xfrm>
            <a:off x="6259362" y="271576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5B0DB6-C49B-7F2E-9714-FBCB3FA80B5B}"/>
              </a:ext>
            </a:extLst>
          </p:cNvPr>
          <p:cNvSpPr txBox="1">
            <a:spLocks/>
          </p:cNvSpPr>
          <p:nvPr/>
        </p:nvSpPr>
        <p:spPr>
          <a:xfrm>
            <a:off x="7205608" y="168534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6A30B786-3503-3AF6-42D9-8D9084E4661E}"/>
              </a:ext>
            </a:extLst>
          </p:cNvPr>
          <p:cNvSpPr txBox="1">
            <a:spLocks/>
          </p:cNvSpPr>
          <p:nvPr/>
        </p:nvSpPr>
        <p:spPr>
          <a:xfrm>
            <a:off x="6619402" y="22831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93E2D39B-0694-5F61-B202-0EFB202B28B3}"/>
              </a:ext>
            </a:extLst>
          </p:cNvPr>
          <p:cNvSpPr txBox="1">
            <a:spLocks/>
          </p:cNvSpPr>
          <p:nvPr/>
        </p:nvSpPr>
        <p:spPr>
          <a:xfrm>
            <a:off x="7018120" y="295201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A890B1-711B-4A17-4A24-20B994DFA4F6}"/>
              </a:ext>
            </a:extLst>
          </p:cNvPr>
          <p:cNvSpPr txBox="1"/>
          <p:nvPr/>
        </p:nvSpPr>
        <p:spPr>
          <a:xfrm>
            <a:off x="5553070" y="4018953"/>
            <a:ext cx="3305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:       Pose at node </a:t>
            </a:r>
            <a:r>
              <a:rPr lang="en-US" sz="1400" dirty="0" err="1">
                <a:latin typeface="游ゴシック Medium" panose="020B0500000000000000" pitchFamily="50" charset="-128"/>
              </a:rPr>
              <a:t>i</a:t>
            </a:r>
            <a:endParaRPr lang="en-US" sz="1400" dirty="0">
              <a:latin typeface="游ゴシック Medium" panose="020B0500000000000000" pitchFamily="50" charset="-128"/>
            </a:endParaRPr>
          </a:p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</a:t>
            </a:r>
            <a:r>
              <a:rPr lang="en-US" sz="1400" dirty="0">
                <a:latin typeface="游ゴシック Medium" panose="020B0500000000000000" pitchFamily="50" charset="-128"/>
              </a:rPr>
              <a:t>: Transform between nodes </a:t>
            </a:r>
            <a:r>
              <a:rPr lang="en-US" sz="1400" dirty="0" err="1">
                <a:latin typeface="游ゴシック Medium" panose="020B0500000000000000" pitchFamily="50" charset="-128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, j</a:t>
            </a:r>
          </a:p>
        </p:txBody>
      </p:sp>
    </p:spTree>
    <p:extLst>
      <p:ext uri="{BB962C8B-B14F-4D97-AF65-F5344CB8AC3E}">
        <p14:creationId xmlns:p14="http://schemas.microsoft.com/office/powerpoint/2010/main" val="81820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4C34B-64DA-61CC-D9B7-AC47ECF86EB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2F855E-67C7-897F-D914-EC3B3289092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Pose Graph Optimization (PGO)</a:t>
            </a:r>
          </a:p>
        </p:txBody>
      </p:sp>
      <p:pic>
        <p:nvPicPr>
          <p:cNvPr id="3074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A61E3F5E-CFAE-18D5-1DDF-03841385A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551837" y="2240539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B595A67-5BB7-348B-220D-793CB4F632D6}"/>
              </a:ext>
            </a:extLst>
          </p:cNvPr>
          <p:cNvSpPr txBox="1">
            <a:spLocks/>
          </p:cNvSpPr>
          <p:nvPr/>
        </p:nvSpPr>
        <p:spPr>
          <a:xfrm>
            <a:off x="1994610" y="3674753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7652EAAF-9EED-6167-68A3-92BD6C8A87FD}"/>
              </a:ext>
            </a:extLst>
          </p:cNvPr>
          <p:cNvSpPr txBox="1">
            <a:spLocks/>
          </p:cNvSpPr>
          <p:nvPr/>
        </p:nvSpPr>
        <p:spPr>
          <a:xfrm>
            <a:off x="2299410" y="242831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24335836-A989-B7AB-CDBA-15CCD4C65638}"/>
              </a:ext>
            </a:extLst>
          </p:cNvPr>
          <p:cNvSpPr txBox="1">
            <a:spLocks/>
          </p:cNvSpPr>
          <p:nvPr/>
        </p:nvSpPr>
        <p:spPr>
          <a:xfrm>
            <a:off x="1058506" y="157938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447D328F-B35C-0041-6DD8-447227EC23CD}"/>
              </a:ext>
            </a:extLst>
          </p:cNvPr>
          <p:cNvSpPr txBox="1">
            <a:spLocks/>
          </p:cNvSpPr>
          <p:nvPr/>
        </p:nvSpPr>
        <p:spPr>
          <a:xfrm>
            <a:off x="842481" y="293237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0A1AB8DE-FCBF-8157-FCC0-769789844263}"/>
              </a:ext>
            </a:extLst>
          </p:cNvPr>
          <p:cNvSpPr txBox="1">
            <a:spLocks/>
          </p:cNvSpPr>
          <p:nvPr/>
        </p:nvSpPr>
        <p:spPr>
          <a:xfrm>
            <a:off x="1788727" y="190195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895E74C2-E5BF-3C95-39EF-E64907D5D954}"/>
              </a:ext>
            </a:extLst>
          </p:cNvPr>
          <p:cNvSpPr txBox="1">
            <a:spLocks/>
          </p:cNvSpPr>
          <p:nvPr/>
        </p:nvSpPr>
        <p:spPr>
          <a:xfrm>
            <a:off x="1202521" y="249974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00E2CB42-650D-62A4-B48C-72A252CD26A2}"/>
              </a:ext>
            </a:extLst>
          </p:cNvPr>
          <p:cNvSpPr txBox="1">
            <a:spLocks/>
          </p:cNvSpPr>
          <p:nvPr/>
        </p:nvSpPr>
        <p:spPr>
          <a:xfrm>
            <a:off x="1601239" y="31686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0C7AE-2A49-A57A-FD75-23D57CA882D7}"/>
              </a:ext>
            </a:extLst>
          </p:cNvPr>
          <p:cNvSpPr txBox="1"/>
          <p:nvPr/>
        </p:nvSpPr>
        <p:spPr>
          <a:xfrm>
            <a:off x="3350910" y="913878"/>
            <a:ext cx="43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 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/ 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 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Six Degrees of Freedom (6DoF) Pose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E0B3E-9523-D44A-41C3-6494BE929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83194"/>
              </p:ext>
            </p:extLst>
          </p:nvPr>
        </p:nvGraphicFramePr>
        <p:xfrm>
          <a:off x="3989842" y="1544259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1FBC70-3420-EB0B-8691-BC3188C9F310}"/>
              </a:ext>
            </a:extLst>
          </p:cNvPr>
          <p:cNvSpPr txBox="1"/>
          <p:nvPr/>
        </p:nvSpPr>
        <p:spPr>
          <a:xfrm>
            <a:off x="6258535" y="1786650"/>
            <a:ext cx="1586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a typeface="游ゴシック Medium"/>
                <a:cs typeface="Times New Roman"/>
              </a:rPr>
              <a:t>r</a:t>
            </a:r>
            <a:r>
              <a:rPr lang="en-US" sz="1400" baseline="-25000" dirty="0" err="1"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Rotation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A9BC3-3143-14F7-AF8F-4841FBE9FECF}"/>
              </a:ext>
            </a:extLst>
          </p:cNvPr>
          <p:cNvSpPr txBox="1"/>
          <p:nvPr/>
        </p:nvSpPr>
        <p:spPr>
          <a:xfrm>
            <a:off x="6258535" y="2173734"/>
            <a:ext cx="180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a typeface="游ゴシック Medium"/>
                <a:cs typeface="Times New Roman"/>
              </a:rPr>
              <a:t>t</a:t>
            </a:r>
            <a:r>
              <a:rPr lang="en-US" sz="1400" baseline="-25000" dirty="0" err="1"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Translation vector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7A5088D9-513C-CC77-687E-37901C864447}"/>
              </a:ext>
            </a:extLst>
          </p:cNvPr>
          <p:cNvSpPr/>
          <p:nvPr/>
        </p:nvSpPr>
        <p:spPr>
          <a:xfrm>
            <a:off x="3833650" y="1495380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D91B8C19-5B87-1D4C-ADA5-8AA86805B052}"/>
              </a:ext>
            </a:extLst>
          </p:cNvPr>
          <p:cNvSpPr/>
          <p:nvPr/>
        </p:nvSpPr>
        <p:spPr>
          <a:xfrm rot="10800000">
            <a:off x="5699271" y="1495380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A9F86-FDB0-98FA-AFB1-34476E9F0F2D}"/>
              </a:ext>
            </a:extLst>
          </p:cNvPr>
          <p:cNvSpPr txBox="1"/>
          <p:nvPr/>
        </p:nvSpPr>
        <p:spPr>
          <a:xfrm>
            <a:off x="3330494" y="3220982"/>
            <a:ext cx="51171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: Absolute pose (relative to starting point)</a:t>
            </a:r>
          </a:p>
          <a:p>
            <a:r>
              <a:rPr lang="en-US" sz="1400" dirty="0">
                <a:latin typeface="游ゴシック Medium" panose="020B0500000000000000" pitchFamily="50" charset="-128"/>
              </a:rPr>
              <a:t>➔ How do I rotate and translate to get from the starting point to the current node?</a:t>
            </a:r>
          </a:p>
          <a:p>
            <a:endParaRPr lang="en-US" sz="1400" dirty="0">
              <a:latin typeface="游ゴシック Medium" panose="020B0500000000000000" pitchFamily="50" charset="-128"/>
            </a:endParaRPr>
          </a:p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</a:t>
            </a:r>
            <a:r>
              <a:rPr lang="en-US" sz="1400" dirty="0">
                <a:latin typeface="游ゴシック Medium" panose="020B0500000000000000" pitchFamily="50" charset="-128"/>
              </a:rPr>
              <a:t>: Relative transform between nodes</a:t>
            </a:r>
          </a:p>
          <a:p>
            <a:r>
              <a:rPr lang="en-US" sz="1400" dirty="0">
                <a:latin typeface="游ゴシック Medium" panose="020B0500000000000000" pitchFamily="50" charset="-128"/>
              </a:rPr>
              <a:t>➔ How do I rotate and translate to get from one node to the next?</a:t>
            </a:r>
          </a:p>
        </p:txBody>
      </p:sp>
    </p:spTree>
    <p:extLst>
      <p:ext uri="{BB962C8B-B14F-4D97-AF65-F5344CB8AC3E}">
        <p14:creationId xmlns:p14="http://schemas.microsoft.com/office/powerpoint/2010/main" val="44461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A0A4-BDF8-0FFE-3D49-43D7AC8E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415EB-5C18-B452-4BAC-7C8417AA3D4D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7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9A4447-A51F-0F6E-BF1A-8A4E643F746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JP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B0741CC-449A-D481-A856-51F74D6847F0}"/>
              </a:ext>
            </a:extLst>
          </p:cNvPr>
          <p:cNvSpPr txBox="1">
            <a:spLocks/>
          </p:cNvSpPr>
          <p:nvPr/>
        </p:nvSpPr>
        <p:spPr>
          <a:xfrm>
            <a:off x="899592" y="947090"/>
            <a:ext cx="5400600" cy="38569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Acquire pose predictions from DL model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Build initial pose graph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Add additional constraints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Add weights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Apply PGO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905AE02-157A-21A3-B155-7FBBC0697D7E}"/>
              </a:ext>
            </a:extLst>
          </p:cNvPr>
          <p:cNvSpPr txBox="1">
            <a:spLocks/>
          </p:cNvSpPr>
          <p:nvPr/>
        </p:nvSpPr>
        <p:spPr>
          <a:xfrm>
            <a:off x="7301619" y="2278138"/>
            <a:ext cx="1576142" cy="36004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A5FACE6-1C2D-0B34-4168-83811BD5CBE7}"/>
              </a:ext>
            </a:extLst>
          </p:cNvPr>
          <p:cNvSpPr/>
          <p:nvPr/>
        </p:nvSpPr>
        <p:spPr>
          <a:xfrm>
            <a:off x="538461" y="923720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37023A96-ABDC-7908-B885-95C8545E5939}"/>
              </a:ext>
            </a:extLst>
          </p:cNvPr>
          <p:cNvSpPr/>
          <p:nvPr/>
        </p:nvSpPr>
        <p:spPr>
          <a:xfrm>
            <a:off x="538461" y="1689528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AC678EE0-AE69-A798-105A-7B38BDA96FEC}"/>
              </a:ext>
            </a:extLst>
          </p:cNvPr>
          <p:cNvSpPr/>
          <p:nvPr/>
        </p:nvSpPr>
        <p:spPr>
          <a:xfrm>
            <a:off x="538461" y="245264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E990632-B2BD-1F36-D22B-DAA800C61693}"/>
              </a:ext>
            </a:extLst>
          </p:cNvPr>
          <p:cNvSpPr/>
          <p:nvPr/>
        </p:nvSpPr>
        <p:spPr>
          <a:xfrm>
            <a:off x="537370" y="3246763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F00AEA3-3A74-24A9-D8BC-3811B9EC203B}"/>
              </a:ext>
            </a:extLst>
          </p:cNvPr>
          <p:cNvSpPr/>
          <p:nvPr/>
        </p:nvSpPr>
        <p:spPr>
          <a:xfrm>
            <a:off x="550566" y="4040881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210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40A7-1564-9640-AF68-893759E6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0DFBB-19A4-2282-034A-6CE91DBC205C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9093107" y="4704588"/>
            <a:ext cx="480060" cy="273844"/>
          </a:xfrm>
        </p:spPr>
        <p:txBody>
          <a:bodyPr/>
          <a:lstStyle/>
          <a:p>
            <a:fld id="{7475F232-FFFE-5E6C-5554-2F165DAD28C0}" type="slidenum">
              <a:rPr lang="en-JP" smtClean="0"/>
              <a:t>8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3F0C07-ADF2-FDB0-FF3C-8059041238D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Acquire pose predictions from DL model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BBB3F1-2966-E583-73CE-E7D6D97CF542}"/>
              </a:ext>
            </a:extLst>
          </p:cNvPr>
          <p:cNvSpPr txBox="1">
            <a:spLocks/>
          </p:cNvSpPr>
          <p:nvPr/>
        </p:nvSpPr>
        <p:spPr>
          <a:xfrm>
            <a:off x="5174865" y="1957018"/>
            <a:ext cx="3501591" cy="20548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Pose predictions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absolute poses T</a:t>
            </a:r>
            <a:r>
              <a:rPr lang="en-US" sz="1850" b="0" baseline="-25000" dirty="0">
                <a:ea typeface="游ゴシック Medium"/>
                <a:cs typeface="Times New Roman"/>
              </a:rPr>
              <a:t>i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relative transforms </a:t>
            </a:r>
            <a:r>
              <a:rPr lang="en-US" sz="185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85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i→i+1</a:t>
            </a:r>
            <a:endParaRPr lang="en-US" sz="1850" b="0" dirty="0">
              <a:solidFill>
                <a:schemeClr val="accent1"/>
              </a:solidFill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UR Frames/Images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Feature vectors (FVs)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9E4B2AE-A502-AA09-1EE9-E7467E84773E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7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4027E8FD-6D1B-1ABD-9CF7-EB915390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851670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48509-CB3D-883E-B19B-7C1BEAE41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2" y="1939488"/>
            <a:ext cx="1140702" cy="7604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496AC3-8CCA-9F75-CF1A-446C0B14E973}"/>
              </a:ext>
            </a:extLst>
          </p:cNvPr>
          <p:cNvSpPr txBox="1"/>
          <p:nvPr/>
        </p:nvSpPr>
        <p:spPr>
          <a:xfrm>
            <a:off x="1079612" y="2699956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UR frames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5C89568-EFE9-1405-E238-0ABA4D260AFD}"/>
              </a:ext>
            </a:extLst>
          </p:cNvPr>
          <p:cNvSpPr/>
          <p:nvPr/>
        </p:nvSpPr>
        <p:spPr>
          <a:xfrm rot="16200000">
            <a:off x="2195738" y="2012107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F7BFAA8-55FB-8F9B-2D9F-6DB62AB868E0}"/>
              </a:ext>
            </a:extLst>
          </p:cNvPr>
          <p:cNvSpPr/>
          <p:nvPr/>
        </p:nvSpPr>
        <p:spPr>
          <a:xfrm rot="16200000">
            <a:off x="4341473" y="200788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B2C2-EF86-CCBC-02C9-4DE39E4A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93D7D0-4314-1A75-50EC-1B562C358BF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9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2EE2B4-CECD-2CC9-22D6-EE3098A4DDF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Build initial pose graph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444DA1-9224-48A5-DD0C-1730798FD5AE}"/>
              </a:ext>
            </a:extLst>
          </p:cNvPr>
          <p:cNvSpPr txBox="1">
            <a:spLocks/>
          </p:cNvSpPr>
          <p:nvPr/>
        </p:nvSpPr>
        <p:spPr>
          <a:xfrm>
            <a:off x="536218" y="1928804"/>
            <a:ext cx="939437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</a:t>
            </a:r>
            <a:r>
              <a:rPr lang="en-US" sz="2000" b="0" baseline="-25000" dirty="0">
                <a:ea typeface="游ゴシック Medium"/>
                <a:cs typeface="Times New Roman"/>
              </a:rPr>
              <a:t>i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</a:t>
            </a:r>
            <a:r>
              <a:rPr lang="en-US" sz="2000" b="0" baseline="-25000" dirty="0">
                <a:ea typeface="游ゴシック Medium"/>
                <a:cs typeface="Times New Roman"/>
              </a:rPr>
              <a:t>i→i+1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167EF99-7ACF-634F-F145-E0A65D5CDAAE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8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127C20A5-4F6A-C7B9-688D-F4CB39C49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2198703" y="1906222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F7F4102-36D2-C093-5A4A-341036E64ABE}"/>
              </a:ext>
            </a:extLst>
          </p:cNvPr>
          <p:cNvSpPr txBox="1">
            <a:spLocks/>
          </p:cNvSpPr>
          <p:nvPr/>
        </p:nvSpPr>
        <p:spPr>
          <a:xfrm>
            <a:off x="3641476" y="33404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F10C4C6-D6EC-D290-1AF6-AB3660B7DD64}"/>
              </a:ext>
            </a:extLst>
          </p:cNvPr>
          <p:cNvSpPr txBox="1">
            <a:spLocks/>
          </p:cNvSpPr>
          <p:nvPr/>
        </p:nvSpPr>
        <p:spPr>
          <a:xfrm>
            <a:off x="3819739" y="208765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EF591005-9BE4-1553-FA5A-2036E2BF7942}"/>
              </a:ext>
            </a:extLst>
          </p:cNvPr>
          <p:cNvSpPr txBox="1">
            <a:spLocks/>
          </p:cNvSpPr>
          <p:nvPr/>
        </p:nvSpPr>
        <p:spPr>
          <a:xfrm>
            <a:off x="2705372" y="124507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F97075-F679-8187-A8C2-4FE0F9EF5101}"/>
              </a:ext>
            </a:extLst>
          </p:cNvPr>
          <p:cNvSpPr txBox="1">
            <a:spLocks/>
          </p:cNvSpPr>
          <p:nvPr/>
        </p:nvSpPr>
        <p:spPr>
          <a:xfrm>
            <a:off x="2489347" y="2598053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7CB9E37-7102-59F5-B7E4-22E6B30CF014}"/>
              </a:ext>
            </a:extLst>
          </p:cNvPr>
          <p:cNvSpPr txBox="1">
            <a:spLocks/>
          </p:cNvSpPr>
          <p:nvPr/>
        </p:nvSpPr>
        <p:spPr>
          <a:xfrm>
            <a:off x="3435593" y="156763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AFD0B059-4BB4-D525-1034-A3747B826EF3}"/>
              </a:ext>
            </a:extLst>
          </p:cNvPr>
          <p:cNvSpPr txBox="1">
            <a:spLocks/>
          </p:cNvSpPr>
          <p:nvPr/>
        </p:nvSpPr>
        <p:spPr>
          <a:xfrm>
            <a:off x="2849387" y="216542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ACBFAA8-9BD9-4BF4-0533-924AA874BF50}"/>
              </a:ext>
            </a:extLst>
          </p:cNvPr>
          <p:cNvSpPr txBox="1">
            <a:spLocks/>
          </p:cNvSpPr>
          <p:nvPr/>
        </p:nvSpPr>
        <p:spPr>
          <a:xfrm>
            <a:off x="3248105" y="283430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18" name="Flowchart: Extract 17">
            <a:extLst>
              <a:ext uri="{FF2B5EF4-FFF2-40B4-BE49-F238E27FC236}">
                <a16:creationId xmlns:a16="http://schemas.microsoft.com/office/drawing/2014/main" id="{B3E44ADD-4E11-1C9F-4157-FE77C2EA83CE}"/>
              </a:ext>
            </a:extLst>
          </p:cNvPr>
          <p:cNvSpPr/>
          <p:nvPr/>
        </p:nvSpPr>
        <p:spPr>
          <a:xfrm>
            <a:off x="546630" y="4332902"/>
            <a:ext cx="571138" cy="429556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游ゴシック Medium" panose="020B0500000000000000" pitchFamily="50" charset="-128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A81CBD9-A541-7082-6215-34675AAD0613}"/>
              </a:ext>
            </a:extLst>
          </p:cNvPr>
          <p:cNvSpPr txBox="1">
            <a:spLocks/>
          </p:cNvSpPr>
          <p:nvPr/>
        </p:nvSpPr>
        <p:spPr>
          <a:xfrm>
            <a:off x="688183" y="4406579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CFB23DD1-22E0-6D7D-3B80-A0DFAE2DF40C}"/>
              </a:ext>
            </a:extLst>
          </p:cNvPr>
          <p:cNvSpPr txBox="1">
            <a:spLocks/>
          </p:cNvSpPr>
          <p:nvPr/>
        </p:nvSpPr>
        <p:spPr>
          <a:xfrm>
            <a:off x="1068672" y="4380946"/>
            <a:ext cx="7273120" cy="36680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This is not yet optimizable because of inherent consistency!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6BF83E9-EB05-5C19-B99A-460AEA8541BB}"/>
              </a:ext>
            </a:extLst>
          </p:cNvPr>
          <p:cNvSpPr/>
          <p:nvPr/>
        </p:nvSpPr>
        <p:spPr>
          <a:xfrm rot="16200000">
            <a:off x="1603787" y="204901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Placeholder 1">
                <a:extLst>
                  <a:ext uri="{FF2B5EF4-FFF2-40B4-BE49-F238E27FC236}">
                    <a16:creationId xmlns:a16="http://schemas.microsoft.com/office/drawing/2014/main" id="{BC4E5A4F-A91C-DE27-88C0-58F11C0F40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818813"/>
                <a:ext cx="4320480" cy="104389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1400" dirty="0">
                    <a:ea typeface="游ゴシック Medium"/>
                    <a:cs typeface="Times New Roman"/>
                  </a:rPr>
                  <a:t>Cost function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1400" b="0" dirty="0">
                    <a:ea typeface="游ゴシック Medium"/>
                    <a:cs typeface="Times New Roman"/>
                  </a:rPr>
                  <a:t>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4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𝑘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14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log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⁡(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1400" b="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∙(</m:t>
                        </m:r>
                        <m:sSup>
                          <m:sSupPr>
                            <m:ctrlPr>
                              <a:rPr lang="en-US" sz="14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1400" b="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</m:t>
                            </m:r>
                          </m:e>
                          <m:sup>
                            <m:r>
                              <a:rPr lang="en-US" sz="14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𝑇𝑗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))</m:t>
                        </m:r>
                      </m:e>
                    </m:nary>
                  </m:oMath>
                </a14:m>
                <a:endParaRPr lang="en-US" sz="1400" b="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1400" b="0" dirty="0"/>
                  <a:t>➔ Minimize inconsistency by adjusting nodes T</a:t>
                </a:r>
                <a:r>
                  <a:rPr lang="en-US" sz="1400" b="0" baseline="-25000" dirty="0"/>
                  <a:t>i</a:t>
                </a:r>
                <a:endParaRPr lang="en-US" sz="1400" b="0" baseline="-25000" dirty="0">
                  <a:ea typeface="游ゴシック Medium"/>
                  <a:cs typeface="Times New Roman"/>
                </a:endParaRPr>
              </a:p>
            </p:txBody>
          </p:sp>
        </mc:Choice>
        <mc:Fallback>
          <p:sp>
            <p:nvSpPr>
              <p:cNvPr id="26" name="Text Placeholder 1">
                <a:extLst>
                  <a:ext uri="{FF2B5EF4-FFF2-40B4-BE49-F238E27FC236}">
                    <a16:creationId xmlns:a16="http://schemas.microsoft.com/office/drawing/2014/main" id="{BC4E5A4F-A91C-DE27-88C0-58F11C0F4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818813"/>
                <a:ext cx="4320480" cy="1043894"/>
              </a:xfrm>
              <a:prstGeom prst="rect">
                <a:avLst/>
              </a:prstGeom>
              <a:blipFill>
                <a:blip r:embed="rId3"/>
                <a:stretch>
                  <a:fillRect l="-423" t="-2907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10419A5A-52BE-AF24-4118-FA87D47E8824}"/>
              </a:ext>
            </a:extLst>
          </p:cNvPr>
          <p:cNvSpPr txBox="1">
            <a:spLocks/>
          </p:cNvSpPr>
          <p:nvPr/>
        </p:nvSpPr>
        <p:spPr>
          <a:xfrm>
            <a:off x="4572000" y="1920569"/>
            <a:ext cx="4035782" cy="6164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pt-BR" sz="1400" dirty="0">
                <a:ea typeface="游ゴシック Medium"/>
                <a:cs typeface="Times New Roman"/>
              </a:rPr>
              <a:t>Optimizer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400" b="0" dirty="0"/>
              <a:t>Gauss-Newton</a:t>
            </a:r>
            <a:r>
              <a:rPr lang="en-US" sz="1400" dirty="0"/>
              <a:t>, </a:t>
            </a:r>
            <a:r>
              <a:rPr lang="en-US" sz="1400" b="0" dirty="0"/>
              <a:t>Levenberg-Marquardt etc.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E2A9541-CE2F-6648-E4D0-1B918D62088C}"/>
              </a:ext>
            </a:extLst>
          </p:cNvPr>
          <p:cNvSpPr txBox="1">
            <a:spLocks/>
          </p:cNvSpPr>
          <p:nvPr/>
        </p:nvSpPr>
        <p:spPr>
          <a:xfrm>
            <a:off x="4545166" y="2774209"/>
            <a:ext cx="4347314" cy="113245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pt-BR" sz="1400" dirty="0">
                <a:ea typeface="游ゴシック Medium"/>
                <a:cs typeface="Times New Roman"/>
              </a:rPr>
              <a:t>Noise Model/Weighting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400" b="0" dirty="0">
                <a:ea typeface="游ゴシック Medium"/>
                <a:cs typeface="Times New Roman"/>
              </a:rPr>
              <a:t>Normal, Cauchy, Huber etc.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400" b="0" dirty="0"/>
              <a:t>➔ Assume inconsistencies and errors in edges</a:t>
            </a:r>
            <a:endParaRPr lang="pt-BR" sz="14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582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4D58-C59E-21A1-020A-98AD700E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96AD3-B134-91A8-0499-1058F1BDEFF0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10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2054E6-FCB0-6BF9-AAC2-2305C2489F0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Detour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7C612AF-623D-4258-A69B-EB38616D7C2A}"/>
              </a:ext>
            </a:extLst>
          </p:cNvPr>
          <p:cNvSpPr txBox="1">
            <a:spLocks/>
          </p:cNvSpPr>
          <p:nvPr/>
        </p:nvSpPr>
        <p:spPr>
          <a:xfrm>
            <a:off x="251520" y="774789"/>
            <a:ext cx="8640960" cy="24345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Image Registration (IR)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Find transform which makes one image align with another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4102" name="Picture 6" descr="Basic example of an image registration procedure. F is the target image, M is the image to be registered, and R′ is the registered image. ">
            <a:extLst>
              <a:ext uri="{FF2B5EF4-FFF2-40B4-BE49-F238E27FC236}">
                <a16:creationId xmlns:a16="http://schemas.microsoft.com/office/drawing/2014/main" id="{1DB7BB4B-FC9B-F6D8-8907-BD3E07DCD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50867"/>
            <a:ext cx="5128245" cy="135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4C7BA8-64B3-5E1C-019E-EAFD70D8F2D1}"/>
              </a:ext>
            </a:extLst>
          </p:cNvPr>
          <p:cNvSpPr txBox="1"/>
          <p:nvPr/>
        </p:nvSpPr>
        <p:spPr>
          <a:xfrm>
            <a:off x="683568" y="3170146"/>
            <a:ext cx="6648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游ゴシック Medium" panose="020B0500000000000000" pitchFamily="50" charset="-128"/>
              </a:rPr>
              <a:t>Source: https://www.researchgate.net/figure/Basic-example-of-an-image-registration-procedure-F-is-the-target-image-M-is-the-image_fig4_320212021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1A63AA-5969-F9FC-C2D0-A6B6788CA453}"/>
              </a:ext>
            </a:extLst>
          </p:cNvPr>
          <p:cNvSpPr txBox="1"/>
          <p:nvPr/>
        </p:nvSpPr>
        <p:spPr>
          <a:xfrm>
            <a:off x="284138" y="4084367"/>
            <a:ext cx="836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>
                <a:latin typeface="游ゴシック Medium" panose="020B0500000000000000" pitchFamily="50" charset="-128"/>
              </a:rPr>
              <a:t>Create new edges for non-adjacent pairs of frame (</a:t>
            </a:r>
            <a:r>
              <a:rPr lang="en-US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- j &gt;= k, k &gt; 1</a:t>
            </a:r>
            <a:r>
              <a:rPr lang="en-US" sz="2000" dirty="0">
                <a:latin typeface="游ゴシック Medium" panose="020B05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307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75A3-FA32-68F3-8707-E4315FD2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6C6EC7E-7F50-6209-A85B-71FB535432F8}"/>
              </a:ext>
            </a:extLst>
          </p:cNvPr>
          <p:cNvSpPr/>
          <p:nvPr/>
        </p:nvSpPr>
        <p:spPr>
          <a:xfrm>
            <a:off x="7655406" y="2650992"/>
            <a:ext cx="252929" cy="8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08592E-5722-DE58-5E79-194862443153}"/>
              </a:ext>
            </a:extLst>
          </p:cNvPr>
          <p:cNvSpPr/>
          <p:nvPr/>
        </p:nvSpPr>
        <p:spPr>
          <a:xfrm rot="4213046">
            <a:off x="7780971" y="3090007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510FCE-1FC8-760D-6512-28F81838A2AB}"/>
              </a:ext>
            </a:extLst>
          </p:cNvPr>
          <p:cNvSpPr/>
          <p:nvPr/>
        </p:nvSpPr>
        <p:spPr>
          <a:xfrm rot="3348196">
            <a:off x="4568029" y="3216995"/>
            <a:ext cx="1406649" cy="52549"/>
          </a:xfrm>
          <a:prstGeom prst="rect">
            <a:avLst/>
          </a:prstGeom>
          <a:pattFill prst="sm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54F44-FE2D-1571-4FB3-AD7D5A3B1298}"/>
              </a:ext>
            </a:extLst>
          </p:cNvPr>
          <p:cNvSpPr/>
          <p:nvPr/>
        </p:nvSpPr>
        <p:spPr>
          <a:xfrm>
            <a:off x="1546829" y="3769232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2CCF74-C2F8-942A-52BB-297D9A0E72DE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11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628A5B-DC77-B06E-6202-5619D96D055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Detour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D2E217F-32F2-9489-4B67-54B4C789D3E4}"/>
              </a:ext>
            </a:extLst>
          </p:cNvPr>
          <p:cNvSpPr txBox="1">
            <a:spLocks/>
          </p:cNvSpPr>
          <p:nvPr/>
        </p:nvSpPr>
        <p:spPr>
          <a:xfrm>
            <a:off x="180924" y="699983"/>
            <a:ext cx="8640960" cy="380806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Loop Closure (LC)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800" b="0" dirty="0">
                <a:ea typeface="游ゴシック Medium"/>
                <a:cs typeface="Times New Roman"/>
              </a:rPr>
              <a:t>Recognize already visited scan areas by comparing FVs found by DL model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" name="Picture 1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40EB5312-23D6-1C3B-7EEF-E4AF7652D7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9" y="1524118"/>
            <a:ext cx="1690432" cy="2485929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7AE8810-A353-F2A3-A426-9EF59931DA8D}"/>
              </a:ext>
            </a:extLst>
          </p:cNvPr>
          <p:cNvSpPr/>
          <p:nvPr/>
        </p:nvSpPr>
        <p:spPr>
          <a:xfrm>
            <a:off x="2306004" y="3625216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E6B7D6C-C578-D9E7-C09D-A27CC04CAE9D}"/>
              </a:ext>
            </a:extLst>
          </p:cNvPr>
          <p:cNvSpPr txBox="1">
            <a:spLocks/>
          </p:cNvSpPr>
          <p:nvPr/>
        </p:nvSpPr>
        <p:spPr>
          <a:xfrm>
            <a:off x="820790" y="366287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A5222C98-88F6-F910-C7B4-C9EA4B413A71}"/>
              </a:ext>
            </a:extLst>
          </p:cNvPr>
          <p:cNvSpPr txBox="1">
            <a:spLocks/>
          </p:cNvSpPr>
          <p:nvPr/>
        </p:nvSpPr>
        <p:spPr>
          <a:xfrm>
            <a:off x="1881674" y="245299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012531F-88FA-40D2-37B1-2DC2D2109BED}"/>
              </a:ext>
            </a:extLst>
          </p:cNvPr>
          <p:cNvSpPr txBox="1">
            <a:spLocks/>
          </p:cNvSpPr>
          <p:nvPr/>
        </p:nvSpPr>
        <p:spPr>
          <a:xfrm>
            <a:off x="640770" y="160406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88EA581-CDB0-B2D3-9911-E9FDCC7BD869}"/>
              </a:ext>
            </a:extLst>
          </p:cNvPr>
          <p:cNvSpPr txBox="1">
            <a:spLocks/>
          </p:cNvSpPr>
          <p:nvPr/>
        </p:nvSpPr>
        <p:spPr>
          <a:xfrm>
            <a:off x="424745" y="295705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2DC2D13-4B90-CF18-28B0-764EE8B62FA9}"/>
              </a:ext>
            </a:extLst>
          </p:cNvPr>
          <p:cNvSpPr txBox="1">
            <a:spLocks/>
          </p:cNvSpPr>
          <p:nvPr/>
        </p:nvSpPr>
        <p:spPr>
          <a:xfrm>
            <a:off x="1432779" y="192486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7DE9898-C9EA-832F-37ED-AE6999400214}"/>
              </a:ext>
            </a:extLst>
          </p:cNvPr>
          <p:cNvSpPr txBox="1">
            <a:spLocks/>
          </p:cNvSpPr>
          <p:nvPr/>
        </p:nvSpPr>
        <p:spPr>
          <a:xfrm>
            <a:off x="784785" y="25244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D0E7CDB-C80A-8B0D-2DF9-084AAB15CA66}"/>
              </a:ext>
            </a:extLst>
          </p:cNvPr>
          <p:cNvSpPr txBox="1">
            <a:spLocks/>
          </p:cNvSpPr>
          <p:nvPr/>
        </p:nvSpPr>
        <p:spPr>
          <a:xfrm>
            <a:off x="1183503" y="319330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A82A0742-40A9-1968-B0ED-29D39598A2EE}"/>
              </a:ext>
            </a:extLst>
          </p:cNvPr>
          <p:cNvSpPr txBox="1">
            <a:spLocks/>
          </p:cNvSpPr>
          <p:nvPr/>
        </p:nvSpPr>
        <p:spPr>
          <a:xfrm>
            <a:off x="3330271" y="3635330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6A28E6C-AAFA-2182-B0BF-8DE35752FF41}"/>
              </a:ext>
            </a:extLst>
          </p:cNvPr>
          <p:cNvSpPr txBox="1">
            <a:spLocks/>
          </p:cNvSpPr>
          <p:nvPr/>
        </p:nvSpPr>
        <p:spPr>
          <a:xfrm>
            <a:off x="2030042" y="4018175"/>
            <a:ext cx="983346" cy="25238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FV 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 </a:t>
            </a:r>
            <a:r>
              <a:rPr lang="en-US" sz="1200" b="0" dirty="0">
                <a:solidFill>
                  <a:schemeClr val="accent1"/>
                </a:solidFill>
              </a:rPr>
              <a:t>≈</a:t>
            </a: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 FV 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2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E15E37-26DA-1E2D-9BA6-EB1087E675D7}"/>
              </a:ext>
            </a:extLst>
          </p:cNvPr>
          <p:cNvSpPr/>
          <p:nvPr/>
        </p:nvSpPr>
        <p:spPr>
          <a:xfrm>
            <a:off x="4732886" y="3792106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6185D711-4863-C5DF-7CCD-8BF1919D1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766" y="1546992"/>
            <a:ext cx="1690432" cy="2485929"/>
          </a:xfrm>
          <a:prstGeom prst="rect">
            <a:avLst/>
          </a:prstGeom>
        </p:spPr>
      </p:pic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94D250A5-E21D-B229-FADF-73CB8EE1507A}"/>
              </a:ext>
            </a:extLst>
          </p:cNvPr>
          <p:cNvSpPr/>
          <p:nvPr/>
        </p:nvSpPr>
        <p:spPr>
          <a:xfrm>
            <a:off x="5492061" y="3648090"/>
            <a:ext cx="360040" cy="36004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DDC992F0-6388-C075-A30B-5F79A64A9B77}"/>
              </a:ext>
            </a:extLst>
          </p:cNvPr>
          <p:cNvSpPr txBox="1">
            <a:spLocks/>
          </p:cNvSpPr>
          <p:nvPr/>
        </p:nvSpPr>
        <p:spPr>
          <a:xfrm>
            <a:off x="4006847" y="36857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C36996F5-540A-494B-1DDE-92683F5BA8AC}"/>
              </a:ext>
            </a:extLst>
          </p:cNvPr>
          <p:cNvSpPr txBox="1">
            <a:spLocks/>
          </p:cNvSpPr>
          <p:nvPr/>
        </p:nvSpPr>
        <p:spPr>
          <a:xfrm>
            <a:off x="5067731" y="247586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545ECF7D-26A5-F947-1493-063092D058EC}"/>
              </a:ext>
            </a:extLst>
          </p:cNvPr>
          <p:cNvSpPr txBox="1">
            <a:spLocks/>
          </p:cNvSpPr>
          <p:nvPr/>
        </p:nvSpPr>
        <p:spPr>
          <a:xfrm>
            <a:off x="3826827" y="162694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82F5FCED-B1FE-1532-EB48-4DB72D2E9CDF}"/>
              </a:ext>
            </a:extLst>
          </p:cNvPr>
          <p:cNvSpPr txBox="1">
            <a:spLocks/>
          </p:cNvSpPr>
          <p:nvPr/>
        </p:nvSpPr>
        <p:spPr>
          <a:xfrm>
            <a:off x="3610802" y="297992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FD41C7EB-2365-EE4E-A5DF-FF21C2D330E1}"/>
              </a:ext>
            </a:extLst>
          </p:cNvPr>
          <p:cNvSpPr txBox="1">
            <a:spLocks/>
          </p:cNvSpPr>
          <p:nvPr/>
        </p:nvSpPr>
        <p:spPr>
          <a:xfrm>
            <a:off x="4638711" y="194866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3E910607-3466-D36A-97A6-89A8F9207E4A}"/>
              </a:ext>
            </a:extLst>
          </p:cNvPr>
          <p:cNvSpPr txBox="1">
            <a:spLocks/>
          </p:cNvSpPr>
          <p:nvPr/>
        </p:nvSpPr>
        <p:spPr>
          <a:xfrm>
            <a:off x="3970842" y="254729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819310BC-6582-C39D-CC58-BA0284771125}"/>
              </a:ext>
            </a:extLst>
          </p:cNvPr>
          <p:cNvSpPr txBox="1">
            <a:spLocks/>
          </p:cNvSpPr>
          <p:nvPr/>
        </p:nvSpPr>
        <p:spPr>
          <a:xfrm>
            <a:off x="4369560" y="321617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8D14FDE-E1BD-016B-C849-143E15CEB1B0}"/>
              </a:ext>
            </a:extLst>
          </p:cNvPr>
          <p:cNvSpPr txBox="1">
            <a:spLocks/>
          </p:cNvSpPr>
          <p:nvPr/>
        </p:nvSpPr>
        <p:spPr>
          <a:xfrm>
            <a:off x="8880390" y="3519996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91CB8E03-7267-E97D-1EE0-E6D60652B0AD}"/>
              </a:ext>
            </a:extLst>
          </p:cNvPr>
          <p:cNvSpPr txBox="1">
            <a:spLocks/>
          </p:cNvSpPr>
          <p:nvPr/>
        </p:nvSpPr>
        <p:spPr>
          <a:xfrm>
            <a:off x="5336191" y="2965394"/>
            <a:ext cx="552556" cy="27357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4→2</a:t>
            </a:r>
          </a:p>
        </p:txBody>
      </p:sp>
      <p:pic>
        <p:nvPicPr>
          <p:cNvPr id="43" name="Picture 42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05514B35-7B9F-7572-12B1-68F9F80A9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7556">
            <a:off x="6915489" y="2349648"/>
            <a:ext cx="1275965" cy="1448620"/>
          </a:xfrm>
          <a:prstGeom prst="rect">
            <a:avLst/>
          </a:prstGeom>
        </p:spPr>
      </p:pic>
      <p:pic>
        <p:nvPicPr>
          <p:cNvPr id="44" name="Picture 43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F94FB671-C29E-5E78-FA75-7FA4134AF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0002">
            <a:off x="7242210" y="2813613"/>
            <a:ext cx="1275965" cy="1448620"/>
          </a:xfrm>
          <a:prstGeom prst="rect">
            <a:avLst/>
          </a:prstGeom>
        </p:spPr>
      </p:pic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2779775F-57B4-0784-BF6E-FA3EEDACDCBB}"/>
              </a:ext>
            </a:extLst>
          </p:cNvPr>
          <p:cNvSpPr/>
          <p:nvPr/>
        </p:nvSpPr>
        <p:spPr>
          <a:xfrm>
            <a:off x="7822416" y="2516767"/>
            <a:ext cx="360040" cy="36004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99436959-F294-01C5-32E7-C1720E35746E}"/>
              </a:ext>
            </a:extLst>
          </p:cNvPr>
          <p:cNvSpPr txBox="1">
            <a:spLocks/>
          </p:cNvSpPr>
          <p:nvPr/>
        </p:nvSpPr>
        <p:spPr>
          <a:xfrm>
            <a:off x="7505679" y="2280929"/>
            <a:ext cx="515704" cy="32375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  <a:r>
              <a:rPr lang="en-US" sz="120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→2</a:t>
            </a:r>
          </a:p>
        </p:txBody>
      </p:sp>
      <p:pic>
        <p:nvPicPr>
          <p:cNvPr id="50" name="Picture 49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FD217D51-A11D-36E1-D875-8EF87C0BB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7556">
            <a:off x="6921618" y="1448762"/>
            <a:ext cx="1275965" cy="1448620"/>
          </a:xfrm>
          <a:prstGeom prst="rect">
            <a:avLst/>
          </a:prstGeom>
        </p:spPr>
      </p:pic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0AAC5E63-14C1-FD8B-3656-AF7ED0B10D8A}"/>
              </a:ext>
            </a:extLst>
          </p:cNvPr>
          <p:cNvSpPr txBox="1">
            <a:spLocks/>
          </p:cNvSpPr>
          <p:nvPr/>
        </p:nvSpPr>
        <p:spPr>
          <a:xfrm>
            <a:off x="7000158" y="163227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421B45AE-4023-18F3-440F-676B2F525833}"/>
              </a:ext>
            </a:extLst>
          </p:cNvPr>
          <p:cNvSpPr txBox="1">
            <a:spLocks/>
          </p:cNvSpPr>
          <p:nvPr/>
        </p:nvSpPr>
        <p:spPr>
          <a:xfrm>
            <a:off x="6988816" y="203198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DD363EDA-B337-0A23-8DCB-2E2B023F9337}"/>
              </a:ext>
            </a:extLst>
          </p:cNvPr>
          <p:cNvSpPr txBox="1">
            <a:spLocks/>
          </p:cNvSpPr>
          <p:nvPr/>
        </p:nvSpPr>
        <p:spPr>
          <a:xfrm>
            <a:off x="6975119" y="295446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54" name="Text Placeholder 1">
            <a:extLst>
              <a:ext uri="{FF2B5EF4-FFF2-40B4-BE49-F238E27FC236}">
                <a16:creationId xmlns:a16="http://schemas.microsoft.com/office/drawing/2014/main" id="{29EF20B6-D8F7-927F-3306-CF0CEB0B1985}"/>
              </a:ext>
            </a:extLst>
          </p:cNvPr>
          <p:cNvSpPr txBox="1">
            <a:spLocks/>
          </p:cNvSpPr>
          <p:nvPr/>
        </p:nvSpPr>
        <p:spPr>
          <a:xfrm>
            <a:off x="7060873" y="232305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FE68FEEB-0393-42B3-C8B6-F6F95B0D896B}"/>
              </a:ext>
            </a:extLst>
          </p:cNvPr>
          <p:cNvSpPr txBox="1">
            <a:spLocks/>
          </p:cNvSpPr>
          <p:nvPr/>
        </p:nvSpPr>
        <p:spPr>
          <a:xfrm>
            <a:off x="7031944" y="346160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A970A4AB-4861-E0DC-51C3-E4F5446FC099}"/>
              </a:ext>
            </a:extLst>
          </p:cNvPr>
          <p:cNvSpPr txBox="1">
            <a:spLocks/>
          </p:cNvSpPr>
          <p:nvPr/>
        </p:nvSpPr>
        <p:spPr>
          <a:xfrm>
            <a:off x="8250548" y="382886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57" name="Text Placeholder 1">
            <a:extLst>
              <a:ext uri="{FF2B5EF4-FFF2-40B4-BE49-F238E27FC236}">
                <a16:creationId xmlns:a16="http://schemas.microsoft.com/office/drawing/2014/main" id="{DDFE4415-7E60-F2D9-88A9-33F270C5E0F3}"/>
              </a:ext>
            </a:extLst>
          </p:cNvPr>
          <p:cNvSpPr txBox="1">
            <a:spLocks/>
          </p:cNvSpPr>
          <p:nvPr/>
        </p:nvSpPr>
        <p:spPr>
          <a:xfrm>
            <a:off x="7679621" y="36753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58" name="Text Placeholder 1">
            <a:extLst>
              <a:ext uri="{FF2B5EF4-FFF2-40B4-BE49-F238E27FC236}">
                <a16:creationId xmlns:a16="http://schemas.microsoft.com/office/drawing/2014/main" id="{5BB7E28C-367D-54EF-B98A-4895E9248968}"/>
              </a:ext>
            </a:extLst>
          </p:cNvPr>
          <p:cNvSpPr txBox="1">
            <a:spLocks/>
          </p:cNvSpPr>
          <p:nvPr/>
        </p:nvSpPr>
        <p:spPr>
          <a:xfrm>
            <a:off x="1627445" y="3487284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59" name="Text Placeholder 1">
            <a:extLst>
              <a:ext uri="{FF2B5EF4-FFF2-40B4-BE49-F238E27FC236}">
                <a16:creationId xmlns:a16="http://schemas.microsoft.com/office/drawing/2014/main" id="{DEAAE9CB-B11A-4A08-B3CD-D0C048ED510D}"/>
              </a:ext>
            </a:extLst>
          </p:cNvPr>
          <p:cNvSpPr txBox="1">
            <a:spLocks/>
          </p:cNvSpPr>
          <p:nvPr/>
        </p:nvSpPr>
        <p:spPr>
          <a:xfrm>
            <a:off x="4801392" y="351123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71B71F6-E0DB-6592-2089-18DF2B6B52D3}"/>
              </a:ext>
            </a:extLst>
          </p:cNvPr>
          <p:cNvSpPr txBox="1">
            <a:spLocks/>
          </p:cNvSpPr>
          <p:nvPr/>
        </p:nvSpPr>
        <p:spPr>
          <a:xfrm>
            <a:off x="8183907" y="29296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24A92B-6781-5B27-16B5-0F8C61D03E70}"/>
              </a:ext>
            </a:extLst>
          </p:cNvPr>
          <p:cNvSpPr txBox="1"/>
          <p:nvPr/>
        </p:nvSpPr>
        <p:spPr>
          <a:xfrm>
            <a:off x="322116" y="4417248"/>
            <a:ext cx="6742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>
                <a:latin typeface="游ゴシック Medium" panose="020B0500000000000000" pitchFamily="50" charset="-128"/>
              </a:rPr>
              <a:t>Create new edges for pairs of frames exhibiting a LC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F9E6E122-0DA2-EC44-6BBA-C7026DE7D3DB}"/>
              </a:ext>
            </a:extLst>
          </p:cNvPr>
          <p:cNvSpPr/>
          <p:nvPr/>
        </p:nvSpPr>
        <p:spPr>
          <a:xfrm rot="16200000">
            <a:off x="2806148" y="2319376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" name="Arrow: Down 4095">
            <a:extLst>
              <a:ext uri="{FF2B5EF4-FFF2-40B4-BE49-F238E27FC236}">
                <a16:creationId xmlns:a16="http://schemas.microsoft.com/office/drawing/2014/main" id="{C3A0FEBB-DB42-EE7C-4109-8BC1FFB138C5}"/>
              </a:ext>
            </a:extLst>
          </p:cNvPr>
          <p:cNvSpPr/>
          <p:nvPr/>
        </p:nvSpPr>
        <p:spPr>
          <a:xfrm rot="16200000">
            <a:off x="6137763" y="230990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FC9D2D7-B67E-D631-FA0D-BB88AAE3999D}"/>
              </a:ext>
            </a:extLst>
          </p:cNvPr>
          <p:cNvSpPr txBox="1">
            <a:spLocks/>
          </p:cNvSpPr>
          <p:nvPr/>
        </p:nvSpPr>
        <p:spPr>
          <a:xfrm>
            <a:off x="2258216" y="3346300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94C25CEC-F1C2-B1BF-8998-56ACAD2614A1}"/>
              </a:ext>
            </a:extLst>
          </p:cNvPr>
          <p:cNvSpPr txBox="1">
            <a:spLocks/>
          </p:cNvSpPr>
          <p:nvPr/>
        </p:nvSpPr>
        <p:spPr>
          <a:xfrm>
            <a:off x="7998811" y="231185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06801EA-96E7-90E1-5594-6CC0CFBE5ECD}"/>
              </a:ext>
            </a:extLst>
          </p:cNvPr>
          <p:cNvSpPr txBox="1">
            <a:spLocks/>
          </p:cNvSpPr>
          <p:nvPr/>
        </p:nvSpPr>
        <p:spPr>
          <a:xfrm>
            <a:off x="5553420" y="40384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0182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70D9-E522-F039-48EF-8A08DC4D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lock Arc 43">
            <a:extLst>
              <a:ext uri="{FF2B5EF4-FFF2-40B4-BE49-F238E27FC236}">
                <a16:creationId xmlns:a16="http://schemas.microsoft.com/office/drawing/2014/main" id="{38593EBC-BDC6-2406-CB7A-6F67951FC374}"/>
              </a:ext>
            </a:extLst>
          </p:cNvPr>
          <p:cNvSpPr/>
          <p:nvPr/>
        </p:nvSpPr>
        <p:spPr>
          <a:xfrm rot="16200000">
            <a:off x="6167078" y="2201520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Block Arc 36">
            <a:extLst>
              <a:ext uri="{FF2B5EF4-FFF2-40B4-BE49-F238E27FC236}">
                <a16:creationId xmlns:a16="http://schemas.microsoft.com/office/drawing/2014/main" id="{AFEFA3AD-C943-A578-8A47-E859858631B1}"/>
              </a:ext>
            </a:extLst>
          </p:cNvPr>
          <p:cNvSpPr/>
          <p:nvPr/>
        </p:nvSpPr>
        <p:spPr>
          <a:xfrm rot="5977851">
            <a:off x="6664063" y="3007857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2" name="Picture 41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7857C42B-0B8E-740D-5C59-9FC4A014B7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720" y="1527335"/>
            <a:ext cx="1690432" cy="24859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11B479-463A-A69D-DF6A-7DA3C4CB8D8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12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AD0CBA-88EC-E0F4-2A0D-B6FF28F1152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additional constraints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71C8055-FB94-C82E-344D-AB66AAD67E51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40E40A7A-D58D-767E-BD75-7EEDAD8A42CC}"/>
              </a:ext>
            </a:extLst>
          </p:cNvPr>
          <p:cNvSpPr txBox="1">
            <a:spLocks/>
          </p:cNvSpPr>
          <p:nvPr/>
        </p:nvSpPr>
        <p:spPr>
          <a:xfrm>
            <a:off x="467544" y="4119549"/>
            <a:ext cx="2155313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Initial pose graph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17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BEAE38BD-EC5E-F725-551F-3601ADBFC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27958" y="2114653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F4AE2527-1D60-7F3D-5994-AC4D1577A711}"/>
              </a:ext>
            </a:extLst>
          </p:cNvPr>
          <p:cNvSpPr txBox="1">
            <a:spLocks/>
          </p:cNvSpPr>
          <p:nvPr/>
        </p:nvSpPr>
        <p:spPr>
          <a:xfrm>
            <a:off x="1470731" y="354886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B4DDAC80-F3BF-B287-458E-F36F8F78B377}"/>
              </a:ext>
            </a:extLst>
          </p:cNvPr>
          <p:cNvSpPr txBox="1">
            <a:spLocks/>
          </p:cNvSpPr>
          <p:nvPr/>
        </p:nvSpPr>
        <p:spPr>
          <a:xfrm>
            <a:off x="1775531" y="230242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B8DD4B88-7A9F-C666-9F14-6A28AA130CB4}"/>
              </a:ext>
            </a:extLst>
          </p:cNvPr>
          <p:cNvSpPr txBox="1">
            <a:spLocks/>
          </p:cNvSpPr>
          <p:nvPr/>
        </p:nvSpPr>
        <p:spPr>
          <a:xfrm>
            <a:off x="534627" y="145350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C33FD391-B021-1302-A6E8-4348AB86E1CA}"/>
              </a:ext>
            </a:extLst>
          </p:cNvPr>
          <p:cNvSpPr txBox="1">
            <a:spLocks/>
          </p:cNvSpPr>
          <p:nvPr/>
        </p:nvSpPr>
        <p:spPr>
          <a:xfrm>
            <a:off x="318602" y="280648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6104FE59-7990-095A-059F-2D9009DE2FA1}"/>
              </a:ext>
            </a:extLst>
          </p:cNvPr>
          <p:cNvSpPr txBox="1">
            <a:spLocks/>
          </p:cNvSpPr>
          <p:nvPr/>
        </p:nvSpPr>
        <p:spPr>
          <a:xfrm>
            <a:off x="1264848" y="177606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415AE825-6F98-D034-9179-33309AB2064D}"/>
              </a:ext>
            </a:extLst>
          </p:cNvPr>
          <p:cNvSpPr txBox="1">
            <a:spLocks/>
          </p:cNvSpPr>
          <p:nvPr/>
        </p:nvSpPr>
        <p:spPr>
          <a:xfrm>
            <a:off x="678642" y="237385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B6A4C04-BAE4-1A95-244E-FB44EDB6EBDD}"/>
              </a:ext>
            </a:extLst>
          </p:cNvPr>
          <p:cNvSpPr txBox="1">
            <a:spLocks/>
          </p:cNvSpPr>
          <p:nvPr/>
        </p:nvSpPr>
        <p:spPr>
          <a:xfrm>
            <a:off x="1077360" y="30427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0F6040BB-4166-72D4-EC33-7A97DEB365C0}"/>
              </a:ext>
            </a:extLst>
          </p:cNvPr>
          <p:cNvSpPr txBox="1">
            <a:spLocks/>
          </p:cNvSpPr>
          <p:nvPr/>
        </p:nvSpPr>
        <p:spPr>
          <a:xfrm>
            <a:off x="6049015" y="4121398"/>
            <a:ext cx="2562042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Extended pose graph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5B47FE8C-A4D4-AB3E-F945-A516044B87F5}"/>
              </a:ext>
            </a:extLst>
          </p:cNvPr>
          <p:cNvSpPr txBox="1">
            <a:spLocks/>
          </p:cNvSpPr>
          <p:nvPr/>
        </p:nvSpPr>
        <p:spPr>
          <a:xfrm>
            <a:off x="7330036" y="364970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DB866E1E-0621-E82A-1580-390B35833630}"/>
              </a:ext>
            </a:extLst>
          </p:cNvPr>
          <p:cNvSpPr txBox="1">
            <a:spLocks/>
          </p:cNvSpPr>
          <p:nvPr/>
        </p:nvSpPr>
        <p:spPr>
          <a:xfrm>
            <a:off x="7634836" y="2403269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08EEDBA7-5D98-BDA9-DB5C-4745002042B8}"/>
              </a:ext>
            </a:extLst>
          </p:cNvPr>
          <p:cNvSpPr txBox="1">
            <a:spLocks/>
          </p:cNvSpPr>
          <p:nvPr/>
        </p:nvSpPr>
        <p:spPr>
          <a:xfrm>
            <a:off x="6393932" y="1554342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61B3DCF7-3DE6-D43B-9205-C6FF32D3D435}"/>
              </a:ext>
            </a:extLst>
          </p:cNvPr>
          <p:cNvSpPr txBox="1">
            <a:spLocks/>
          </p:cNvSpPr>
          <p:nvPr/>
        </p:nvSpPr>
        <p:spPr>
          <a:xfrm>
            <a:off x="6177907" y="2907325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1E3C8204-2F67-F5D3-A12E-8355843BA62C}"/>
              </a:ext>
            </a:extLst>
          </p:cNvPr>
          <p:cNvSpPr txBox="1">
            <a:spLocks/>
          </p:cNvSpPr>
          <p:nvPr/>
        </p:nvSpPr>
        <p:spPr>
          <a:xfrm>
            <a:off x="7124153" y="1876910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2BD2BF7D-19FF-534B-4BA9-6E4DD0CE3D40}"/>
              </a:ext>
            </a:extLst>
          </p:cNvPr>
          <p:cNvSpPr txBox="1">
            <a:spLocks/>
          </p:cNvSpPr>
          <p:nvPr/>
        </p:nvSpPr>
        <p:spPr>
          <a:xfrm>
            <a:off x="6680496" y="246755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AB6D8B44-ABEA-2B0B-34B9-40CA2FD20FC8}"/>
              </a:ext>
            </a:extLst>
          </p:cNvPr>
          <p:cNvSpPr txBox="1">
            <a:spLocks/>
          </p:cNvSpPr>
          <p:nvPr/>
        </p:nvSpPr>
        <p:spPr>
          <a:xfrm>
            <a:off x="6936665" y="314357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D487981E-1AE1-3C53-4B05-4DF875D4C985}"/>
              </a:ext>
            </a:extLst>
          </p:cNvPr>
          <p:cNvSpPr txBox="1">
            <a:spLocks/>
          </p:cNvSpPr>
          <p:nvPr/>
        </p:nvSpPr>
        <p:spPr>
          <a:xfrm>
            <a:off x="7477136" y="2904185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0→2</a:t>
            </a:r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749C0A05-DD40-19DD-1EAA-4EB07FC8BCE3}"/>
              </a:ext>
            </a:extLst>
          </p:cNvPr>
          <p:cNvSpPr txBox="1">
            <a:spLocks/>
          </p:cNvSpPr>
          <p:nvPr/>
        </p:nvSpPr>
        <p:spPr>
          <a:xfrm>
            <a:off x="5983157" y="2151896"/>
            <a:ext cx="746625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1→3</a:t>
            </a:r>
          </a:p>
        </p:txBody>
      </p: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9AC0B8C0-3FF2-A090-513C-DBEE53C6FF76}"/>
              </a:ext>
            </a:extLst>
          </p:cNvPr>
          <p:cNvSpPr txBox="1">
            <a:spLocks/>
          </p:cNvSpPr>
          <p:nvPr/>
        </p:nvSpPr>
        <p:spPr>
          <a:xfrm>
            <a:off x="2826680" y="2446938"/>
            <a:ext cx="2990513" cy="109424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Image Registration (IR)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Loop Closure (LC)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15B96603-FAA9-F7B2-6239-EA470BC3E4C2}"/>
              </a:ext>
            </a:extLst>
          </p:cNvPr>
          <p:cNvSpPr/>
          <p:nvPr/>
        </p:nvSpPr>
        <p:spPr>
          <a:xfrm rot="16200000">
            <a:off x="3875728" y="175226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D439-3B34-5969-9336-DB79C3C8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A81A1-29B3-4E3E-7D35-8927630AC9C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13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2C43A8-E4E8-EC13-5689-F1679B28CCC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weights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830C6158-A438-5953-F0D1-8B34932AE63D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B33792-2FE8-A7EA-8B59-20DD33EA8585}"/>
              </a:ext>
            </a:extLst>
          </p:cNvPr>
          <p:cNvSpPr txBox="1">
            <a:spLocks/>
          </p:cNvSpPr>
          <p:nvPr/>
        </p:nvSpPr>
        <p:spPr>
          <a:xfrm>
            <a:off x="467544" y="960283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Why do we add weights?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Weights allow edges to be rated in their confidence and influence on the cost function and thus the optimization 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B6765B44-072A-BF56-7C88-6CD221841A8C}"/>
              </a:ext>
            </a:extLst>
          </p:cNvPr>
          <p:cNvSpPr/>
          <p:nvPr/>
        </p:nvSpPr>
        <p:spPr>
          <a:xfrm rot="16200000">
            <a:off x="624642" y="2927399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F0F55F5-6C97-7E5C-595C-0E462852ADCE}"/>
              </a:ext>
            </a:extLst>
          </p:cNvPr>
          <p:cNvSpPr/>
          <p:nvPr/>
        </p:nvSpPr>
        <p:spPr>
          <a:xfrm rot="5977851">
            <a:off x="1121627" y="3733736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741000B7-BACE-2A24-2D80-E34279A0C2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4" y="2253214"/>
            <a:ext cx="1690432" cy="2485929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F9602AE-F440-E48B-0105-7E2D8A5C74FD}"/>
              </a:ext>
            </a:extLst>
          </p:cNvPr>
          <p:cNvSpPr txBox="1">
            <a:spLocks/>
          </p:cNvSpPr>
          <p:nvPr/>
        </p:nvSpPr>
        <p:spPr>
          <a:xfrm>
            <a:off x="1787600" y="437558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9E3E2EA-0365-BEF4-8A8A-F69FD8B64E19}"/>
              </a:ext>
            </a:extLst>
          </p:cNvPr>
          <p:cNvSpPr txBox="1">
            <a:spLocks/>
          </p:cNvSpPr>
          <p:nvPr/>
        </p:nvSpPr>
        <p:spPr>
          <a:xfrm>
            <a:off x="2092400" y="312914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1253A94-A8F5-22D3-A83F-C8CE47CF49AD}"/>
              </a:ext>
            </a:extLst>
          </p:cNvPr>
          <p:cNvSpPr txBox="1">
            <a:spLocks/>
          </p:cNvSpPr>
          <p:nvPr/>
        </p:nvSpPr>
        <p:spPr>
          <a:xfrm>
            <a:off x="851496" y="228022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3B23F76-0CB1-0EE7-64BD-CE5EB7FE95DE}"/>
              </a:ext>
            </a:extLst>
          </p:cNvPr>
          <p:cNvSpPr txBox="1">
            <a:spLocks/>
          </p:cNvSpPr>
          <p:nvPr/>
        </p:nvSpPr>
        <p:spPr>
          <a:xfrm>
            <a:off x="635471" y="363320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10F28F7-31CA-5020-DD8B-092C8A7885AE}"/>
              </a:ext>
            </a:extLst>
          </p:cNvPr>
          <p:cNvSpPr txBox="1">
            <a:spLocks/>
          </p:cNvSpPr>
          <p:nvPr/>
        </p:nvSpPr>
        <p:spPr>
          <a:xfrm>
            <a:off x="1581717" y="260278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w2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20A799B-FEFA-D6A9-CEB8-705FBAD417F2}"/>
              </a:ext>
            </a:extLst>
          </p:cNvPr>
          <p:cNvSpPr txBox="1">
            <a:spLocks/>
          </p:cNvSpPr>
          <p:nvPr/>
        </p:nvSpPr>
        <p:spPr>
          <a:xfrm>
            <a:off x="762364" y="294209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w1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676FD40-FA23-EC21-705F-8A2E41174C4E}"/>
              </a:ext>
            </a:extLst>
          </p:cNvPr>
          <p:cNvSpPr txBox="1">
            <a:spLocks/>
          </p:cNvSpPr>
          <p:nvPr/>
        </p:nvSpPr>
        <p:spPr>
          <a:xfrm>
            <a:off x="1394229" y="386945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w0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BB9566F-E79B-D2A1-4B66-8AC8DDC787A4}"/>
              </a:ext>
            </a:extLst>
          </p:cNvPr>
          <p:cNvSpPr txBox="1">
            <a:spLocks/>
          </p:cNvSpPr>
          <p:nvPr/>
        </p:nvSpPr>
        <p:spPr>
          <a:xfrm>
            <a:off x="1934700" y="3630064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w3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2A24160-059A-A3C2-CC1E-9AF3BF5B4376}"/>
              </a:ext>
            </a:extLst>
          </p:cNvPr>
          <p:cNvSpPr/>
          <p:nvPr/>
        </p:nvSpPr>
        <p:spPr>
          <a:xfrm rot="16200000">
            <a:off x="2988105" y="2961614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7A8951-E535-71E1-BD58-5E0FC0E45026}"/>
                  </a:ext>
                </a:extLst>
              </p:cNvPr>
              <p:cNvSpPr txBox="1"/>
              <p:nvPr/>
            </p:nvSpPr>
            <p:spPr>
              <a:xfrm>
                <a:off x="4062865" y="3065607"/>
                <a:ext cx="4137030" cy="40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000" dirty="0">
                    <a:latin typeface="游ゴシック Medium" panose="020B0500000000000000" pitchFamily="50" charset="-128"/>
                    <a:ea typeface="游ゴシック Medium"/>
                    <a:cs typeface="Times New Roman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𝑘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log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𝑤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𝑇𝑗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))</m:t>
                        </m:r>
                      </m:e>
                    </m:nary>
                  </m:oMath>
                </a14:m>
                <a:endParaRPr lang="en-US" sz="2000" dirty="0">
                  <a:latin typeface="游ゴシック Medium" panose="020B0500000000000000" pitchFamily="50" charset="-12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7A8951-E535-71E1-BD58-5E0FC0E45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865" y="3065607"/>
                <a:ext cx="4137030" cy="404663"/>
              </a:xfrm>
              <a:prstGeom prst="rect">
                <a:avLst/>
              </a:prstGeom>
              <a:blipFill>
                <a:blip r:embed="rId3"/>
                <a:stretch>
                  <a:fillRect l="-1473"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D37F9E7-04F8-15C4-C309-FEDE2CA0BE8B}"/>
              </a:ext>
            </a:extLst>
          </p:cNvPr>
          <p:cNvSpPr txBox="1"/>
          <p:nvPr/>
        </p:nvSpPr>
        <p:spPr>
          <a:xfrm>
            <a:off x="2836894" y="3962150"/>
            <a:ext cx="6072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游ゴシック Medium" panose="020B0500000000000000" pitchFamily="50" charset="-128"/>
              </a:rPr>
              <a:t>➔</a:t>
            </a:r>
            <a:r>
              <a:rPr lang="en-US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 </a:t>
            </a:r>
            <a:r>
              <a:rPr lang="en-US" dirty="0">
                <a:latin typeface="游ゴシック Medium" panose="020B0500000000000000" pitchFamily="50" charset="-128"/>
              </a:rPr>
              <a:t>High weights: Edge has high impact on cost function</a:t>
            </a:r>
          </a:p>
          <a:p>
            <a:r>
              <a:rPr lang="en-US" dirty="0">
                <a:latin typeface="游ゴシック Medium" panose="020B0500000000000000" pitchFamily="50" charset="-128"/>
              </a:rPr>
              <a:t>(vice versa for low weights)</a:t>
            </a:r>
          </a:p>
        </p:txBody>
      </p:sp>
    </p:spTree>
    <p:extLst>
      <p:ext uri="{BB962C8B-B14F-4D97-AF65-F5344CB8AC3E}">
        <p14:creationId xmlns:p14="http://schemas.microsoft.com/office/powerpoint/2010/main" val="1013722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F03C-3C3D-A556-5288-896C1130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561BC-CE94-1C3D-8C20-0D97825EF29A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14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60DE82-4145-44BA-1FE4-BADCEDA22F9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weights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8C285EB-451F-6502-F61C-6D3A37B102F3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FBF02C-E2FC-2E01-B638-1670497D3670}"/>
              </a:ext>
            </a:extLst>
          </p:cNvPr>
          <p:cNvSpPr txBox="1">
            <a:spLocks/>
          </p:cNvSpPr>
          <p:nvPr/>
        </p:nvSpPr>
        <p:spPr>
          <a:xfrm>
            <a:off x="467544" y="1001329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Initial edges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Lower weights, as the initial pose graph is to be optimized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Added edges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Higher weights, as these are the means of optimization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IR: Weights based on how well a newly found transform transforms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LC: Weights based on confidence of found LC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691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C084-31A1-8A80-15E4-41D45F5C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C978D-0592-561D-DAE9-2970B1FB95E4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15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3477C8-8C9A-6D8D-B19A-C37B2570765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Apply PGO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1C9BBCB-84A9-CD40-B13D-F98D70C1E126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BF8B2E-54FB-B139-6F39-69DF0339763B}"/>
              </a:ext>
            </a:extLst>
          </p:cNvPr>
          <p:cNvSpPr txBox="1">
            <a:spLocks/>
          </p:cNvSpPr>
          <p:nvPr/>
        </p:nvSpPr>
        <p:spPr>
          <a:xfrm>
            <a:off x="467544" y="991165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Use added edges to optimize initial pose graph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Use adequate noise functions to handle outliers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Compare optimized node values (absolute poses) with GT </a:t>
            </a:r>
          </a:p>
        </p:txBody>
      </p:sp>
    </p:spTree>
    <p:extLst>
      <p:ext uri="{BB962C8B-B14F-4D97-AF65-F5344CB8AC3E}">
        <p14:creationId xmlns:p14="http://schemas.microsoft.com/office/powerpoint/2010/main" val="308397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EA15-0714-2794-C0B9-A2E338DA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1BD7D8-1EAF-DF54-461B-16D49970CE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Commonly used error metrics in 3d UR reconstruction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Final Drift (FD): Offset of final frame compared to GT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Final Drift Rate (FDR): FD divided by trajectory length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Average error for relative transforms between frames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Average error for absolute poses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Maximum error in absolute poses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Use these to compare optimized poses with GT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Learn for fitting parameters or find heuristic for PGO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ABB03-C31A-3453-9039-B4509ADBB1E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16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41054F-7C5F-A29E-4E49-BFD4FE13CE8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Error metrics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43619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0D1D-6F82-EF6A-BC9F-5F6E597E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3AFF78-E997-8BDD-79AD-E2697D8B0B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506131" cy="398686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Models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DLCNet:</a:t>
            </a:r>
            <a:r>
              <a:rPr lang="en-US" sz="2000" b="0" dirty="0"/>
              <a:t>			FD of 17mm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&lt;No name&gt;:	</a:t>
            </a:r>
            <a:r>
              <a:rPr lang="en-US" sz="2000" b="0" dirty="0"/>
              <a:t>	Approximate FDR of 15%</a:t>
            </a:r>
          </a:p>
          <a:p>
            <a:pPr>
              <a:buClr>
                <a:srgbClr val="9E3611"/>
              </a:buClr>
            </a:pPr>
            <a:r>
              <a:rPr lang="en-US" sz="2000" b="0" i="1" dirty="0" err="1"/>
              <a:t>DualTrack</a:t>
            </a:r>
            <a:r>
              <a:rPr lang="en-US" sz="2000" b="0" i="1" dirty="0"/>
              <a:t> (SODA):	</a:t>
            </a:r>
            <a:r>
              <a:rPr lang="en-US" sz="2000" b="0" dirty="0"/>
              <a:t> 	FD of 8mm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Room for improvement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Data sets</a:t>
            </a:r>
          </a:p>
          <a:p>
            <a:pPr>
              <a:buClr>
                <a:srgbClr val="9E3611"/>
              </a:buClr>
            </a:pPr>
            <a:r>
              <a:rPr lang="en-US" sz="2000" b="0" i="1" dirty="0" err="1"/>
              <a:t>FreehandUS</a:t>
            </a:r>
            <a:r>
              <a:rPr lang="en-US" sz="2000" b="0" i="1" dirty="0"/>
              <a:t> data set:</a:t>
            </a:r>
            <a:r>
              <a:rPr lang="en-US" sz="2000" b="0" dirty="0"/>
              <a:t>	Training data for No-name-model		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TUS-REC24 data set:</a:t>
            </a:r>
            <a:r>
              <a:rPr lang="en-US" sz="2000" b="0" dirty="0"/>
              <a:t>	TUS-REC challenge 2024		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TUS-REC25 data set:</a:t>
            </a:r>
            <a:r>
              <a:rPr lang="en-US" sz="2000" b="0" dirty="0"/>
              <a:t>	TUS-REC challenge 2025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Realistic, publicly available data sets with 3d UR frames and GT poses</a:t>
            </a:r>
          </a:p>
          <a:p>
            <a:pPr>
              <a:buClr>
                <a:srgbClr val="9E3611"/>
              </a:buClr>
            </a:pPr>
            <a:endParaRPr lang="en-US" sz="20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9DB5C-0DB2-47EA-1DB9-AD935F2876FE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17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80A530-19ED-3FE8-740A-53E0F7855DF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0854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4963-4BCB-387E-B957-7CC233EB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33D1-A900-C3DD-B32C-6C0A805F5F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0" dirty="0"/>
              <a:t>[1] Chrissy A. Adriaans, Mark </a:t>
            </a:r>
            <a:r>
              <a:rPr lang="en-US" sz="1200" b="0" dirty="0" err="1"/>
              <a:t>Wijkhuizen</a:t>
            </a:r>
            <a:r>
              <a:rPr lang="en-US" sz="1200" b="0" dirty="0"/>
              <a:t>, Lennard M. van </a:t>
            </a:r>
            <a:r>
              <a:rPr lang="en-US" sz="1200" b="0" dirty="0" err="1"/>
              <a:t>Karnenbeek</a:t>
            </a:r>
            <a:r>
              <a:rPr lang="en-US" sz="1200" b="0" dirty="0"/>
              <a:t>, Freija Geldof, and Behdad </a:t>
            </a:r>
            <a:r>
              <a:rPr lang="en-US" sz="1200" b="0" dirty="0" err="1"/>
              <a:t>Dashtbozorg</a:t>
            </a:r>
            <a:r>
              <a:rPr lang="en-US" sz="1200" b="0" dirty="0"/>
              <a:t>. 	</a:t>
            </a:r>
            <a:r>
              <a:rPr lang="en-US" sz="1200" b="0" dirty="0" err="1"/>
              <a:t>Trackerless</a:t>
            </a:r>
            <a:r>
              <a:rPr lang="en-US" sz="1200" b="0" dirty="0"/>
              <a:t> 3d freehand ultrasound reconstruction: A review. Applied Sciences, 14(17):7991, 2024.</a:t>
            </a:r>
          </a:p>
          <a:p>
            <a:pPr marL="0" indent="0">
              <a:buNone/>
            </a:pPr>
            <a:r>
              <a:rPr lang="en-US" sz="1200" b="0" dirty="0"/>
              <a:t>[2] Russell Buchanan et al. 3d freehand ultrasound using visual inertial and deep inertial odometry for measuring 	patellar tracking. 2024.</a:t>
            </a:r>
          </a:p>
          <a:p>
            <a:pPr marL="0" indent="0">
              <a:buNone/>
            </a:pPr>
            <a:r>
              <a:rPr lang="en-US" sz="1200" b="0" dirty="0"/>
              <a:t>[3] Andrew H. Gee et al.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ultrasound in real tissue: speckle decorrelation without fully 	developed speckle. Medical image analysis, 10(2):137–149, 2006.</a:t>
            </a:r>
          </a:p>
          <a:p>
            <a:pPr marL="0" indent="0">
              <a:buNone/>
            </a:pPr>
            <a:r>
              <a:rPr lang="en-US" sz="1200" b="0" dirty="0"/>
              <a:t>[4] </a:t>
            </a:r>
            <a:r>
              <a:rPr lang="en-US" sz="1200" b="0" dirty="0" err="1"/>
              <a:t>Hengtao</a:t>
            </a:r>
            <a:r>
              <a:rPr lang="en-US" sz="1200" b="0" dirty="0"/>
              <a:t> Guo, Sheng Xu, Bradford Wood, and </a:t>
            </a:r>
            <a:r>
              <a:rPr lang="en-US" sz="1200" b="0" dirty="0" err="1"/>
              <a:t>Pingkun</a:t>
            </a:r>
            <a:r>
              <a:rPr lang="en-US" sz="1200" b="0" dirty="0"/>
              <a:t> Yan.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ultrasound reconstruction 	via deep contextual learning.</a:t>
            </a:r>
          </a:p>
          <a:p>
            <a:pPr marL="0" indent="0">
              <a:buNone/>
            </a:pPr>
            <a:r>
              <a:rPr lang="en-US" sz="1200" b="0" dirty="0"/>
              <a:t>[5] Qi Li et al. Tus-rec2024: A challenge to reconstruct 3d freehand ultrasound without external tracker.</a:t>
            </a:r>
          </a:p>
          <a:p>
            <a:pPr marL="0" indent="0">
              <a:buNone/>
            </a:pPr>
            <a:r>
              <a:rPr lang="en-US" sz="1200" b="0" dirty="0"/>
              <a:t>[6] Loïc </a:t>
            </a:r>
            <a:r>
              <a:rPr lang="en-US" sz="1200" b="0" dirty="0" err="1"/>
              <a:t>Tetrel</a:t>
            </a:r>
            <a:r>
              <a:rPr lang="en-US" sz="1200" b="0" dirty="0"/>
              <a:t>, </a:t>
            </a:r>
            <a:r>
              <a:rPr lang="en-US" sz="1200" b="0" dirty="0" err="1"/>
              <a:t>Hacène</a:t>
            </a:r>
            <a:r>
              <a:rPr lang="en-US" sz="1200" b="0" dirty="0"/>
              <a:t> </a:t>
            </a:r>
            <a:r>
              <a:rPr lang="en-US" sz="1200" b="0" dirty="0" err="1"/>
              <a:t>Chebrek</a:t>
            </a:r>
            <a:r>
              <a:rPr lang="en-US" sz="1200" b="0" dirty="0"/>
              <a:t>, and Catherine Laporte. Learning for graph-based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	ultrasound. In Li Wang, Ehsan Adeli, Qian Wang, </a:t>
            </a:r>
            <a:r>
              <a:rPr lang="en-US" sz="1200" b="0" dirty="0" err="1"/>
              <a:t>Yinghuan</a:t>
            </a:r>
            <a:r>
              <a:rPr lang="en-US" sz="1200" b="0" dirty="0"/>
              <a:t> Shi, and Heung-Il Suk, editors, Machine 	Learning in Medical Imaging, volume 10019 of Lecture Notes in Computer Science, pages 205–212. 	Springer International Publishing, Cham, 2016.</a:t>
            </a:r>
          </a:p>
          <a:p>
            <a:pPr marL="0" indent="0">
              <a:buNone/>
            </a:pPr>
            <a:r>
              <a:rPr lang="en-US" sz="1200" b="0" dirty="0"/>
              <a:t>[7] Paul F. R. Wilson et al. </a:t>
            </a:r>
            <a:r>
              <a:rPr lang="en-US" sz="1200" b="0" dirty="0" err="1"/>
              <a:t>Dualtrack</a:t>
            </a:r>
            <a:r>
              <a:rPr lang="en-US" sz="1200" b="0" dirty="0"/>
              <a:t>: </a:t>
            </a:r>
            <a:r>
              <a:rPr lang="en-US" sz="1200" b="0" dirty="0" err="1"/>
              <a:t>Sensorless</a:t>
            </a:r>
            <a:r>
              <a:rPr lang="en-US" sz="1200" b="0" dirty="0"/>
              <a:t> 3d ultrasound needs local and global context.</a:t>
            </a:r>
          </a:p>
          <a:p>
            <a:pPr marL="0" indent="0">
              <a:buNone/>
            </a:pPr>
            <a:r>
              <a:rPr lang="en-US" sz="1200" b="0" dirty="0"/>
              <a:t>[8] Feng Youyang, Wang Qing, and Yang </a:t>
            </a:r>
            <a:r>
              <a:rPr lang="en-US" sz="1200" b="0" dirty="0" err="1"/>
              <a:t>Gaochao</a:t>
            </a:r>
            <a:r>
              <a:rPr lang="en-US" sz="1200" b="0" dirty="0"/>
              <a:t>. Incremental 3-d pose graph optimization for slam algorithm 	without marginalization. International Journal of Advanced Robotic Systems, 17(3), 2020.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43976-F88F-8EA3-4956-5CE572957761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18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6FB61F-DD7F-7A53-FD78-61CDF038922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Sources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318671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1235</TotalTime>
  <Words>1253</Words>
  <Application>Microsoft Office PowerPoint</Application>
  <PresentationFormat>On-screen Show (16:9)</PresentationFormat>
  <Paragraphs>262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Yu Gothic Medium</vt:lpstr>
      <vt:lpstr>Yu Gothic Medium</vt:lpstr>
      <vt:lpstr>Abadi</vt:lpstr>
      <vt:lpstr>Arial</vt:lpstr>
      <vt:lpstr>Cambria</vt:lpstr>
      <vt:lpstr>Cambria Math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Introduction</vt:lpstr>
      <vt:lpstr>How do we get the probes pose?</vt:lpstr>
      <vt:lpstr>Research proposal</vt:lpstr>
      <vt:lpstr>Pose Graph Optimization (PGO)</vt:lpstr>
      <vt:lpstr>Pose Graph Optimization (PGO)</vt:lpstr>
      <vt:lpstr>Methodology</vt:lpstr>
      <vt:lpstr>   Acquire pose predictions from DL model</vt:lpstr>
      <vt:lpstr>   Build initial pose graph</vt:lpstr>
      <vt:lpstr>   Detour</vt:lpstr>
      <vt:lpstr>   Detour</vt:lpstr>
      <vt:lpstr>   Add additional constraints</vt:lpstr>
      <vt:lpstr>   Add weights</vt:lpstr>
      <vt:lpstr>   Add weights</vt:lpstr>
      <vt:lpstr>   Apply PGO</vt:lpstr>
      <vt:lpstr>Error metrics</vt:lpstr>
      <vt:lpstr>Setup</vt:lpstr>
      <vt:lpstr>Sources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516</cp:revision>
  <dcterms:created xsi:type="dcterms:W3CDTF">2020-07-20T06:28:23Z</dcterms:created>
  <dcterms:modified xsi:type="dcterms:W3CDTF">2026-05-08T08:12:01Z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