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284242785" r:id="rId4"/>
  </p:sldMasterIdLst>
  <p:notesMasterIdLst>
    <p:notesMasterId r:id="rId25"/>
  </p:notesMasterIdLst>
  <p:sldIdLst>
    <p:sldId id="256" r:id="rId5"/>
    <p:sldId id="282" r:id="rId6"/>
    <p:sldId id="296" r:id="rId7"/>
    <p:sldId id="297" r:id="rId8"/>
    <p:sldId id="286" r:id="rId9"/>
    <p:sldId id="312" r:id="rId10"/>
    <p:sldId id="301" r:id="rId11"/>
    <p:sldId id="300" r:id="rId12"/>
    <p:sldId id="299" r:id="rId13"/>
    <p:sldId id="298" r:id="rId14"/>
    <p:sldId id="302" r:id="rId15"/>
    <p:sldId id="304" r:id="rId16"/>
    <p:sldId id="305" r:id="rId17"/>
    <p:sldId id="306" r:id="rId18"/>
    <p:sldId id="307" r:id="rId19"/>
    <p:sldId id="308" r:id="rId20"/>
    <p:sldId id="309" r:id="rId21"/>
    <p:sldId id="310" r:id="rId22"/>
    <p:sldId id="311" r:id="rId23"/>
    <p:sldId id="303" r:id="rId24"/>
  </p:sldIdLst>
  <p:sldSz cx="9144000" cy="5143500" type="screen16x9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278694-1E1C-66CA-0E75-1DD917A87028}" v="16" dt="2026-04-20T05:11:42.250"/>
    <p1510:client id="{090E6414-710A-A14B-BA3F-16AC7C122D1A}" v="3" dt="2026-04-19T13:11:33.3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76150" autoAdjust="0"/>
  </p:normalViewPr>
  <p:slideViewPr>
    <p:cSldViewPr>
      <p:cViewPr varScale="1">
        <p:scale>
          <a:sx n="107" d="100"/>
          <a:sy n="107" d="100"/>
        </p:scale>
        <p:origin x="17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Relationship Id="rId30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898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>
          <a:xfrm>
            <a:off x="0" y="0"/>
            <a:ext cx="7315200" cy="2700338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endParaRPr dirty="0">
              <a:latin typeface="Abadi" panose="020B0604020104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66183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81389-0821-4682-D9C0-5C395DD7C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22EEA0-A488-5FC5-F9F9-2B5CDAC74D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D939AB-37A0-B2C6-427A-027C0FA26A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26207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24DD3-64F3-8232-353D-F77CE363F2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66DDA7-5173-7335-429B-31316B75A8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3306C7-AB11-E097-381C-289331DFE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25888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316842-0B0E-91C8-7F35-B356EFFB7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7FB22F-F84F-D3D2-EF9C-3CF06ED162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D00DD1-C3C9-F066-CCEC-C1128C44AC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46651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8B1621-8BDB-B4DD-BFF6-4A4A13EAF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812535-F9D6-A891-2506-2703DFF1EF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7F941D-0BFD-DAD0-FD22-D9BB545C30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24234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A89E11-F854-381E-81FF-78627306C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AD516A-FCAB-3BAD-E4AA-0D468D9B76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821611-294A-235E-8221-D36A650DEA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marR="0" lvl="0" indent="-171450" algn="l" defTabSz="28575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dirty="0"/>
              <a:t>TUSREC24, one scan each</a:t>
            </a:r>
          </a:p>
          <a:p>
            <a:pPr marL="171450" marR="0" lvl="0" indent="-171450" algn="l" defTabSz="28575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dirty="0"/>
              <a:t>Only translation</a:t>
            </a:r>
          </a:p>
          <a:p>
            <a:pPr marL="171450" marR="0" lvl="0" indent="-171450" algn="l" defTabSz="28575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dirty="0"/>
              <a:t>General direction is fine</a:t>
            </a:r>
          </a:p>
          <a:p>
            <a:pPr marL="171450" indent="-171450">
              <a:buFontTx/>
              <a:buChar char="-"/>
            </a:pPr>
            <a:r>
              <a:rPr lang="en-US" dirty="0"/>
              <a:t>Again no jitter for </a:t>
            </a:r>
            <a:r>
              <a:rPr lang="en-US" dirty="0" err="1"/>
              <a:t>DualTrack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IR retains jitter</a:t>
            </a:r>
          </a:p>
        </p:txBody>
      </p:sp>
    </p:spTree>
    <p:extLst>
      <p:ext uri="{BB962C8B-B14F-4D97-AF65-F5344CB8AC3E}">
        <p14:creationId xmlns:p14="http://schemas.microsoft.com/office/powerpoint/2010/main" val="40006271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110AB-35FE-15B6-B7ED-5B05C5D51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1FE2BB-792B-A211-B750-0BC0AFDD48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ACF089-96BD-1CC4-EF9C-2166115FEF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TUSREC24, one scan, first 100 frames</a:t>
            </a:r>
          </a:p>
          <a:p>
            <a:pPr marL="171450" indent="-171450">
              <a:buFontTx/>
              <a:buChar char="-"/>
            </a:pPr>
            <a:r>
              <a:rPr lang="en-US" dirty="0"/>
              <a:t>general trend is fine</a:t>
            </a:r>
          </a:p>
          <a:p>
            <a:pPr marL="171450" indent="-171450">
              <a:buFontTx/>
              <a:buChar char="-"/>
            </a:pPr>
            <a:r>
              <a:rPr lang="en-US" dirty="0"/>
              <a:t>Note: z, pitch, roll from </a:t>
            </a:r>
            <a:r>
              <a:rPr lang="en-US" dirty="0" err="1"/>
              <a:t>DualTrack</a:t>
            </a:r>
            <a:r>
              <a:rPr lang="en-US" dirty="0"/>
              <a:t>: No jitter</a:t>
            </a:r>
          </a:p>
        </p:txBody>
      </p:sp>
    </p:spTree>
    <p:extLst>
      <p:ext uri="{BB962C8B-B14F-4D97-AF65-F5344CB8AC3E}">
        <p14:creationId xmlns:p14="http://schemas.microsoft.com/office/powerpoint/2010/main" val="18782947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4973B-E51E-FE48-A457-2C39A84F3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C78778-BE6F-A199-3EDC-09525DED6F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E4949C-59CE-8F46-43E0-68FFBF3975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TUSREC24, 72 scans</a:t>
            </a:r>
          </a:p>
          <a:p>
            <a:pPr marL="171450" indent="-171450">
              <a:buFontTx/>
              <a:buChar char="-"/>
            </a:pPr>
            <a:r>
              <a:rPr lang="en-US" dirty="0"/>
              <a:t>Slight correlation between transform magnitude and error, especially for large values</a:t>
            </a:r>
          </a:p>
        </p:txBody>
      </p:sp>
    </p:spTree>
    <p:extLst>
      <p:ext uri="{BB962C8B-B14F-4D97-AF65-F5344CB8AC3E}">
        <p14:creationId xmlns:p14="http://schemas.microsoft.com/office/powerpoint/2010/main" val="5965833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713E8-7E23-C53F-A2B7-7DA3FC6B0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D82575-8C9D-EC7D-86DD-DC4B643AB3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9E6708-94EC-1D21-425B-EF7C3C48E7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9150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13A74-A868-DB05-9DE4-3163F367B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371AA7-33FB-F080-7C37-8E277DC9B0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BD47DC-0751-CEBC-9F51-035CB39398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131100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EADF8-30B9-97A5-CE34-6917ED80A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8B875A-B9BE-F360-B756-E065FD2595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147DA1-D45D-F024-8373-0F3FD3F2BF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02109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64341-8EFA-C217-8452-C9C7971BB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8629CA-266A-54EC-A863-A2D61B272D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DF28E7-2108-FA33-1A6A-73E282C4D1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92278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9B1BF-973D-F348-BF93-101B225398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2F7683-361B-9027-9D3E-9C182C1B21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51709C-1EF3-8205-AE6E-684B26A138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0" indent="0">
              <a:buFontTx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19928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5AD73-38EE-1FEF-45B0-F7E72ECF6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301AA7-372A-AE49-E388-B2A1906E51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8C760F-9EA3-CD68-F3AD-78591075DC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851911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8E8AF-05FD-06B3-8E0D-7434C880B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F68ECC-E5AE-A0A2-C8A0-FF86AA57FD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64ED51-9B4F-E538-50CA-6F45B98189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947468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3A89F-56A2-C158-071B-625B20665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C74E61-4C7F-36D5-8D90-3F41D786A5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CBCF0-171D-3AE1-08A5-4ABFC666C9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translation: mm; rotation: angle</a:t>
            </a:r>
          </a:p>
        </p:txBody>
      </p:sp>
    </p:spTree>
    <p:extLst>
      <p:ext uri="{BB962C8B-B14F-4D97-AF65-F5344CB8AC3E}">
        <p14:creationId xmlns:p14="http://schemas.microsoft.com/office/powerpoint/2010/main" val="126207008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A063BA-5B60-86B2-9CF7-37B0F3424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60A639-8CD0-677A-E709-70AF40D2C1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4311C9-FA19-5D45-3CF2-61159479E4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22282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86C8A9-21DD-A1F0-71BF-5893402A1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B15482-1104-3DDC-EF19-AD9BCAF976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1D4472-FBC4-E3B8-C8BE-DE587F080A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606170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48693E-E9A8-4AE7-5391-88D6D2167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144BEE-185E-A9F3-BCCD-840BCD85B3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947576-ACEA-80EF-9F41-5CC6377786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34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for title"/>
          <p:cNvSpPr>
            <a:spLocks noGrp="1"/>
          </p:cNvSpPr>
          <p:nvPr>
            <p:ph type="title"/>
          </p:nvPr>
        </p:nvSpPr>
        <p:spPr>
          <a:xfrm>
            <a:off x="333375" y="1714500"/>
            <a:ext cx="8477250" cy="857250"/>
          </a:xfrm>
          <a:prstGeom prst="rect">
            <a:avLst/>
          </a:prstGeom>
          <a:noFill/>
        </p:spPr>
        <p:txBody>
          <a:bodyPr lIns="91440" tIns="45720" rIns="91440" bIns="45720" rtlCol="0" anchor="b">
            <a:normAutofit/>
          </a:bodyPr>
          <a:lstStyle>
            <a:lvl1pPr algn="ctr">
              <a:defRPr sz="320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1pPr>
          </a:lstStyle>
          <a:p>
            <a:r>
              <a:rPr dirty="0"/>
              <a:t>Click to edit master title style</a:t>
            </a:r>
          </a:p>
        </p:txBody>
      </p:sp>
      <p:sp>
        <p:nvSpPr>
          <p:cNvPr id="2" name="Placeholder for subTitle"/>
          <p:cNvSpPr>
            <a:spLocks noGrp="1"/>
          </p:cNvSpPr>
          <p:nvPr>
            <p:ph type="subTitle" idx="1"/>
          </p:nvPr>
        </p:nvSpPr>
        <p:spPr>
          <a:xfrm>
            <a:off x="333375" y="2667000"/>
            <a:ext cx="8477250" cy="476250"/>
          </a:xfrm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>
            <a:lvl1pPr algn="ctr">
              <a:buNone/>
              <a:defRPr sz="240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1pPr>
          </a:lstStyle>
          <a:p>
            <a:r>
              <a:rPr dirty="0"/>
              <a:t>Click to edit master subtitle style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F2F130D-C690-83C2-6924-37FD2AB42E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8794" y="21252"/>
            <a:ext cx="857250" cy="85725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D33E7D0-000F-827E-D967-EB3DD67E4F07}"/>
              </a:ext>
            </a:extLst>
          </p:cNvPr>
          <p:cNvSpPr/>
          <p:nvPr userDrawn="1"/>
        </p:nvSpPr>
        <p:spPr>
          <a:xfrm>
            <a:off x="8532440" y="4659982"/>
            <a:ext cx="432048" cy="3600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フリーフォーム: 図形 7">
            <a:extLst>
              <a:ext uri="{FF2B5EF4-FFF2-40B4-BE49-F238E27FC236}">
                <a16:creationId xmlns:a16="http://schemas.microsoft.com/office/drawing/2014/main" id="{52C3BEFA-417A-1441-26BB-00A8491D7FF5}"/>
              </a:ext>
            </a:extLst>
          </p:cNvPr>
          <p:cNvSpPr/>
          <p:nvPr userDrawn="1"/>
        </p:nvSpPr>
        <p:spPr>
          <a:xfrm>
            <a:off x="539553" y="0"/>
            <a:ext cx="8604448" cy="937052"/>
          </a:xfrm>
          <a:custGeom>
            <a:avLst/>
            <a:gdLst>
              <a:gd name="connsiteX0" fmla="*/ 54054 w 8153211"/>
              <a:gd name="connsiteY0" fmla="*/ 0 h 936104"/>
              <a:gd name="connsiteX1" fmla="*/ 8153211 w 8153211"/>
              <a:gd name="connsiteY1" fmla="*/ 0 h 936104"/>
              <a:gd name="connsiteX2" fmla="*/ 8153211 w 8153211"/>
              <a:gd name="connsiteY2" fmla="*/ 936104 h 936104"/>
              <a:gd name="connsiteX3" fmla="*/ 0 w 8153211"/>
              <a:gd name="connsiteY3" fmla="*/ 936104 h 936104"/>
              <a:gd name="connsiteX4" fmla="*/ 42843 w 8153211"/>
              <a:gd name="connsiteY4" fmla="*/ 922805 h 936104"/>
              <a:gd name="connsiteX5" fmla="*/ 350698 w 8153211"/>
              <a:gd name="connsiteY5" fmla="*/ 458360 h 936104"/>
              <a:gd name="connsiteX6" fmla="*/ 128465 w 8153211"/>
              <a:gd name="connsiteY6" fmla="*/ 40389 h 9361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153211" h="936104">
                <a:moveTo>
                  <a:pt x="54054" y="0"/>
                </a:moveTo>
                <a:lnTo>
                  <a:pt x="8153211" y="0"/>
                </a:lnTo>
                <a:lnTo>
                  <a:pt x="8153211" y="936104"/>
                </a:lnTo>
                <a:lnTo>
                  <a:pt x="0" y="936104"/>
                </a:lnTo>
                <a:lnTo>
                  <a:pt x="42843" y="922805"/>
                </a:lnTo>
                <a:cubicBezTo>
                  <a:pt x="223757" y="846285"/>
                  <a:pt x="350698" y="667147"/>
                  <a:pt x="350698" y="458360"/>
                </a:cubicBezTo>
                <a:cubicBezTo>
                  <a:pt x="350698" y="284371"/>
                  <a:pt x="262544" y="130972"/>
                  <a:pt x="128465" y="40389"/>
                </a:cubicBezTo>
                <a:close/>
              </a:path>
            </a:pathLst>
          </a:custGeom>
          <a:gradFill flip="none" rotWithShape="1">
            <a:gsLst>
              <a:gs pos="0">
                <a:srgbClr val="00B0F0"/>
              </a:gs>
              <a:gs pos="100000">
                <a:srgbClr val="00B0F0">
                  <a:alpha val="0"/>
                </a:srgbClr>
              </a:gs>
              <a:gs pos="36000">
                <a:srgbClr val="00B0F0">
                  <a:alpha val="67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446088" indent="0" algn="just">
              <a:tabLst/>
            </a:pPr>
            <a:endParaRPr kumimoji="1" lang="ja-JP" altLang="en-US" sz="20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057365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for body"/>
          <p:cNvSpPr>
            <a:spLocks noGrp="1"/>
          </p:cNvSpPr>
          <p:nvPr>
            <p:ph type="body" hasCustomPrompt="1"/>
          </p:nvPr>
        </p:nvSpPr>
        <p:spPr>
          <a:xfrm>
            <a:off x="133749" y="707816"/>
            <a:ext cx="8832299" cy="3959434"/>
          </a:xfrm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>
            <a:lvl1pPr>
              <a:buSzPct val="100000"/>
              <a:buFont typeface="Arial" panose="020B0604020202020204" pitchFamily="34" charset="0"/>
              <a:buChar char="•"/>
              <a:defRPr/>
            </a:lvl1pPr>
            <a:lvl2pPr>
              <a:buSzPct val="100000"/>
              <a:buFont typeface="Arial" panose="020B0604020202020204" pitchFamily="34" charset="0"/>
              <a:buChar char="•"/>
              <a:defRPr/>
            </a:lvl2pPr>
            <a:lvl3pPr>
              <a:buSzPct val="100000"/>
              <a:buFont typeface="Arial" panose="020B0604020202020204" pitchFamily="34" charset="0"/>
              <a:buChar char="•"/>
              <a:defRPr/>
            </a:lvl3pPr>
            <a:lvl4pPr>
              <a:buSzPct val="100000"/>
              <a:buFont typeface="Arial" panose="020B0604020202020204" pitchFamily="34" charset="0"/>
              <a:buChar char="•"/>
              <a:defRPr/>
            </a:lvl4pPr>
            <a:lvl5pPr>
              <a:buSzPct val="100000"/>
              <a:buFont typeface="Arial" panose="020B0604020202020204" pitchFamily="34" charset="0"/>
              <a:buChar char="•"/>
              <a:defRPr/>
            </a:lvl5pPr>
            <a:lvl6pPr>
              <a:buSzPct val="100000"/>
              <a:buFont typeface="Arial" panose="020B0604020202020204" pitchFamily="34" charset="0"/>
              <a:buChar char="•"/>
              <a:defRPr/>
            </a:lvl6pPr>
            <a:lvl7pPr>
              <a:buSzPct val="100000"/>
              <a:buFont typeface="Arial" panose="020B0604020202020204" pitchFamily="34" charset="0"/>
              <a:buChar char="•"/>
              <a:defRPr/>
            </a:lvl7pPr>
            <a:lvl8pPr>
              <a:buSzPct val="100000"/>
              <a:buFont typeface="Arial" panose="020B0604020202020204" pitchFamily="34" charset="0"/>
              <a:buChar char="•"/>
              <a:defRPr/>
            </a:lvl8pPr>
            <a:lvl9pPr>
              <a:buSzPct val="100000"/>
              <a:buFont typeface="Arial" panose="020B0604020202020204" pitchFamily="34" charset="0"/>
              <a:buChar char="•"/>
              <a:defRPr/>
            </a:lvl9pPr>
          </a:lstStyle>
          <a:p>
            <a:r>
              <a:rPr dirty="0"/>
              <a:t>First level</a:t>
            </a:r>
          </a:p>
          <a:p>
            <a:pPr lvl="1"/>
            <a:r>
              <a:rPr dirty="0"/>
              <a:t>Second level</a:t>
            </a:r>
          </a:p>
          <a:p>
            <a:pPr lvl="2"/>
            <a:r>
              <a:rPr dirty="0"/>
              <a:t>Third level</a:t>
            </a:r>
          </a:p>
          <a:p>
            <a:pPr lvl="3"/>
            <a:r>
              <a:rPr dirty="0"/>
              <a:t>Fourth level</a:t>
            </a:r>
          </a:p>
          <a:p>
            <a:pPr lvl="4"/>
            <a:r>
              <a:rPr dirty="0"/>
              <a:t>Fifth level</a:t>
            </a:r>
          </a:p>
          <a:p>
            <a:pPr lvl="5"/>
            <a:r>
              <a:rPr dirty="0"/>
              <a:t>Sixth level</a:t>
            </a:r>
          </a:p>
          <a:p>
            <a:pPr lvl="6"/>
            <a:r>
              <a:rPr dirty="0"/>
              <a:t>Seventh level</a:t>
            </a:r>
          </a:p>
          <a:p>
            <a:pPr lvl="7"/>
            <a:r>
              <a:rPr dirty="0"/>
              <a:t>Eighth level</a:t>
            </a:r>
          </a:p>
          <a:p>
            <a:pPr lvl="8"/>
            <a:r>
              <a:rPr dirty="0"/>
              <a:t>Ninth level</a:t>
            </a:r>
          </a:p>
        </p:txBody>
      </p:sp>
      <p:sp>
        <p:nvSpPr>
          <p:cNvPr id="11" name="Placeholder for sldNum"/>
          <p:cNvSpPr>
            <a:spLocks noGrp="1"/>
          </p:cNvSpPr>
          <p:nvPr>
            <p:ph type="sldNum" idx="1"/>
          </p:nvPr>
        </p:nvSpPr>
        <p:spPr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>
            <a:lvl1pPr>
              <a:defRPr/>
            </a:lvl1pPr>
          </a:lstStyle>
          <a:p>
            <a:fld id="{7475F232-FFFE-5E6C-5554-2F165DAD28C0}" type="slidenum">
              <a:t>‹#›</a:t>
            </a:fld>
            <a:endParaRPr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3EB3908-8FC6-6D84-5753-FED228058B1E}"/>
              </a:ext>
            </a:extLst>
          </p:cNvPr>
          <p:cNvSpPr txBox="1"/>
          <p:nvPr userDrawn="1"/>
        </p:nvSpPr>
        <p:spPr>
          <a:xfrm>
            <a:off x="0" y="0"/>
            <a:ext cx="8733692" cy="523220"/>
          </a:xfrm>
          <a:custGeom>
            <a:avLst/>
            <a:gdLst>
              <a:gd name="connsiteX0" fmla="*/ 0 w 8949956"/>
              <a:gd name="connsiteY0" fmla="*/ 0 h 523220"/>
              <a:gd name="connsiteX1" fmla="*/ 8949956 w 8949956"/>
              <a:gd name="connsiteY1" fmla="*/ 0 h 523220"/>
              <a:gd name="connsiteX2" fmla="*/ 8894599 w 8949956"/>
              <a:gd name="connsiteY2" fmla="*/ 5580 h 523220"/>
              <a:gd name="connsiteX3" fmla="*/ 8617703 w 8949956"/>
              <a:gd name="connsiteY3" fmla="*/ 345320 h 523220"/>
              <a:gd name="connsiteX4" fmla="*/ 8644955 w 8949956"/>
              <a:gd name="connsiteY4" fmla="*/ 480304 h 523220"/>
              <a:gd name="connsiteX5" fmla="*/ 8668249 w 8949956"/>
              <a:gd name="connsiteY5" fmla="*/ 523220 h 523220"/>
              <a:gd name="connsiteX6" fmla="*/ 0 w 8949956"/>
              <a:gd name="connsiteY6" fmla="*/ 523220 h 5232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9956" h="523220">
                <a:moveTo>
                  <a:pt x="0" y="0"/>
                </a:moveTo>
                <a:lnTo>
                  <a:pt x="8949956" y="0"/>
                </a:lnTo>
                <a:lnTo>
                  <a:pt x="8894599" y="5580"/>
                </a:lnTo>
                <a:cubicBezTo>
                  <a:pt x="8736575" y="37917"/>
                  <a:pt x="8617703" y="177737"/>
                  <a:pt x="8617703" y="345320"/>
                </a:cubicBezTo>
                <a:cubicBezTo>
                  <a:pt x="8617703" y="393201"/>
                  <a:pt x="8627407" y="438816"/>
                  <a:pt x="8644955" y="480304"/>
                </a:cubicBezTo>
                <a:lnTo>
                  <a:pt x="8668249" y="523220"/>
                </a:lnTo>
                <a:lnTo>
                  <a:pt x="0" y="523220"/>
                </a:lnTo>
                <a:close/>
              </a:path>
            </a:pathLst>
          </a:custGeom>
          <a:gradFill flip="none" rotWithShape="1">
            <a:gsLst>
              <a:gs pos="56000">
                <a:srgbClr val="0070C0">
                  <a:alpha val="47000"/>
                </a:srgbClr>
              </a:gs>
              <a:gs pos="100000">
                <a:srgbClr val="0070C0"/>
              </a:gs>
            </a:gsLst>
            <a:lin ang="10800000" scaled="1"/>
            <a:tileRect/>
          </a:gradFill>
        </p:spPr>
        <p:txBody>
          <a:bodyPr wrap="square" lIns="91440" tIns="45720" rIns="91440" bIns="45720" rtlCol="0">
            <a:noAutofit/>
          </a:bodyPr>
          <a:lstStyle>
            <a:lvl1pPr>
              <a:lnSpc>
                <a:spcPct val="100000"/>
              </a:lnSpc>
              <a:defRPr sz="2800">
                <a:solidFill>
                  <a:srgbClr val="FFFFFF">
                    <a:alpha val="100000"/>
                  </a:srgbClr>
                </a:solidFill>
                <a:latin typeface="Cambria"/>
                <a:ea typeface="Cambria"/>
                <a:cs typeface="Cambria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en-US" sz="2800" dirty="0">
                <a:solidFill>
                  <a:srgbClr val="FFFFFF">
                    <a:alpha val="100000"/>
                  </a:srgbClr>
                </a:solidFill>
                <a:latin typeface="Cambria"/>
                <a:ea typeface="Cambria"/>
                <a:cs typeface="Cambria"/>
              </a:rPr>
              <a:t>■ </a:t>
            </a:r>
            <a:endParaRPr dirty="0"/>
          </a:p>
        </p:txBody>
      </p:sp>
      <p:sp>
        <p:nvSpPr>
          <p:cNvPr id="14" name="Placeholder for title"/>
          <p:cNvSpPr>
            <a:spLocks noGrp="1"/>
          </p:cNvSpPr>
          <p:nvPr>
            <p:ph type="title" idx="2" hasCustomPrompt="1"/>
          </p:nvPr>
        </p:nvSpPr>
        <p:spPr>
          <a:xfrm>
            <a:off x="179512" y="15525"/>
            <a:ext cx="8136904" cy="571500"/>
          </a:xfrm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>
            <a:lvl1pPr marL="180975" indent="0">
              <a:defRPr sz="2200" cap="small" baseline="0">
                <a:solidFill>
                  <a:srgbClr val="FFFFFF">
                    <a:alpha val="100000"/>
                  </a:srgbClr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游ゴシック Medium" panose="020B0500000000000000" pitchFamily="50" charset="-128"/>
              </a:defRPr>
            </a:lvl1pPr>
          </a:lstStyle>
          <a:p>
            <a:r>
              <a:rPr dirty="0"/>
              <a:t>Click to edit master title style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821EDD68-0082-E9D5-9873-C1A9C91A424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467539" y="26245"/>
            <a:ext cx="648072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9390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02386" y="363474"/>
            <a:ext cx="7543800" cy="12070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02386" y="1591056"/>
            <a:ext cx="7543800" cy="30380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73318" y="4704588"/>
            <a:ext cx="245516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25">
                <a:solidFill>
                  <a:schemeClr val="tx2"/>
                </a:solidFill>
              </a:defRPr>
            </a:lvl1pPr>
          </a:lstStyle>
          <a:p>
            <a:fld id="{8664C608-40B1-4030-A28D-5B74BC98ADCE}" type="datetimeFigureOut">
              <a:rPr lang="en-US" dirty="0"/>
              <a:t>7/17/2026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16102" y="4704588"/>
            <a:ext cx="4745736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5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8551294" y="4672261"/>
            <a:ext cx="342900" cy="3429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/>
            <a:lstStyle/>
            <a:p>
              <a:endParaRPr lang="en-JP"/>
            </a:p>
          </p:txBody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/>
            <a:lstStyle/>
            <a:p>
              <a:endParaRPr lang="en-JP"/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83346" y="4704588"/>
            <a:ext cx="48006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 b="1">
                <a:solidFill>
                  <a:srgbClr val="FFFFFF"/>
                </a:solidFill>
                <a:latin typeface="+mj-lt"/>
              </a:defRPr>
            </a:lvl1pPr>
          </a:lstStyle>
          <a:p>
            <a:fld id="{D8EC5374-57E1-C524-E947-346F474B0D38}" type="slidenum">
              <a:rPr lang="en-US" altLang="ja-JP" smtClean="0"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218789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284242797" r:id="rId1"/>
    <p:sldLayoutId id="2284242798" r:id="rId2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4050" b="1" kern="1200" cap="all" baseline="0">
          <a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游ゴシック Medium" panose="020B0500000000000000" pitchFamily="50" charset="-128"/>
          <a:ea typeface="游ゴシック Medium" panose="020B0500000000000000" pitchFamily="50" charset="-128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0000"/>
        </a:lnSpc>
        <a:spcBef>
          <a:spcPts val="9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50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1pPr>
      <a:lvl2pPr marL="34290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35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2pPr>
      <a:lvl3pPr marL="54864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3pPr>
      <a:lvl4pPr marL="75438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4pPr>
      <a:lvl5pPr marL="96012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5pPr>
      <a:lvl6pPr marL="1200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425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650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875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4617107"/>
          <a:chOff x="0" y="0"/>
          <a:chExt cx="9144000" cy="4617107"/>
        </a:xfrm>
      </p:grpSpPr>
      <p:sp>
        <p:nvSpPr>
          <p:cNvPr id="2" name="Placeholder for title"/>
          <p:cNvSpPr>
            <a:spLocks noGrp="1"/>
          </p:cNvSpPr>
          <p:nvPr>
            <p:ph type="title"/>
          </p:nvPr>
        </p:nvSpPr>
        <p:spPr>
          <a:xfrm>
            <a:off x="0" y="1943299"/>
            <a:ext cx="9144000" cy="628451"/>
          </a:xfrm>
          <a:prstGeom prst="rect">
            <a:avLst/>
          </a:prstGeom>
          <a:noFill/>
        </p:spPr>
        <p:txBody>
          <a:bodyPr lIns="91440" tIns="45720" rIns="91440" bIns="45720" rtlCol="0">
            <a:noAutofit/>
          </a:bodyPr>
          <a:lstStyle/>
          <a:p>
            <a:r>
              <a:rPr lang="en-US" dirty="0"/>
              <a:t>Pose Graph Optimization for Vision-Only Freehand 3D Ultrasound Reconstruction</a:t>
            </a:r>
            <a:endParaRPr lang="ja-JP" sz="3200" b="0" dirty="0">
              <a:latin typeface="Yu Gothic Medium" panose="020B0400000000000000" pitchFamily="34" charset="-128"/>
              <a:ea typeface="Yu Gothic Medium" panose="020B0400000000000000" pitchFamily="34" charset="-128"/>
            </a:endParaRPr>
          </a:p>
        </p:txBody>
      </p:sp>
      <p:sp>
        <p:nvSpPr>
          <p:cNvPr id="3" name="Placeholder for subTitle"/>
          <p:cNvSpPr>
            <a:spLocks noGrp="1"/>
          </p:cNvSpPr>
          <p:nvPr>
            <p:ph type="subTitle" idx="1"/>
          </p:nvPr>
        </p:nvSpPr>
        <p:spPr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/>
          <a:p>
            <a:pPr>
              <a:buNone/>
            </a:pPr>
            <a:r>
              <a:rPr lang="en-US" b="0" dirty="0">
                <a:latin typeface="Yu Gothic Medium" panose="020B0400000000000000" pitchFamily="34" charset="-128"/>
                <a:ea typeface="Yu Gothic Medium" panose="020B0400000000000000" pitchFamily="34" charset="-128"/>
              </a:rPr>
              <a:t>Update 01.06.2026</a:t>
            </a:r>
            <a:endParaRPr b="0" dirty="0">
              <a:latin typeface="Yu Gothic Medium" panose="020B0400000000000000" pitchFamily="34" charset="-128"/>
              <a:ea typeface="Yu Gothic Medium" panose="020B0400000000000000" pitchFamily="34" charset="-128"/>
            </a:endParaRPr>
          </a:p>
        </p:txBody>
      </p:sp>
      <p:cxnSp>
        <p:nvCxnSpPr>
          <p:cNvPr id="4" name="直線コネクタ 3"/>
          <p:cNvCxnSpPr>
            <a:cxnSpLocks/>
          </p:cNvCxnSpPr>
          <p:nvPr/>
        </p:nvCxnSpPr>
        <p:spPr>
          <a:xfrm>
            <a:off x="1475656" y="2581608"/>
            <a:ext cx="6264696" cy="0"/>
          </a:xfrm>
          <a:prstGeom prst="line">
            <a:avLst/>
          </a:prstGeom>
          <a:ln w="34925" cap="flat" cmpd="sng" algn="ctr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47000">
                  <a:srgbClr val="00B0F0">
                    <a:alpha val="15000"/>
                  </a:srgbClr>
                </a:gs>
                <a:gs pos="83000">
                  <a:srgbClr val="00B0F0"/>
                </a:gs>
                <a:gs pos="100000">
                  <a:srgbClr val="00B0F0"/>
                </a:gs>
              </a:gsLst>
              <a:lin ang="10800000" scaled="1"/>
              <a:tileRect/>
            </a:gradFill>
            <a:prstDash val="solid"/>
            <a:round/>
          </a:ln>
        </p:spPr>
      </p:cxnSp>
      <p:sp>
        <p:nvSpPr>
          <p:cNvPr id="5" name="テキスト ボックス 8">
            <a:extLst>
              <a:ext uri="{FF2B5EF4-FFF2-40B4-BE49-F238E27FC236}">
                <a16:creationId xmlns:a16="http://schemas.microsoft.com/office/drawing/2014/main" id="{0E8696AE-8609-3F5A-E2EA-9118C2D7BB63}"/>
              </a:ext>
            </a:extLst>
          </p:cNvPr>
          <p:cNvSpPr txBox="1"/>
          <p:nvPr/>
        </p:nvSpPr>
        <p:spPr>
          <a:xfrm>
            <a:off x="0" y="3867894"/>
            <a:ext cx="9143999" cy="338554"/>
          </a:xfrm>
          <a:prstGeom prst="rect">
            <a:avLst/>
          </a:prstGeom>
          <a:noFill/>
        </p:spPr>
        <p:txBody>
          <a:bodyPr wrap="square" lIns="91440" tIns="45720" rIns="91440" bIns="45720" rtlCol="0">
            <a:spAutoFit/>
          </a:bodyPr>
          <a:lstStyle/>
          <a:p>
            <a:pPr algn="ctr">
              <a:buNone/>
            </a:pPr>
            <a:r>
              <a:rPr lang="en-US" altLang="ja-JP" sz="1600" b="1" dirty="0">
                <a:latin typeface="游ゴシック Medium" panose="020B0500000000000000" pitchFamily="50" charset="-128"/>
                <a:ea typeface="游ゴシック Medium" panose="020B0500000000000000" pitchFamily="50" charset="-128"/>
              </a:rPr>
              <a:t>Jannis Meyer</a:t>
            </a:r>
            <a:endParaRPr sz="1600" b="1" dirty="0">
              <a:latin typeface="游ゴシック Medium" panose="020B0500000000000000" pitchFamily="50" charset="-128"/>
              <a:ea typeface="游ゴシック Medium" panose="020B0500000000000000" pitchFamily="50" charset="-128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5F51D-1F4A-E04A-82D8-9A4283BFC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4B685D2-3F37-9201-C050-35C8C663A4F7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What did I do?</a:t>
            </a:r>
          </a:p>
        </p:txBody>
      </p:sp>
      <p:sp>
        <p:nvSpPr>
          <p:cNvPr id="16" name="Text Placeholder 1">
            <a:extLst>
              <a:ext uri="{FF2B5EF4-FFF2-40B4-BE49-F238E27FC236}">
                <a16:creationId xmlns:a16="http://schemas.microsoft.com/office/drawing/2014/main" id="{4933E20B-BB1C-95A6-267B-BCA6EEE361A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0325" y="707816"/>
            <a:ext cx="8218099" cy="3986866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Clr>
                <a:srgbClr val="9E3611"/>
              </a:buClr>
            </a:pPr>
            <a:r>
              <a:rPr lang="en-US" sz="2000" b="0" dirty="0"/>
              <a:t>Enhance Image Registration (IR) (</a:t>
            </a:r>
            <a:r>
              <a:rPr lang="en-US" sz="2000" b="0" dirty="0" err="1"/>
              <a:t>SimpleITK</a:t>
            </a:r>
            <a:r>
              <a:rPr lang="en-US" sz="2000" b="0" dirty="0"/>
              <a:t>, rigid transform, only 2D so far!)</a:t>
            </a:r>
          </a:p>
          <a:p>
            <a:pPr lvl="1">
              <a:buClr>
                <a:srgbClr val="9E3611"/>
              </a:buClr>
            </a:pPr>
            <a:r>
              <a:rPr lang="en-US" sz="1850" b="0" dirty="0"/>
              <a:t>Metrics, optimizers, techniques, parameters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Evaluate IR on TUSREC24 </a:t>
            </a:r>
            <a:r>
              <a:rPr lang="en-US" sz="2000" b="0" dirty="0">
                <a:ea typeface="游ゴシック Medium"/>
                <a:cs typeface="Times New Roman"/>
              </a:rPr>
              <a:t>validation data set </a:t>
            </a:r>
            <a:r>
              <a:rPr lang="en-US" sz="2000" b="0" dirty="0"/>
              <a:t>(72 scans, no application to PGO here yet): Find frame poses only using IR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>
              <a:buClr>
                <a:srgbClr val="9E3611"/>
              </a:buClr>
            </a:pPr>
            <a:r>
              <a:rPr lang="en-US" sz="2000" b="0" dirty="0"/>
              <a:t>Writing Master Thesis</a:t>
            </a:r>
          </a:p>
        </p:txBody>
      </p:sp>
      <p:sp>
        <p:nvSpPr>
          <p:cNvPr id="2" name="Slide Number Placeholder 2">
            <a:extLst>
              <a:ext uri="{FF2B5EF4-FFF2-40B4-BE49-F238E27FC236}">
                <a16:creationId xmlns:a16="http://schemas.microsoft.com/office/drawing/2014/main" id="{463EE220-6A3A-B3F0-3A80-F744F7697689}"/>
              </a:ext>
            </a:extLst>
          </p:cNvPr>
          <p:cNvSpPr txBox="1">
            <a:spLocks/>
          </p:cNvSpPr>
          <p:nvPr/>
        </p:nvSpPr>
        <p:spPr>
          <a:xfrm>
            <a:off x="8483346" y="4704588"/>
            <a:ext cx="480060" cy="2738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050" b="1" kern="1200">
                <a:solidFill>
                  <a:srgbClr val="FFFFFF"/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475F232-FFFE-5E6C-5554-2F165DAD28C0}" type="slidenum">
              <a:rPr lang="en-JP" smtClean="0"/>
              <a:pPr/>
              <a:t>2</a:t>
            </a:fld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32790217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8C2B53-B5F2-A1E3-3EBB-B5867E5D2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BA6F34E-01EF-6142-08CA-DF02143894C2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Image Registration: Basics</a:t>
            </a:r>
          </a:p>
        </p:txBody>
      </p:sp>
      <p:sp>
        <p:nvSpPr>
          <p:cNvPr id="16" name="Text Placeholder 1">
            <a:extLst>
              <a:ext uri="{FF2B5EF4-FFF2-40B4-BE49-F238E27FC236}">
                <a16:creationId xmlns:a16="http://schemas.microsoft.com/office/drawing/2014/main" id="{6D7C7229-3472-4A02-4A8E-E5E32A9ABFBC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0325" y="707816"/>
            <a:ext cx="8218099" cy="398686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C6C9760-3356-4A61-D00B-8C2E67448ABF}"/>
              </a:ext>
            </a:extLst>
          </p:cNvPr>
          <p:cNvSpPr txBox="1">
            <a:spLocks/>
          </p:cNvSpPr>
          <p:nvPr/>
        </p:nvSpPr>
        <p:spPr>
          <a:xfrm>
            <a:off x="323528" y="707816"/>
            <a:ext cx="8218099" cy="4305013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2EDAF894-32A7-5310-7C54-33EE09373E6C}"/>
              </a:ext>
            </a:extLst>
          </p:cNvPr>
          <p:cNvSpPr txBox="1">
            <a:spLocks/>
          </p:cNvSpPr>
          <p:nvPr/>
        </p:nvSpPr>
        <p:spPr>
          <a:xfrm>
            <a:off x="8483346" y="4704588"/>
            <a:ext cx="480060" cy="2738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050" b="1" kern="1200">
                <a:solidFill>
                  <a:srgbClr val="FFFFFF"/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475F232-FFFE-5E6C-5554-2F165DAD28C0}" type="slidenum">
              <a:rPr lang="en-JP" smtClean="0"/>
              <a:pPr/>
              <a:t>3</a:t>
            </a:fld>
            <a:endParaRPr lang="en-JP" dirty="0"/>
          </a:p>
        </p:txBody>
      </p:sp>
      <p:sp>
        <p:nvSpPr>
          <p:cNvPr id="2" name="Slide Number Placeholder 2">
            <a:extLst>
              <a:ext uri="{FF2B5EF4-FFF2-40B4-BE49-F238E27FC236}">
                <a16:creationId xmlns:a16="http://schemas.microsoft.com/office/drawing/2014/main" id="{81723FDE-40A9-C37B-C89E-1E3A3184345D}"/>
              </a:ext>
            </a:extLst>
          </p:cNvPr>
          <p:cNvSpPr>
            <a:spLocks noGrp="1"/>
          </p:cNvSpPr>
          <p:nvPr>
            <p:ph type="sldNum" idx="1"/>
          </p:nvPr>
        </p:nvSpPr>
        <p:spPr>
          <a:xfrm>
            <a:off x="8483346" y="4704588"/>
            <a:ext cx="480060" cy="273844"/>
          </a:xfrm>
        </p:spPr>
        <p:txBody>
          <a:bodyPr/>
          <a:lstStyle/>
          <a:p>
            <a:fld id="{7475F232-FFFE-5E6C-5554-2F165DAD28C0}" type="slidenum">
              <a:rPr lang="en-JP" smtClean="0"/>
              <a:t>3</a:t>
            </a:fld>
            <a:endParaRPr lang="en-JP" dirty="0"/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88E20572-F08F-1BD2-CC05-0C0DC7518880}"/>
              </a:ext>
            </a:extLst>
          </p:cNvPr>
          <p:cNvSpPr txBox="1">
            <a:spLocks/>
          </p:cNvSpPr>
          <p:nvPr/>
        </p:nvSpPr>
        <p:spPr>
          <a:xfrm>
            <a:off x="251520" y="774789"/>
            <a:ext cx="8640960" cy="243457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Find transform which makes one image align with another</a:t>
            </a:r>
          </a:p>
          <a:p>
            <a:pPr>
              <a:buClr>
                <a:srgbClr val="9E3611"/>
              </a:buClr>
            </a:pPr>
            <a:endParaRPr lang="en-US" sz="2000" b="0" dirty="0">
              <a:ea typeface="游ゴシック Medium"/>
              <a:cs typeface="Times New Roman"/>
            </a:endParaRPr>
          </a:p>
          <a:p>
            <a:pPr>
              <a:buClr>
                <a:srgbClr val="9E3611"/>
              </a:buClr>
            </a:pPr>
            <a:endParaRPr lang="en-US" sz="2000" b="0" dirty="0">
              <a:ea typeface="游ゴシック Medium"/>
              <a:cs typeface="Times New Roman"/>
            </a:endParaRPr>
          </a:p>
          <a:p>
            <a:pPr>
              <a:buClr>
                <a:srgbClr val="9E3611"/>
              </a:buClr>
            </a:pPr>
            <a:endParaRPr lang="en-US" sz="2000" b="0" dirty="0">
              <a:ea typeface="游ゴシック Medium"/>
              <a:cs typeface="Times New Roman"/>
            </a:endParaRPr>
          </a:p>
          <a:p>
            <a:pPr>
              <a:buClr>
                <a:srgbClr val="9E3611"/>
              </a:buClr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  <p:pic>
        <p:nvPicPr>
          <p:cNvPr id="8" name="Picture 6" descr="Basic example of an image registration procedure. F is the target image, M is the image to be registered, and R′ is the registered image. ">
            <a:extLst>
              <a:ext uri="{FF2B5EF4-FFF2-40B4-BE49-F238E27FC236}">
                <a16:creationId xmlns:a16="http://schemas.microsoft.com/office/drawing/2014/main" id="{C2E2E3ED-A985-C5A8-61B0-404F15D45B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7877" y="1302362"/>
            <a:ext cx="5128245" cy="13574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EC78DC5-E40D-7F52-6C67-A948B9DB2666}"/>
              </a:ext>
            </a:extLst>
          </p:cNvPr>
          <p:cNvSpPr txBox="1"/>
          <p:nvPr/>
        </p:nvSpPr>
        <p:spPr>
          <a:xfrm>
            <a:off x="1247594" y="2798217"/>
            <a:ext cx="6648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游ゴシック Medium" panose="020B0500000000000000" pitchFamily="50" charset="-128"/>
              </a:rPr>
              <a:t>Source: https://www.researchgate.net/figure/Basic-example-of-an-image-registration-procedure-F-is-the-target-image-M-is-the-image_fig4_320212021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541FDF-9AC0-DA11-97E8-23BE9D68CA20}"/>
              </a:ext>
            </a:extLst>
          </p:cNvPr>
          <p:cNvSpPr txBox="1"/>
          <p:nvPr/>
        </p:nvSpPr>
        <p:spPr>
          <a:xfrm>
            <a:off x="323528" y="3507854"/>
            <a:ext cx="32031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游ゴシック Medium" panose="020B0500000000000000" pitchFamily="50" charset="-128"/>
              </a:rPr>
              <a:t>F: fixed, M: moving</a:t>
            </a:r>
          </a:p>
          <a:p>
            <a:r>
              <a:rPr lang="en-US" sz="2000" dirty="0">
                <a:solidFill>
                  <a:schemeClr val="accent1"/>
                </a:solidFill>
                <a:latin typeface="游ゴシック Medium" panose="020B0500000000000000" pitchFamily="50" charset="-128"/>
              </a:rPr>
              <a:t>➔ </a:t>
            </a:r>
            <a:r>
              <a:rPr lang="en-US" sz="2000" dirty="0" err="1">
                <a:latin typeface="游ゴシック Medium" panose="020B0500000000000000" pitchFamily="50" charset="-128"/>
              </a:rPr>
              <a:t>SimpleITK</a:t>
            </a:r>
            <a:r>
              <a:rPr lang="en-US" sz="2000" dirty="0">
                <a:latin typeface="游ゴシック Medium" panose="020B0500000000000000" pitchFamily="50" charset="-128"/>
              </a:rPr>
              <a:t>: Finds T</a:t>
            </a:r>
            <a:r>
              <a:rPr lang="en-US" sz="2000" baseline="-25000" dirty="0">
                <a:latin typeface="游ゴシック Medium" panose="020B0500000000000000" pitchFamily="50" charset="-128"/>
              </a:rPr>
              <a:t>M➔F</a:t>
            </a:r>
          </a:p>
        </p:txBody>
      </p:sp>
    </p:spTree>
    <p:extLst>
      <p:ext uri="{BB962C8B-B14F-4D97-AF65-F5344CB8AC3E}">
        <p14:creationId xmlns:p14="http://schemas.microsoft.com/office/powerpoint/2010/main" val="27573162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B4A2B-423D-99A8-D915-BE58B73D5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99BED0A-C42D-E113-00DA-FE9CC602D1CA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Image Registration: Combination of transforms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732A2463-26B6-52EF-00F5-AE43100F6426}"/>
              </a:ext>
            </a:extLst>
          </p:cNvPr>
          <p:cNvSpPr txBox="1">
            <a:spLocks/>
          </p:cNvSpPr>
          <p:nvPr/>
        </p:nvSpPr>
        <p:spPr>
          <a:xfrm>
            <a:off x="8483346" y="4704588"/>
            <a:ext cx="480060" cy="2738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050" b="1" kern="1200">
                <a:solidFill>
                  <a:srgbClr val="FFFFFF"/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475F232-FFFE-5E6C-5554-2F165DAD28C0}" type="slidenum">
              <a:rPr lang="en-JP" smtClean="0"/>
              <a:pPr/>
              <a:t>4</a:t>
            </a:fld>
            <a:endParaRPr lang="en-JP" dirty="0"/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F513FA28-6BE8-0A43-8E1A-A0633AAD6525}"/>
              </a:ext>
            </a:extLst>
          </p:cNvPr>
          <p:cNvSpPr txBox="1">
            <a:spLocks/>
          </p:cNvSpPr>
          <p:nvPr/>
        </p:nvSpPr>
        <p:spPr>
          <a:xfrm>
            <a:off x="323528" y="784016"/>
            <a:ext cx="8218099" cy="3986866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rm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b="0" dirty="0"/>
              <a:t>	IR works in 2D and gives 3DoF transforms (x, y, yaw)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/>
              <a:t>	Volume reconstruction works in 3D and needs 6DoF 	transforms (x, y, z, pitch, yaw, roll)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➔ Combine 2D IR pose and 3D </a:t>
            </a:r>
            <a:r>
              <a:rPr lang="en-US" sz="2000" dirty="0" err="1"/>
              <a:t>DualTrack</a:t>
            </a:r>
            <a:r>
              <a:rPr lang="en-US" sz="2000" dirty="0"/>
              <a:t> pose: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/>
              <a:t>     IR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 err="1"/>
              <a:t>DualTrack</a:t>
            </a:r>
            <a:endParaRPr lang="en-US" sz="2000" b="0" dirty="0"/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339B2C2E-02C6-FBC6-F4E0-D451018F62FA}"/>
              </a:ext>
            </a:extLst>
          </p:cNvPr>
          <p:cNvSpPr txBox="1">
            <a:spLocks/>
          </p:cNvSpPr>
          <p:nvPr/>
        </p:nvSpPr>
        <p:spPr>
          <a:xfrm>
            <a:off x="8635746" y="4856988"/>
            <a:ext cx="480060" cy="2738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050" b="1" kern="1200">
                <a:solidFill>
                  <a:srgbClr val="FFFFFF"/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475F232-FFFE-5E6C-5554-2F165DAD28C0}" type="slidenum">
              <a:rPr lang="en-JP" smtClean="0"/>
              <a:pPr/>
              <a:t>4</a:t>
            </a:fld>
            <a:endParaRPr lang="en-JP" dirty="0"/>
          </a:p>
        </p:txBody>
      </p:sp>
      <p:sp>
        <p:nvSpPr>
          <p:cNvPr id="8" name="Flowchart: Extract 7">
            <a:extLst>
              <a:ext uri="{FF2B5EF4-FFF2-40B4-BE49-F238E27FC236}">
                <a16:creationId xmlns:a16="http://schemas.microsoft.com/office/drawing/2014/main" id="{EB13424F-58B9-7F73-E2A1-2ECDB187D47E}"/>
              </a:ext>
            </a:extLst>
          </p:cNvPr>
          <p:cNvSpPr/>
          <p:nvPr/>
        </p:nvSpPr>
        <p:spPr>
          <a:xfrm>
            <a:off x="331603" y="913897"/>
            <a:ext cx="571138" cy="429556"/>
          </a:xfrm>
          <a:prstGeom prst="flowChartExtra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游ゴシック Medium" panose="020B0500000000000000" pitchFamily="50" charset="-128"/>
            </a:endParaRP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BC6CB093-EAB5-BE9B-F7ED-8248CC402F49}"/>
              </a:ext>
            </a:extLst>
          </p:cNvPr>
          <p:cNvSpPr txBox="1">
            <a:spLocks/>
          </p:cNvSpPr>
          <p:nvPr/>
        </p:nvSpPr>
        <p:spPr>
          <a:xfrm>
            <a:off x="473156" y="987574"/>
            <a:ext cx="288031" cy="304056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9E3611"/>
              </a:buClr>
              <a:buNone/>
            </a:pPr>
            <a:r>
              <a:rPr lang="en-US" sz="2000" b="0" dirty="0">
                <a:solidFill>
                  <a:schemeClr val="bg1"/>
                </a:solidFill>
                <a:ea typeface="游ゴシック Medium"/>
                <a:cs typeface="Times New Roman"/>
              </a:rPr>
              <a:t>!</a:t>
            </a:r>
          </a:p>
          <a:p>
            <a:pPr marL="0" indent="0" algn="ctr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5D34E499-B241-1F55-648A-4072000A71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2711522"/>
              </p:ext>
            </p:extLst>
          </p:nvPr>
        </p:nvGraphicFramePr>
        <p:xfrm>
          <a:off x="5580112" y="3219822"/>
          <a:ext cx="2016224" cy="124582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04056">
                  <a:extLst>
                    <a:ext uri="{9D8B030D-6E8A-4147-A177-3AD203B41FA5}">
                      <a16:colId xmlns:a16="http://schemas.microsoft.com/office/drawing/2014/main" val="711512698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587830547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460594816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112462374"/>
                    </a:ext>
                  </a:extLst>
                </a:gridCol>
              </a:tblGrid>
              <a:tr h="298344">
                <a:tc>
                  <a:txBody>
                    <a:bodyPr/>
                    <a:lstStyle/>
                    <a:p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t</a:t>
                      </a:r>
                      <a:r>
                        <a:rPr lang="en-US" baseline="-25000" dirty="0" err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x</a:t>
                      </a:r>
                      <a:endParaRPr lang="en-US" baseline="-2500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1760287"/>
                  </a:ext>
                </a:extLst>
              </a:tr>
              <a:tr h="350790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t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4909197"/>
                  </a:ext>
                </a:extLst>
              </a:tr>
              <a:tr h="298344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t</a:t>
                      </a:r>
                      <a:r>
                        <a:rPr lang="en-US" baseline="-25000" dirty="0" err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z</a:t>
                      </a:r>
                      <a:endParaRPr lang="en-US" baseline="-2500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2223675"/>
                  </a:ext>
                </a:extLst>
              </a:tr>
              <a:tr h="298344">
                <a:tc>
                  <a:txBody>
                    <a:bodyPr/>
                    <a:lstStyle/>
                    <a:p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0017317"/>
                  </a:ext>
                </a:extLst>
              </a:tr>
            </a:tbl>
          </a:graphicData>
        </a:graphic>
      </p:graphicFrame>
      <p:sp>
        <p:nvSpPr>
          <p:cNvPr id="13" name="Left Bracket 12">
            <a:extLst>
              <a:ext uri="{FF2B5EF4-FFF2-40B4-BE49-F238E27FC236}">
                <a16:creationId xmlns:a16="http://schemas.microsoft.com/office/drawing/2014/main" id="{5E1FC24A-9E7F-EDA6-5D82-7877689F2D55}"/>
              </a:ext>
            </a:extLst>
          </p:cNvPr>
          <p:cNvSpPr/>
          <p:nvPr/>
        </p:nvSpPr>
        <p:spPr>
          <a:xfrm>
            <a:off x="5423920" y="3170943"/>
            <a:ext cx="240909" cy="1403872"/>
          </a:xfrm>
          <a:prstGeom prst="leftBracket">
            <a:avLst>
              <a:gd name="adj" fmla="val 11202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6D7F319D-AD1F-B275-15D6-99C425155390}"/>
              </a:ext>
            </a:extLst>
          </p:cNvPr>
          <p:cNvSpPr/>
          <p:nvPr/>
        </p:nvSpPr>
        <p:spPr>
          <a:xfrm rot="10800000">
            <a:off x="7289541" y="3170943"/>
            <a:ext cx="240909" cy="1403872"/>
          </a:xfrm>
          <a:prstGeom prst="leftBracket">
            <a:avLst>
              <a:gd name="adj" fmla="val 11202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3D618D0D-FC9F-EF70-28D4-3346B0670C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7258353"/>
              </p:ext>
            </p:extLst>
          </p:nvPr>
        </p:nvGraphicFramePr>
        <p:xfrm>
          <a:off x="2048272" y="2331635"/>
          <a:ext cx="1446281" cy="102755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38170">
                  <a:extLst>
                    <a:ext uri="{9D8B030D-6E8A-4147-A177-3AD203B41FA5}">
                      <a16:colId xmlns:a16="http://schemas.microsoft.com/office/drawing/2014/main" val="711512698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587830547"/>
                    </a:ext>
                  </a:extLst>
                </a:gridCol>
                <a:gridCol w="504055">
                  <a:extLst>
                    <a:ext uri="{9D8B030D-6E8A-4147-A177-3AD203B41FA5}">
                      <a16:colId xmlns:a16="http://schemas.microsoft.com/office/drawing/2014/main" val="2460594816"/>
                    </a:ext>
                  </a:extLst>
                </a:gridCol>
              </a:tblGrid>
              <a:tr h="365186">
                <a:tc>
                  <a:txBody>
                    <a:bodyPr/>
                    <a:lstStyle/>
                    <a:p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t</a:t>
                      </a:r>
                      <a:r>
                        <a:rPr lang="en-US" baseline="-25000" dirty="0" err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x</a:t>
                      </a:r>
                      <a:endParaRPr lang="en-US" baseline="-2500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1760287"/>
                  </a:ext>
                </a:extLst>
              </a:tr>
              <a:tr h="365186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t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4909197"/>
                  </a:ext>
                </a:extLst>
              </a:tr>
              <a:tr h="280912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  <a:endParaRPr lang="en-US" baseline="-2500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  <a:endParaRPr lang="en-US" baseline="-2500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</a:t>
                      </a:r>
                      <a:endParaRPr lang="en-US" baseline="-2500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2223675"/>
                  </a:ext>
                </a:extLst>
              </a:tr>
            </a:tbl>
          </a:graphicData>
        </a:graphic>
      </p:graphicFrame>
      <p:sp>
        <p:nvSpPr>
          <p:cNvPr id="17" name="Left Bracket 16">
            <a:extLst>
              <a:ext uri="{FF2B5EF4-FFF2-40B4-BE49-F238E27FC236}">
                <a16:creationId xmlns:a16="http://schemas.microsoft.com/office/drawing/2014/main" id="{E52893EF-A2D2-0FFD-851E-BEBE650DCA30}"/>
              </a:ext>
            </a:extLst>
          </p:cNvPr>
          <p:cNvSpPr/>
          <p:nvPr/>
        </p:nvSpPr>
        <p:spPr>
          <a:xfrm>
            <a:off x="1892080" y="2282756"/>
            <a:ext cx="240909" cy="1076431"/>
          </a:xfrm>
          <a:prstGeom prst="leftBracket">
            <a:avLst>
              <a:gd name="adj" fmla="val 11202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778F082A-8556-DF6E-C222-266A03334E45}"/>
              </a:ext>
            </a:extLst>
          </p:cNvPr>
          <p:cNvSpPr/>
          <p:nvPr/>
        </p:nvSpPr>
        <p:spPr>
          <a:xfrm rot="10800000">
            <a:off x="3194579" y="2298454"/>
            <a:ext cx="240909" cy="1076431"/>
          </a:xfrm>
          <a:prstGeom prst="leftBracket">
            <a:avLst>
              <a:gd name="adj" fmla="val 11202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4C8867A3-4A2D-0614-7B06-1ABBD3BC12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0011891"/>
              </p:ext>
            </p:extLst>
          </p:nvPr>
        </p:nvGraphicFramePr>
        <p:xfrm>
          <a:off x="2051720" y="3611166"/>
          <a:ext cx="2016224" cy="124582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04056">
                  <a:extLst>
                    <a:ext uri="{9D8B030D-6E8A-4147-A177-3AD203B41FA5}">
                      <a16:colId xmlns:a16="http://schemas.microsoft.com/office/drawing/2014/main" val="711512698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587830547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460594816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112462374"/>
                    </a:ext>
                  </a:extLst>
                </a:gridCol>
              </a:tblGrid>
              <a:tr h="298344">
                <a:tc>
                  <a:txBody>
                    <a:bodyPr/>
                    <a:lstStyle/>
                    <a:p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t</a:t>
                      </a:r>
                      <a:r>
                        <a:rPr lang="en-US" baseline="-25000" dirty="0" err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x</a:t>
                      </a:r>
                      <a:endParaRPr lang="en-US" baseline="-2500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1760287"/>
                  </a:ext>
                </a:extLst>
              </a:tr>
              <a:tr h="350790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t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4909197"/>
                  </a:ext>
                </a:extLst>
              </a:tr>
              <a:tr h="298344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t</a:t>
                      </a:r>
                      <a:r>
                        <a:rPr lang="en-US" baseline="-25000" dirty="0" err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z</a:t>
                      </a:r>
                      <a:endParaRPr lang="en-US" baseline="-2500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2223675"/>
                  </a:ext>
                </a:extLst>
              </a:tr>
              <a:tr h="298344">
                <a:tc>
                  <a:txBody>
                    <a:bodyPr/>
                    <a:lstStyle/>
                    <a:p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0017317"/>
                  </a:ext>
                </a:extLst>
              </a:tr>
            </a:tbl>
          </a:graphicData>
        </a:graphic>
      </p:graphicFrame>
      <p:sp>
        <p:nvSpPr>
          <p:cNvPr id="20" name="Left Bracket 19">
            <a:extLst>
              <a:ext uri="{FF2B5EF4-FFF2-40B4-BE49-F238E27FC236}">
                <a16:creationId xmlns:a16="http://schemas.microsoft.com/office/drawing/2014/main" id="{48AF3A2D-5335-D4AE-A70C-EAF89F8E30E3}"/>
              </a:ext>
            </a:extLst>
          </p:cNvPr>
          <p:cNvSpPr/>
          <p:nvPr/>
        </p:nvSpPr>
        <p:spPr>
          <a:xfrm>
            <a:off x="1895528" y="3562287"/>
            <a:ext cx="240909" cy="1403872"/>
          </a:xfrm>
          <a:prstGeom prst="leftBracket">
            <a:avLst>
              <a:gd name="adj" fmla="val 11202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Left Bracket 20">
            <a:extLst>
              <a:ext uri="{FF2B5EF4-FFF2-40B4-BE49-F238E27FC236}">
                <a16:creationId xmlns:a16="http://schemas.microsoft.com/office/drawing/2014/main" id="{B5065C06-BDAF-78F4-C716-A2074C1BAE9C}"/>
              </a:ext>
            </a:extLst>
          </p:cNvPr>
          <p:cNvSpPr/>
          <p:nvPr/>
        </p:nvSpPr>
        <p:spPr>
          <a:xfrm rot="10800000">
            <a:off x="3761149" y="3562287"/>
            <a:ext cx="240909" cy="1403872"/>
          </a:xfrm>
          <a:prstGeom prst="leftBracket">
            <a:avLst>
              <a:gd name="adj" fmla="val 11202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8824662-9373-A6A5-2531-A196D3A25EC0}"/>
              </a:ext>
            </a:extLst>
          </p:cNvPr>
          <p:cNvCxnSpPr/>
          <p:nvPr/>
        </p:nvCxnSpPr>
        <p:spPr>
          <a:xfrm>
            <a:off x="3707904" y="2643758"/>
            <a:ext cx="1584176" cy="5760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6C98F4E0-F740-C9E6-5232-CED0E97F7935}"/>
              </a:ext>
            </a:extLst>
          </p:cNvPr>
          <p:cNvSpPr txBox="1"/>
          <p:nvPr/>
        </p:nvSpPr>
        <p:spPr>
          <a:xfrm>
            <a:off x="4160273" y="2446767"/>
            <a:ext cx="1051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x, y, yaw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6C3470C-5905-420B-5946-61AFE79ED05A}"/>
              </a:ext>
            </a:extLst>
          </p:cNvPr>
          <p:cNvCxnSpPr/>
          <p:nvPr/>
        </p:nvCxnSpPr>
        <p:spPr>
          <a:xfrm flipV="1">
            <a:off x="4247964" y="4234077"/>
            <a:ext cx="963879" cy="301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A214CE6-C016-CC8D-DEF8-51A7C19AB17F}"/>
              </a:ext>
            </a:extLst>
          </p:cNvPr>
          <p:cNvSpPr txBox="1"/>
          <p:nvPr/>
        </p:nvSpPr>
        <p:spPr>
          <a:xfrm>
            <a:off x="4017766" y="3779266"/>
            <a:ext cx="13904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z, pitch, roll</a:t>
            </a:r>
          </a:p>
        </p:txBody>
      </p:sp>
    </p:spTree>
    <p:extLst>
      <p:ext uri="{BB962C8B-B14F-4D97-AF65-F5344CB8AC3E}">
        <p14:creationId xmlns:p14="http://schemas.microsoft.com/office/powerpoint/2010/main" val="39374314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7B051-0EF6-8F7B-56A4-C014AFF65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3B2CB50-C8A5-0856-D78D-E98286EBC0A2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Image Registration: </a:t>
            </a:r>
            <a:r>
              <a:rPr lang="en-US" sz="2400" dirty="0" err="1">
                <a:ea typeface="游ゴシック Medium"/>
                <a:cs typeface="Times New Roman"/>
              </a:rPr>
              <a:t>SimpleITK</a:t>
            </a:r>
            <a:endParaRPr lang="en-US" sz="2400" dirty="0">
              <a:ea typeface="游ゴシック Medium"/>
              <a:cs typeface="Times New Roman"/>
            </a:endParaRP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8E78D97E-74FD-2C66-7EBF-94EB233ED3EB}"/>
              </a:ext>
            </a:extLst>
          </p:cNvPr>
          <p:cNvSpPr txBox="1">
            <a:spLocks/>
          </p:cNvSpPr>
          <p:nvPr/>
        </p:nvSpPr>
        <p:spPr>
          <a:xfrm>
            <a:off x="323528" y="707816"/>
            <a:ext cx="8218099" cy="4305013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ea typeface="游ゴシック Medium"/>
                <a:cs typeface="Times New Roman"/>
              </a:rPr>
              <a:t>What works best so far (</a:t>
            </a:r>
            <a:r>
              <a:rPr lang="en-US" sz="2000" dirty="0" err="1">
                <a:ea typeface="游ゴシック Medium"/>
                <a:cs typeface="Times New Roman"/>
              </a:rPr>
              <a:t>SimpleITK</a:t>
            </a:r>
            <a:r>
              <a:rPr lang="en-US" sz="2000" dirty="0">
                <a:ea typeface="游ゴシック Medium"/>
                <a:cs typeface="Times New Roman"/>
              </a:rPr>
              <a:t>):</a:t>
            </a:r>
          </a:p>
          <a:p>
            <a:pPr>
              <a:buClr>
                <a:srgbClr val="9E3611"/>
              </a:buClr>
            </a:pPr>
            <a:r>
              <a:rPr lang="en-US" sz="2000" b="0" dirty="0">
                <a:solidFill>
                  <a:schemeClr val="tx1"/>
                </a:solidFill>
                <a:ea typeface="游ゴシック Medium"/>
                <a:cs typeface="Times New Roman"/>
              </a:rPr>
              <a:t>Metric</a:t>
            </a:r>
            <a:r>
              <a:rPr lang="en-US" sz="2000" b="0" dirty="0">
                <a:ea typeface="游ゴシック Medium"/>
                <a:cs typeface="Times New Roman"/>
              </a:rPr>
              <a:t>: Mattes Mutual Information</a:t>
            </a:r>
          </a:p>
          <a:p>
            <a:pPr lvl="1">
              <a:buClr>
                <a:srgbClr val="9E3611"/>
              </a:buClr>
            </a:pPr>
            <a:r>
              <a:rPr lang="en-US" sz="1850" b="0" dirty="0">
                <a:solidFill>
                  <a:schemeClr val="tx1"/>
                </a:solidFill>
                <a:ea typeface="游ゴシック Medium"/>
                <a:cs typeface="Times New Roman"/>
              </a:rPr>
              <a:t>Maximize information between fixed and moving image</a:t>
            </a:r>
          </a:p>
          <a:p>
            <a:pPr lvl="1">
              <a:buClr>
                <a:srgbClr val="9E3611"/>
              </a:buClr>
            </a:pPr>
            <a:r>
              <a:rPr lang="en-US" sz="1850" b="0" dirty="0">
                <a:ea typeface="游ゴシック Medium"/>
                <a:cs typeface="Times New Roman"/>
              </a:rPr>
              <a:t>Compute fixed, moving and joint PDFs over set of intensity bins, compute MI by summing over bins</a:t>
            </a:r>
          </a:p>
          <a:p>
            <a:pPr lvl="1">
              <a:buClr>
                <a:srgbClr val="9E3611"/>
              </a:buClr>
            </a:pPr>
            <a:r>
              <a:rPr lang="en-US" sz="1850" b="0" dirty="0">
                <a:ea typeface="游ゴシック Medium"/>
                <a:cs typeface="Times New Roman"/>
              </a:rPr>
              <a:t>50 histogram bins</a:t>
            </a:r>
          </a:p>
          <a:p>
            <a:pPr marL="205740" lvl="1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  <a:p>
            <a:pPr>
              <a:buClr>
                <a:srgbClr val="9E3611"/>
              </a:buClr>
            </a:pPr>
            <a:r>
              <a:rPr lang="en-US" sz="2000" b="0" dirty="0">
                <a:ea typeface="游ゴシック Medium"/>
                <a:cs typeface="Times New Roman"/>
              </a:rPr>
              <a:t>Optimizer: Gradient Descent</a:t>
            </a:r>
          </a:p>
          <a:p>
            <a:pPr lvl="1">
              <a:buClr>
                <a:srgbClr val="9E3611"/>
              </a:buClr>
            </a:pPr>
            <a:r>
              <a:rPr lang="en-US" sz="1850" b="0" dirty="0">
                <a:ea typeface="游ゴシック Medium"/>
                <a:cs typeface="Times New Roman"/>
              </a:rPr>
              <a:t>Init with pose estimation from </a:t>
            </a:r>
            <a:r>
              <a:rPr lang="en-US" sz="1850" b="0" dirty="0" err="1">
                <a:ea typeface="游ゴシック Medium"/>
                <a:cs typeface="Times New Roman"/>
              </a:rPr>
              <a:t>DualTrack</a:t>
            </a:r>
            <a:r>
              <a:rPr lang="en-US" sz="1850" b="0" dirty="0">
                <a:ea typeface="游ゴシック Medium"/>
                <a:cs typeface="Times New Roman"/>
              </a:rPr>
              <a:t> (</a:t>
            </a:r>
            <a:r>
              <a:rPr lang="en-US" sz="1850" b="0" dirty="0" err="1">
                <a:ea typeface="游ゴシック Medium"/>
                <a:cs typeface="Times New Roman"/>
              </a:rPr>
              <a:t>init</a:t>
            </a:r>
            <a:r>
              <a:rPr lang="en-US" sz="1850" b="0" dirty="0">
                <a:ea typeface="游ゴシック Medium"/>
                <a:cs typeface="Times New Roman"/>
              </a:rPr>
              <a:t> with identity works almost equally well)</a:t>
            </a:r>
          </a:p>
          <a:p>
            <a:pPr lvl="1">
              <a:buClr>
                <a:srgbClr val="9E3611"/>
              </a:buClr>
            </a:pPr>
            <a:r>
              <a:rPr lang="en-US" sz="1850" b="0" dirty="0">
                <a:ea typeface="游ゴシック Medium"/>
                <a:cs typeface="Times New Roman"/>
              </a:rPr>
              <a:t>Learning rate 0.1, min. change </a:t>
            </a:r>
            <a:r>
              <a:rPr lang="en-US" sz="1850" b="0" dirty="0"/>
              <a:t>1e-4</a:t>
            </a:r>
            <a:r>
              <a:rPr lang="en-US" b="0" dirty="0"/>
              <a:t>, </a:t>
            </a:r>
            <a:r>
              <a:rPr lang="en-US" sz="1850" b="0" dirty="0">
                <a:ea typeface="游ゴシック Medium"/>
                <a:cs typeface="Times New Roman"/>
              </a:rPr>
              <a:t>200 max. iterations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0AB01D8D-8608-E5C2-BC25-E92EDC8B4C75}"/>
              </a:ext>
            </a:extLst>
          </p:cNvPr>
          <p:cNvSpPr txBox="1">
            <a:spLocks/>
          </p:cNvSpPr>
          <p:nvPr/>
        </p:nvSpPr>
        <p:spPr>
          <a:xfrm>
            <a:off x="8483346" y="4704588"/>
            <a:ext cx="480060" cy="2738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050" b="1" kern="1200">
                <a:solidFill>
                  <a:srgbClr val="FFFFFF"/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475F232-FFFE-5E6C-5554-2F165DAD28C0}" type="slidenum">
              <a:rPr lang="en-JP" smtClean="0"/>
              <a:pPr/>
              <a:t>5</a:t>
            </a:fld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14113818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F228E-1387-9C16-9C77-F6845F89E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FEB8BAA-5FED-BB5C-D4EC-7ACEF895C392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Image Registration: Results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AAD4E245-0B4A-62C8-531E-BD4BEE7AE257}"/>
              </a:ext>
            </a:extLst>
          </p:cNvPr>
          <p:cNvSpPr txBox="1">
            <a:spLocks/>
          </p:cNvSpPr>
          <p:nvPr/>
        </p:nvSpPr>
        <p:spPr>
          <a:xfrm>
            <a:off x="8483346" y="4704588"/>
            <a:ext cx="480060" cy="2738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050" b="1" kern="1200">
                <a:solidFill>
                  <a:srgbClr val="FFFFFF"/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475F232-FFFE-5E6C-5554-2F165DAD28C0}" type="slidenum">
              <a:rPr lang="en-JP" smtClean="0"/>
              <a:pPr/>
              <a:t>6</a:t>
            </a:fld>
            <a:endParaRPr lang="en-JP" dirty="0"/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92757092-DA6E-3B0D-9EFA-3A6B70CF4FEF}"/>
              </a:ext>
            </a:extLst>
          </p:cNvPr>
          <p:cNvSpPr txBox="1">
            <a:spLocks/>
          </p:cNvSpPr>
          <p:nvPr/>
        </p:nvSpPr>
        <p:spPr>
          <a:xfrm>
            <a:off x="323528" y="707816"/>
            <a:ext cx="8218099" cy="4305013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ea typeface="游ゴシック Medium"/>
                <a:cs typeface="Times New Roman"/>
              </a:rPr>
              <a:t>TUSREC24 validation data set, 72 scans</a:t>
            </a:r>
          </a:p>
          <a:p>
            <a:pPr>
              <a:buClr>
                <a:srgbClr val="9E3611"/>
              </a:buClr>
            </a:pPr>
            <a:r>
              <a:rPr lang="en-US" sz="2000" b="0" dirty="0">
                <a:ea typeface="游ゴシック Medium"/>
                <a:cs typeface="Times New Roman"/>
              </a:rPr>
              <a:t>DualTrack24: FDR 5.1%, GPE 4.9mm</a:t>
            </a:r>
          </a:p>
          <a:p>
            <a:pPr>
              <a:buClr>
                <a:srgbClr val="9E3611"/>
              </a:buClr>
            </a:pPr>
            <a:r>
              <a:rPr lang="en-US" sz="2000" b="0" dirty="0">
                <a:ea typeface="游ゴシック Medium"/>
                <a:cs typeface="Times New Roman"/>
              </a:rPr>
              <a:t>IR: FDR 28.0%, GPE 9.9mm</a:t>
            </a:r>
            <a:endParaRPr lang="en-US" sz="2000" b="0" dirty="0"/>
          </a:p>
        </p:txBody>
      </p:sp>
    </p:spTree>
    <p:extLst>
      <p:ext uri="{BB962C8B-B14F-4D97-AF65-F5344CB8AC3E}">
        <p14:creationId xmlns:p14="http://schemas.microsoft.com/office/powerpoint/2010/main" val="1728081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B5F4D0-91CB-6276-B7ED-90D27F788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FBE8E00-7FD1-6F1E-FDC3-FF01AA1BD960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Image Registration: Results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96616A3B-5A00-8CDF-BFBA-C5996F8B948C}"/>
              </a:ext>
            </a:extLst>
          </p:cNvPr>
          <p:cNvSpPr txBox="1">
            <a:spLocks/>
          </p:cNvSpPr>
          <p:nvPr/>
        </p:nvSpPr>
        <p:spPr>
          <a:xfrm>
            <a:off x="323528" y="707816"/>
            <a:ext cx="8218099" cy="4305013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endParaRPr lang="en-US" sz="1850" b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A7BA5A07-CC6C-1956-E939-1B54DCAF1C9C}"/>
              </a:ext>
            </a:extLst>
          </p:cNvPr>
          <p:cNvSpPr txBox="1">
            <a:spLocks/>
          </p:cNvSpPr>
          <p:nvPr/>
        </p:nvSpPr>
        <p:spPr>
          <a:xfrm>
            <a:off x="8483346" y="4704588"/>
            <a:ext cx="480060" cy="2738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050" b="1" kern="1200">
                <a:solidFill>
                  <a:srgbClr val="FFFFFF"/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475F232-FFFE-5E6C-5554-2F165DAD28C0}" type="slidenum">
              <a:rPr lang="en-JP" smtClean="0"/>
              <a:pPr/>
              <a:t>7</a:t>
            </a:fld>
            <a:endParaRPr lang="en-JP" dirty="0"/>
          </a:p>
        </p:txBody>
      </p:sp>
      <p:pic>
        <p:nvPicPr>
          <p:cNvPr id="8" name="Picture 7" descr="A graph with lines and numbers&#10;&#10;AI-generated content may be incorrect.">
            <a:extLst>
              <a:ext uri="{FF2B5EF4-FFF2-40B4-BE49-F238E27FC236}">
                <a16:creationId xmlns:a16="http://schemas.microsoft.com/office/drawing/2014/main" id="{7F03BDD9-47F8-9917-C9EB-F5115109D7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76128"/>
            <a:ext cx="4672345" cy="3504259"/>
          </a:xfrm>
          <a:prstGeom prst="rect">
            <a:avLst/>
          </a:prstGeom>
        </p:spPr>
      </p:pic>
      <p:pic>
        <p:nvPicPr>
          <p:cNvPr id="11" name="Picture 10" descr="A graph with a red line and blue line&#10;&#10;AI-generated content may be incorrect.">
            <a:extLst>
              <a:ext uri="{FF2B5EF4-FFF2-40B4-BE49-F238E27FC236}">
                <a16:creationId xmlns:a16="http://schemas.microsoft.com/office/drawing/2014/main" id="{5CFDD1E5-F164-0C74-9660-EA77F41C4F1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8548" y="993326"/>
            <a:ext cx="4672345" cy="3504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19524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2946F0-4886-E1AB-21AB-5E3D278DE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04A049-4A1D-2A82-224B-3C431ED2206D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Image Registration: Results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3DD8E8B9-C7CA-94B6-5C83-2E0F0AD60C18}"/>
              </a:ext>
            </a:extLst>
          </p:cNvPr>
          <p:cNvSpPr txBox="1">
            <a:spLocks/>
          </p:cNvSpPr>
          <p:nvPr/>
        </p:nvSpPr>
        <p:spPr>
          <a:xfrm>
            <a:off x="323528" y="707816"/>
            <a:ext cx="8218099" cy="4305013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r>
              <a:rPr lang="en-US" sz="1850" b="0" dirty="0">
                <a:ea typeface="游ゴシック Medium"/>
                <a:cs typeface="Times New Roman"/>
              </a:rPr>
              <a:t>Blue: GT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1850" b="0" dirty="0">
                <a:ea typeface="游ゴシック Medium"/>
                <a:cs typeface="Times New Roman"/>
              </a:rPr>
              <a:t>Yellow: IR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A38C8B24-24FF-6957-259C-F6EB4148B521}"/>
              </a:ext>
            </a:extLst>
          </p:cNvPr>
          <p:cNvSpPr txBox="1">
            <a:spLocks/>
          </p:cNvSpPr>
          <p:nvPr/>
        </p:nvSpPr>
        <p:spPr>
          <a:xfrm>
            <a:off x="8483346" y="4704588"/>
            <a:ext cx="480060" cy="2738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050" b="1" kern="1200">
                <a:solidFill>
                  <a:srgbClr val="FFFFFF"/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475F232-FFFE-5E6C-5554-2F165DAD28C0}" type="slidenum">
              <a:rPr lang="en-JP" smtClean="0"/>
              <a:pPr/>
              <a:t>8</a:t>
            </a:fld>
            <a:endParaRPr lang="en-JP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40938B9-F821-E185-E3EE-A3237F47D8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825" y="657388"/>
            <a:ext cx="5848350" cy="4391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77192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9BFF6-F96D-759B-7CD5-FE7983037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97579CF-050E-2E4C-565F-8F9AEE04871E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Image Registration: Results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EAB8BF09-3CC4-BE08-8058-C4E80F75A750}"/>
              </a:ext>
            </a:extLst>
          </p:cNvPr>
          <p:cNvSpPr txBox="1">
            <a:spLocks/>
          </p:cNvSpPr>
          <p:nvPr/>
        </p:nvSpPr>
        <p:spPr>
          <a:xfrm>
            <a:off x="323528" y="707816"/>
            <a:ext cx="8218099" cy="4305013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r>
              <a:rPr lang="en-US" sz="1850" b="0" dirty="0">
                <a:ea typeface="游ゴシック Medium"/>
                <a:cs typeface="Times New Roman"/>
              </a:rPr>
              <a:t>      Norm of translational vector		                    Angle of the rotation   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F26921FA-F22E-5477-6E36-22AFF44AB2E2}"/>
              </a:ext>
            </a:extLst>
          </p:cNvPr>
          <p:cNvSpPr txBox="1">
            <a:spLocks/>
          </p:cNvSpPr>
          <p:nvPr/>
        </p:nvSpPr>
        <p:spPr>
          <a:xfrm>
            <a:off x="8483346" y="4704588"/>
            <a:ext cx="480060" cy="2738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050" b="1" kern="1200">
                <a:solidFill>
                  <a:srgbClr val="FFFFFF"/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475F232-FFFE-5E6C-5554-2F165DAD28C0}" type="slidenum">
              <a:rPr lang="en-JP" smtClean="0"/>
              <a:pPr/>
              <a:t>9</a:t>
            </a:fld>
            <a:endParaRPr lang="en-JP" dirty="0"/>
          </a:p>
        </p:txBody>
      </p:sp>
      <p:pic>
        <p:nvPicPr>
          <p:cNvPr id="7" name="Picture 6" descr="A graph of a function">
            <a:extLst>
              <a:ext uri="{FF2B5EF4-FFF2-40B4-BE49-F238E27FC236}">
                <a16:creationId xmlns:a16="http://schemas.microsoft.com/office/drawing/2014/main" id="{E7EE3D15-073E-79B7-95C9-3F77B319FE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66750"/>
            <a:ext cx="91440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7313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EE615-AAEB-85FD-6A44-E1614A639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59D0D0E-5139-8637-F4ED-74D6CAAA275C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Image Registration: Problem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26618D5B-77FA-8994-A5A3-4939BDC58824}"/>
              </a:ext>
            </a:extLst>
          </p:cNvPr>
          <p:cNvSpPr txBox="1">
            <a:spLocks/>
          </p:cNvSpPr>
          <p:nvPr/>
        </p:nvSpPr>
        <p:spPr>
          <a:xfrm>
            <a:off x="323528" y="587025"/>
            <a:ext cx="8218099" cy="4305013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ea typeface="游ゴシック Medium"/>
                <a:cs typeface="Times New Roman"/>
              </a:rPr>
              <a:t>Problem</a:t>
            </a:r>
            <a:r>
              <a:rPr lang="en-US" sz="2000" b="0" dirty="0">
                <a:ea typeface="游ゴシック Medium"/>
                <a:cs typeface="Times New Roman"/>
              </a:rPr>
              <a:t>: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2D IR does not account for out-of-plane motion (z axis) nor pitch and roll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	  y                                                           </a:t>
            </a:r>
            <a:r>
              <a:rPr lang="en-US" sz="2000" b="0" dirty="0" err="1">
                <a:ea typeface="游ゴシック Medium"/>
                <a:cs typeface="Times New Roman"/>
              </a:rPr>
              <a:t>y</a:t>
            </a: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								       x						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		        x						z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solidFill>
                  <a:schemeClr val="accent1"/>
                </a:solidFill>
              </a:rPr>
              <a:t>➔ </a:t>
            </a:r>
            <a:r>
              <a:rPr lang="en-US" sz="2000" b="0" dirty="0"/>
              <a:t>Features present in one picture are not necessarily present in the other (spawning feature problem)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solidFill>
                  <a:schemeClr val="accent1"/>
                </a:solidFill>
              </a:rPr>
              <a:t>➔ </a:t>
            </a:r>
            <a:r>
              <a:rPr lang="en-US" sz="2000" b="0" dirty="0"/>
              <a:t>2D IR cannot find a transform which makes the two images align perfectly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solidFill>
                  <a:schemeClr val="accent1"/>
                </a:solidFill>
              </a:rPr>
              <a:t>➔ </a:t>
            </a:r>
            <a:r>
              <a:rPr lang="en-US" sz="2000" b="0" dirty="0"/>
              <a:t>GT transform will not yield a perfect error metric</a:t>
            </a:r>
            <a:endParaRPr lang="en-US" sz="2000" b="0" dirty="0">
              <a:ea typeface="游ゴシック Medium"/>
              <a:cs typeface="Times New Roman"/>
            </a:endParaRP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3AB306FF-6212-2853-245A-1687794578FA}"/>
              </a:ext>
            </a:extLst>
          </p:cNvPr>
          <p:cNvSpPr txBox="1">
            <a:spLocks/>
          </p:cNvSpPr>
          <p:nvPr/>
        </p:nvSpPr>
        <p:spPr>
          <a:xfrm>
            <a:off x="8483346" y="4704588"/>
            <a:ext cx="480060" cy="2738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050" b="1" kern="1200">
                <a:solidFill>
                  <a:srgbClr val="FFFFFF"/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475F232-FFFE-5E6C-5554-2F165DAD28C0}" type="slidenum">
              <a:rPr lang="en-JP" smtClean="0"/>
              <a:pPr/>
              <a:t>10</a:t>
            </a:fld>
            <a:endParaRPr lang="en-JP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3492867-713B-53BD-0E58-DD806D3F62EE}"/>
              </a:ext>
            </a:extLst>
          </p:cNvPr>
          <p:cNvSpPr/>
          <p:nvPr/>
        </p:nvSpPr>
        <p:spPr>
          <a:xfrm>
            <a:off x="1547664" y="1851670"/>
            <a:ext cx="792088" cy="7920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1DAF8C-1498-EDC2-5A45-DEAE5FC3278B}"/>
              </a:ext>
            </a:extLst>
          </p:cNvPr>
          <p:cNvSpPr/>
          <p:nvPr/>
        </p:nvSpPr>
        <p:spPr>
          <a:xfrm>
            <a:off x="2987824" y="1851670"/>
            <a:ext cx="792088" cy="7920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92FE8E0-B909-D391-C20A-98A17EFCAFA1}"/>
              </a:ext>
            </a:extLst>
          </p:cNvPr>
          <p:cNvSpPr/>
          <p:nvPr/>
        </p:nvSpPr>
        <p:spPr>
          <a:xfrm>
            <a:off x="5521545" y="1851670"/>
            <a:ext cx="792088" cy="792088"/>
          </a:xfrm>
          <a:prstGeom prst="rect">
            <a:avLst/>
          </a:prstGeom>
          <a:scene3d>
            <a:camera prst="orthographicFront">
              <a:rot lat="19799999" lon="3299968" rev="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923DA5-5419-E853-70EE-478CB5895B8E}"/>
              </a:ext>
            </a:extLst>
          </p:cNvPr>
          <p:cNvSpPr/>
          <p:nvPr/>
        </p:nvSpPr>
        <p:spPr>
          <a:xfrm>
            <a:off x="6516216" y="1851670"/>
            <a:ext cx="792088" cy="792088"/>
          </a:xfrm>
          <a:prstGeom prst="rect">
            <a:avLst/>
          </a:prstGeom>
          <a:scene3d>
            <a:camera prst="orthographicFront">
              <a:rot lat="19799999" lon="3299968" rev="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E0FC7E9-0368-4B6E-EE65-2103BB15D0F2}"/>
              </a:ext>
            </a:extLst>
          </p:cNvPr>
          <p:cNvCxnSpPr>
            <a:cxnSpLocks/>
          </p:cNvCxnSpPr>
          <p:nvPr/>
        </p:nvCxnSpPr>
        <p:spPr>
          <a:xfrm>
            <a:off x="2411760" y="2251425"/>
            <a:ext cx="50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5AAC163-8BF5-3C22-18DA-3D11C3110ECE}"/>
              </a:ext>
            </a:extLst>
          </p:cNvPr>
          <p:cNvCxnSpPr>
            <a:cxnSpLocks/>
          </p:cNvCxnSpPr>
          <p:nvPr/>
        </p:nvCxnSpPr>
        <p:spPr>
          <a:xfrm>
            <a:off x="6156176" y="2265019"/>
            <a:ext cx="50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1CF09BC-FC37-0628-91C8-391B321031B7}"/>
              </a:ext>
            </a:extLst>
          </p:cNvPr>
          <p:cNvCxnSpPr/>
          <p:nvPr/>
        </p:nvCxnSpPr>
        <p:spPr>
          <a:xfrm flipV="1">
            <a:off x="1187624" y="1851670"/>
            <a:ext cx="0" cy="10081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0E52777-E938-7B27-8B01-5E90D1C2E7C4}"/>
              </a:ext>
            </a:extLst>
          </p:cNvPr>
          <p:cNvCxnSpPr/>
          <p:nvPr/>
        </p:nvCxnSpPr>
        <p:spPr>
          <a:xfrm>
            <a:off x="1187624" y="2859782"/>
            <a:ext cx="115212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DE11D03-01C0-AC1D-769E-8F550BC2D25F}"/>
              </a:ext>
            </a:extLst>
          </p:cNvPr>
          <p:cNvCxnSpPr/>
          <p:nvPr/>
        </p:nvCxnSpPr>
        <p:spPr>
          <a:xfrm flipV="1">
            <a:off x="5580112" y="1853233"/>
            <a:ext cx="0" cy="10081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FBF172C-0E26-7B99-3F0D-7FB62ADDDD75}"/>
              </a:ext>
            </a:extLst>
          </p:cNvPr>
          <p:cNvCxnSpPr>
            <a:cxnSpLocks/>
          </p:cNvCxnSpPr>
          <p:nvPr/>
        </p:nvCxnSpPr>
        <p:spPr>
          <a:xfrm flipV="1">
            <a:off x="5580112" y="2355726"/>
            <a:ext cx="792088" cy="52275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819258C-7F9D-E6B6-5ECB-484EF04F58E4}"/>
              </a:ext>
            </a:extLst>
          </p:cNvPr>
          <p:cNvCxnSpPr>
            <a:cxnSpLocks/>
          </p:cNvCxnSpPr>
          <p:nvPr/>
        </p:nvCxnSpPr>
        <p:spPr>
          <a:xfrm>
            <a:off x="5588496" y="2878481"/>
            <a:ext cx="9277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74503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489B8-59B9-7747-9CFF-C36951006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C456144-7424-555C-A8FB-2C3175541B06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Counter measures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CC7CFA56-C9F2-51A1-50B0-B1CA269CF9C2}"/>
              </a:ext>
            </a:extLst>
          </p:cNvPr>
          <p:cNvSpPr txBox="1">
            <a:spLocks/>
          </p:cNvSpPr>
          <p:nvPr/>
        </p:nvSpPr>
        <p:spPr>
          <a:xfrm>
            <a:off x="8483346" y="4704588"/>
            <a:ext cx="480060" cy="2738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050" b="1" kern="1200">
                <a:solidFill>
                  <a:srgbClr val="FFFFFF"/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475F232-FFFE-5E6C-5554-2F165DAD28C0}" type="slidenum">
              <a:rPr lang="en-JP" smtClean="0"/>
              <a:pPr/>
              <a:t>11</a:t>
            </a:fld>
            <a:endParaRPr lang="en-JP" dirty="0"/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1F24EC59-7D7C-1FB8-8E3A-F9AD0DBE5F14}"/>
              </a:ext>
            </a:extLst>
          </p:cNvPr>
          <p:cNvSpPr txBox="1">
            <a:spLocks/>
          </p:cNvSpPr>
          <p:nvPr/>
        </p:nvSpPr>
        <p:spPr>
          <a:xfrm>
            <a:off x="323528" y="707816"/>
            <a:ext cx="8218099" cy="4305013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ea typeface="游ゴシック Medium"/>
                <a:cs typeface="Times New Roman"/>
              </a:rPr>
              <a:t>Focus on center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Use only center for IR (</a:t>
            </a:r>
            <a:r>
              <a:rPr lang="en-US" sz="2000" b="0" dirty="0" err="1">
                <a:ea typeface="游ゴシック Medium"/>
                <a:cs typeface="Times New Roman"/>
              </a:rPr>
              <a:t>SimpleITK</a:t>
            </a:r>
            <a:r>
              <a:rPr lang="en-US" sz="2000" b="0" dirty="0">
                <a:ea typeface="游ゴシック Medium"/>
                <a:cs typeface="Times New Roman"/>
              </a:rPr>
              <a:t>: Region of Interest)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solidFill>
                  <a:schemeClr val="accent1"/>
                </a:solidFill>
              </a:rPr>
              <a:t>➔ </a:t>
            </a:r>
            <a:r>
              <a:rPr lang="en-US" sz="2000" b="0" dirty="0"/>
              <a:t>Center 50% of both x and y</a:t>
            </a: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solidFill>
                  <a:schemeClr val="accent1"/>
                </a:solidFill>
              </a:rPr>
              <a:t>➔ </a:t>
            </a:r>
            <a:r>
              <a:rPr lang="en-US" sz="2000" b="0" dirty="0"/>
              <a:t>Pixels near to the center are less affected by roll and pitch (center of rotation is the image center)</a:t>
            </a:r>
            <a:endParaRPr lang="en-US" sz="2000" b="0" dirty="0">
              <a:ea typeface="游ゴシック Medium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376127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00CBE3-69F8-4037-CF62-6A4837819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5F68E38-3972-071E-AB21-78C6830F0205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Counter measures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1E309BA2-072C-DFB4-1A74-F7A67DCBE494}"/>
              </a:ext>
            </a:extLst>
          </p:cNvPr>
          <p:cNvSpPr txBox="1">
            <a:spLocks/>
          </p:cNvSpPr>
          <p:nvPr/>
        </p:nvSpPr>
        <p:spPr>
          <a:xfrm>
            <a:off x="8483346" y="4704588"/>
            <a:ext cx="480060" cy="2738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050" b="1" kern="1200">
                <a:solidFill>
                  <a:srgbClr val="FFFFFF"/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475F232-FFFE-5E6C-5554-2F165DAD28C0}" type="slidenum">
              <a:rPr lang="en-JP" smtClean="0"/>
              <a:pPr/>
              <a:t>12</a:t>
            </a:fld>
            <a:endParaRPr lang="en-JP" dirty="0"/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4FEDFD8C-F0C0-2B2B-58BC-777E691EA639}"/>
              </a:ext>
            </a:extLst>
          </p:cNvPr>
          <p:cNvSpPr txBox="1">
            <a:spLocks/>
          </p:cNvSpPr>
          <p:nvPr/>
        </p:nvSpPr>
        <p:spPr>
          <a:xfrm>
            <a:off x="323528" y="707816"/>
            <a:ext cx="8218099" cy="4305013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ea typeface="游ゴシック Medium"/>
                <a:cs typeface="Times New Roman"/>
              </a:rPr>
              <a:t>Focus on center</a:t>
            </a:r>
          </a:p>
        </p:txBody>
      </p:sp>
      <p:pic>
        <p:nvPicPr>
          <p:cNvPr id="8" name="Picture 7" descr="A close-up of an ultrasound">
            <a:extLst>
              <a:ext uri="{FF2B5EF4-FFF2-40B4-BE49-F238E27FC236}">
                <a16:creationId xmlns:a16="http://schemas.microsoft.com/office/drawing/2014/main" id="{10282119-CEC4-3720-DE6A-CA317E422D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04" y="1385078"/>
            <a:ext cx="4320480" cy="3593354"/>
          </a:xfrm>
          <a:prstGeom prst="rect">
            <a:avLst/>
          </a:prstGeom>
        </p:spPr>
      </p:pic>
      <p:pic>
        <p:nvPicPr>
          <p:cNvPr id="12" name="Picture 11" descr="A close-up of an ultrasound&#10;&#10;AI-generated content may be incorrect.">
            <a:extLst>
              <a:ext uri="{FF2B5EF4-FFF2-40B4-BE49-F238E27FC236}">
                <a16:creationId xmlns:a16="http://schemas.microsoft.com/office/drawing/2014/main" id="{2CFEC377-1A1A-B7F0-0D26-876B3867ECD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7016" y="2110043"/>
            <a:ext cx="2400635" cy="2143424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C0B098E-9922-0DA5-F045-8998B48A5D70}"/>
              </a:ext>
            </a:extLst>
          </p:cNvPr>
          <p:cNvCxnSpPr>
            <a:cxnSpLocks/>
          </p:cNvCxnSpPr>
          <p:nvPr/>
        </p:nvCxnSpPr>
        <p:spPr>
          <a:xfrm>
            <a:off x="4797556" y="3211901"/>
            <a:ext cx="96950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87098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4F8BDC-C859-E52C-3139-21AE98089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E2F27D9-E604-DEE0-FF99-736C19052607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Counter measures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3F8B26A9-BD51-1280-5372-54094BA24425}"/>
              </a:ext>
            </a:extLst>
          </p:cNvPr>
          <p:cNvSpPr txBox="1">
            <a:spLocks/>
          </p:cNvSpPr>
          <p:nvPr/>
        </p:nvSpPr>
        <p:spPr>
          <a:xfrm>
            <a:off x="8483346" y="4704588"/>
            <a:ext cx="480060" cy="2738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050" b="1" kern="1200">
                <a:solidFill>
                  <a:srgbClr val="FFFFFF"/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475F232-FFFE-5E6C-5554-2F165DAD28C0}" type="slidenum">
              <a:rPr lang="en-JP" smtClean="0"/>
              <a:pPr/>
              <a:t>13</a:t>
            </a:fld>
            <a:endParaRPr lang="en-JP" dirty="0"/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F325CD5E-8DF5-3AB1-FB5C-E8190501D04D}"/>
              </a:ext>
            </a:extLst>
          </p:cNvPr>
          <p:cNvSpPr txBox="1">
            <a:spLocks/>
          </p:cNvSpPr>
          <p:nvPr/>
        </p:nvSpPr>
        <p:spPr>
          <a:xfrm>
            <a:off x="323528" y="707816"/>
            <a:ext cx="8218099" cy="4305013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ea typeface="游ゴシック Medium"/>
                <a:cs typeface="Times New Roman"/>
              </a:rPr>
              <a:t>Patch and evaluate</a:t>
            </a:r>
          </a:p>
          <a:p>
            <a:pPr marL="457200" indent="-457200">
              <a:buClr>
                <a:srgbClr val="9E3611"/>
              </a:buClr>
              <a:buFont typeface="+mj-lt"/>
              <a:buAutoNum type="arabicPeriod"/>
            </a:pPr>
            <a:r>
              <a:rPr lang="en-US" sz="2000" b="0" dirty="0">
                <a:ea typeface="游ゴシック Medium"/>
                <a:cs typeface="Times New Roman"/>
              </a:rPr>
              <a:t>Divide fixed and moving into patches</a:t>
            </a:r>
          </a:p>
          <a:p>
            <a:pPr marL="457200" indent="-457200">
              <a:buClr>
                <a:srgbClr val="9E3611"/>
              </a:buClr>
              <a:buFont typeface="+mj-lt"/>
              <a:buAutoNum type="arabicPeriod"/>
            </a:pPr>
            <a:r>
              <a:rPr lang="en-US" sz="2000" b="0" dirty="0">
                <a:ea typeface="游ゴシック Medium"/>
                <a:cs typeface="Times New Roman"/>
              </a:rPr>
              <a:t>For every fixed patch:</a:t>
            </a:r>
          </a:p>
          <a:p>
            <a:pPr marL="662940" lvl="1" indent="-457200">
              <a:buClr>
                <a:srgbClr val="9E3611"/>
              </a:buClr>
              <a:buFont typeface="+mj-lt"/>
              <a:buAutoNum type="arabicPeriod"/>
            </a:pPr>
            <a:r>
              <a:rPr lang="en-US" sz="1850" b="0" dirty="0">
                <a:ea typeface="游ゴシック Medium"/>
                <a:cs typeface="Times New Roman"/>
              </a:rPr>
              <a:t>Apply ref transform from </a:t>
            </a:r>
            <a:r>
              <a:rPr lang="en-US" sz="1850" b="0" dirty="0" err="1">
                <a:ea typeface="游ゴシック Medium"/>
                <a:cs typeface="Times New Roman"/>
              </a:rPr>
              <a:t>DualTrack</a:t>
            </a:r>
            <a:endParaRPr lang="en-US" sz="1850" b="0" dirty="0">
              <a:ea typeface="游ゴシック Medium"/>
              <a:cs typeface="Times New Roman"/>
            </a:endParaRPr>
          </a:p>
          <a:p>
            <a:pPr marL="662940" lvl="1" indent="-457200">
              <a:buClr>
                <a:srgbClr val="9E3611"/>
              </a:buClr>
              <a:buFont typeface="+mj-lt"/>
              <a:buAutoNum type="arabicPeriod"/>
            </a:pPr>
            <a:r>
              <a:rPr lang="en-US" sz="1850" b="0" dirty="0">
                <a:ea typeface="游ゴシック Medium"/>
                <a:cs typeface="Times New Roman"/>
              </a:rPr>
              <a:t>Compare transformed fixed patch and corresponding moving patch</a:t>
            </a:r>
          </a:p>
          <a:p>
            <a:pPr marL="662940" lvl="1" indent="-457200">
              <a:buClr>
                <a:srgbClr val="9E3611"/>
              </a:buClr>
              <a:buFont typeface="+mj-lt"/>
              <a:buAutoNum type="arabicPeriod"/>
            </a:pPr>
            <a:r>
              <a:rPr lang="en-US" sz="1850" b="0" dirty="0">
                <a:ea typeface="游ゴシック Medium"/>
                <a:cs typeface="Times New Roman"/>
              </a:rPr>
              <a:t>Consider for IR if similar</a:t>
            </a:r>
            <a:r>
              <a:rPr lang="en-US" sz="1800" b="0" dirty="0">
                <a:ea typeface="游ゴシック Medium"/>
                <a:cs typeface="Times New Roman"/>
              </a:rPr>
              <a:t> (</a:t>
            </a:r>
            <a:r>
              <a:rPr lang="en-US" sz="1800" b="0" dirty="0" err="1">
                <a:ea typeface="游ゴシック Medium"/>
                <a:cs typeface="Times New Roman"/>
              </a:rPr>
              <a:t>SimpleITK</a:t>
            </a:r>
            <a:r>
              <a:rPr lang="en-US" sz="1800" b="0" dirty="0">
                <a:ea typeface="游ゴシック Medium"/>
                <a:cs typeface="Times New Roman"/>
              </a:rPr>
              <a:t>: Mask)</a:t>
            </a:r>
            <a:endParaRPr lang="en-US" sz="1850" b="0" dirty="0">
              <a:ea typeface="游ゴシック Medium"/>
              <a:cs typeface="Times New Roman"/>
            </a:endParaRPr>
          </a:p>
          <a:p>
            <a:pPr marL="205740" lvl="1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solidFill>
                  <a:schemeClr val="accent1"/>
                </a:solidFill>
              </a:rPr>
              <a:t>➔</a:t>
            </a:r>
            <a:r>
              <a:rPr lang="en-US" sz="2000" b="0" dirty="0"/>
              <a:t> 4x4 grid, Normalized </a:t>
            </a:r>
            <a:r>
              <a:rPr lang="en-US" sz="2000" b="0" dirty="0">
                <a:ea typeface="游ゴシック Medium"/>
                <a:cs typeface="Times New Roman"/>
              </a:rPr>
              <a:t>Cross Correlation for comparison (value range [-1, 1]), threshold 0.7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solidFill>
                  <a:schemeClr val="accent1"/>
                </a:solidFill>
              </a:rPr>
              <a:t>➔ </a:t>
            </a:r>
            <a:r>
              <a:rPr lang="en-US" sz="2000" b="0" dirty="0"/>
              <a:t>Patches with little similarity (due to a potential spawning feature) are discarded</a:t>
            </a:r>
          </a:p>
        </p:txBody>
      </p:sp>
    </p:spTree>
    <p:extLst>
      <p:ext uri="{BB962C8B-B14F-4D97-AF65-F5344CB8AC3E}">
        <p14:creationId xmlns:p14="http://schemas.microsoft.com/office/powerpoint/2010/main" val="17846466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8FF59-029B-3A6D-111A-7121FFCE32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2EB9EFB-4291-B0E6-37DA-573E43EE8532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Counter measures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6609D680-A356-987E-BDBC-C822528BB718}"/>
              </a:ext>
            </a:extLst>
          </p:cNvPr>
          <p:cNvSpPr txBox="1">
            <a:spLocks/>
          </p:cNvSpPr>
          <p:nvPr/>
        </p:nvSpPr>
        <p:spPr>
          <a:xfrm>
            <a:off x="8483346" y="4704588"/>
            <a:ext cx="480060" cy="2738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050" b="1" kern="1200">
                <a:solidFill>
                  <a:srgbClr val="FFFFFF"/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475F232-FFFE-5E6C-5554-2F165DAD28C0}" type="slidenum">
              <a:rPr lang="en-JP" smtClean="0"/>
              <a:pPr/>
              <a:t>14</a:t>
            </a:fld>
            <a:endParaRPr lang="en-JP" dirty="0"/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79D901D0-12F2-9F13-76B2-ECD202DFC5D7}"/>
              </a:ext>
            </a:extLst>
          </p:cNvPr>
          <p:cNvSpPr txBox="1">
            <a:spLocks/>
          </p:cNvSpPr>
          <p:nvPr/>
        </p:nvSpPr>
        <p:spPr>
          <a:xfrm>
            <a:off x="323528" y="707816"/>
            <a:ext cx="8218099" cy="4305013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ea typeface="游ゴシック Medium"/>
                <a:cs typeface="Times New Roman"/>
              </a:rPr>
              <a:t>Patch and evaluate</a:t>
            </a:r>
          </a:p>
        </p:txBody>
      </p:sp>
      <p:pic>
        <p:nvPicPr>
          <p:cNvPr id="3" name="Picture 2" descr="A graph with a black rectangle&#10;&#10;AI-generated content may be incorrect.">
            <a:extLst>
              <a:ext uri="{FF2B5EF4-FFF2-40B4-BE49-F238E27FC236}">
                <a16:creationId xmlns:a16="http://schemas.microsoft.com/office/drawing/2014/main" id="{89A5D63C-FA68-2BEC-5788-AAFF717A5B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9718" y="1174180"/>
            <a:ext cx="2400635" cy="3210372"/>
          </a:xfrm>
          <a:prstGeom prst="rect">
            <a:avLst/>
          </a:prstGeom>
        </p:spPr>
      </p:pic>
      <p:pic>
        <p:nvPicPr>
          <p:cNvPr id="5" name="Picture 4" descr="A close-up of an ultrasound&#10;&#10;AI-generated content may be incorrect.">
            <a:extLst>
              <a:ext uri="{FF2B5EF4-FFF2-40B4-BE49-F238E27FC236}">
                <a16:creationId xmlns:a16="http://schemas.microsoft.com/office/drawing/2014/main" id="{698B3C1F-ED47-2101-28FE-0AAD39C79F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521" y="1707654"/>
            <a:ext cx="2400635" cy="2143424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FF35BEE-1BD4-415C-B7C5-CF232C48AEB9}"/>
              </a:ext>
            </a:extLst>
          </p:cNvPr>
          <p:cNvCxnSpPr>
            <a:cxnSpLocks/>
          </p:cNvCxnSpPr>
          <p:nvPr/>
        </p:nvCxnSpPr>
        <p:spPr>
          <a:xfrm>
            <a:off x="3851920" y="2787774"/>
            <a:ext cx="96950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C63D156-BE6C-BDF5-9A83-37F8AA03A9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0047970"/>
              </p:ext>
            </p:extLst>
          </p:nvPr>
        </p:nvGraphicFramePr>
        <p:xfrm>
          <a:off x="891156" y="1923678"/>
          <a:ext cx="2210780" cy="1728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2695">
                  <a:extLst>
                    <a:ext uri="{9D8B030D-6E8A-4147-A177-3AD203B41FA5}">
                      <a16:colId xmlns:a16="http://schemas.microsoft.com/office/drawing/2014/main" val="2328694238"/>
                    </a:ext>
                  </a:extLst>
                </a:gridCol>
                <a:gridCol w="552695">
                  <a:extLst>
                    <a:ext uri="{9D8B030D-6E8A-4147-A177-3AD203B41FA5}">
                      <a16:colId xmlns:a16="http://schemas.microsoft.com/office/drawing/2014/main" val="2491919738"/>
                    </a:ext>
                  </a:extLst>
                </a:gridCol>
                <a:gridCol w="552695">
                  <a:extLst>
                    <a:ext uri="{9D8B030D-6E8A-4147-A177-3AD203B41FA5}">
                      <a16:colId xmlns:a16="http://schemas.microsoft.com/office/drawing/2014/main" val="2225398154"/>
                    </a:ext>
                  </a:extLst>
                </a:gridCol>
                <a:gridCol w="552695">
                  <a:extLst>
                    <a:ext uri="{9D8B030D-6E8A-4147-A177-3AD203B41FA5}">
                      <a16:colId xmlns:a16="http://schemas.microsoft.com/office/drawing/2014/main" val="2480118189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312357"/>
                  </a:ext>
                </a:extLst>
              </a:tr>
              <a:tr h="43204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852160"/>
                  </a:ext>
                </a:extLst>
              </a:tr>
              <a:tr h="43204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2515714"/>
                  </a:ext>
                </a:extLst>
              </a:tr>
              <a:tr h="43204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7640063"/>
                  </a:ext>
                </a:extLst>
              </a:tr>
            </a:tbl>
          </a:graphicData>
        </a:graphic>
      </p:graphicFrame>
      <p:sp>
        <p:nvSpPr>
          <p:cNvPr id="15" name="Rectangle 14">
            <a:extLst>
              <a:ext uri="{FF2B5EF4-FFF2-40B4-BE49-F238E27FC236}">
                <a16:creationId xmlns:a16="http://schemas.microsoft.com/office/drawing/2014/main" id="{8B068A3D-DC4C-322B-B020-CE2A54B4381C}"/>
              </a:ext>
            </a:extLst>
          </p:cNvPr>
          <p:cNvSpPr/>
          <p:nvPr/>
        </p:nvSpPr>
        <p:spPr>
          <a:xfrm>
            <a:off x="1403648" y="1735717"/>
            <a:ext cx="1224136" cy="1440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43FB8ED-1918-CDF1-74D7-854E7C4650A5}"/>
              </a:ext>
            </a:extLst>
          </p:cNvPr>
          <p:cNvSpPr/>
          <p:nvPr/>
        </p:nvSpPr>
        <p:spPr>
          <a:xfrm>
            <a:off x="6255039" y="1779662"/>
            <a:ext cx="1224136" cy="1440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 Placeholder 1">
            <a:extLst>
              <a:ext uri="{FF2B5EF4-FFF2-40B4-BE49-F238E27FC236}">
                <a16:creationId xmlns:a16="http://schemas.microsoft.com/office/drawing/2014/main" id="{66D0158B-0D59-F1FA-9AE3-D93F2ACDA273}"/>
              </a:ext>
            </a:extLst>
          </p:cNvPr>
          <p:cNvSpPr txBox="1">
            <a:spLocks/>
          </p:cNvSpPr>
          <p:nvPr/>
        </p:nvSpPr>
        <p:spPr>
          <a:xfrm>
            <a:off x="5856581" y="3929407"/>
            <a:ext cx="2021052" cy="1123721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ea typeface="游ゴシック Medium"/>
                <a:cs typeface="Times New Roman"/>
              </a:rPr>
              <a:t>Mask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White: keep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Black: discard</a:t>
            </a:r>
          </a:p>
        </p:txBody>
      </p:sp>
    </p:spTree>
    <p:extLst>
      <p:ext uri="{BB962C8B-B14F-4D97-AF65-F5344CB8AC3E}">
        <p14:creationId xmlns:p14="http://schemas.microsoft.com/office/powerpoint/2010/main" val="38101292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98872D-B5B1-446A-3435-B927078AE2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B94C52C-1C4B-1680-54A8-26D5D3A0EF19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Counter measures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1CCD4F8D-C1F0-7A42-383F-CBA6CB1A8928}"/>
              </a:ext>
            </a:extLst>
          </p:cNvPr>
          <p:cNvSpPr txBox="1">
            <a:spLocks/>
          </p:cNvSpPr>
          <p:nvPr/>
        </p:nvSpPr>
        <p:spPr>
          <a:xfrm>
            <a:off x="8483346" y="4704588"/>
            <a:ext cx="480060" cy="2738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050" b="1" kern="1200">
                <a:solidFill>
                  <a:srgbClr val="FFFFFF"/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475F232-FFFE-5E6C-5554-2F165DAD28C0}" type="slidenum">
              <a:rPr lang="en-JP" smtClean="0"/>
              <a:pPr/>
              <a:t>15</a:t>
            </a:fld>
            <a:endParaRPr lang="en-JP" dirty="0"/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9F41F01B-4C86-B1ED-859A-5C50C8E8ADC2}"/>
              </a:ext>
            </a:extLst>
          </p:cNvPr>
          <p:cNvSpPr txBox="1">
            <a:spLocks/>
          </p:cNvSpPr>
          <p:nvPr/>
        </p:nvSpPr>
        <p:spPr>
          <a:xfrm>
            <a:off x="323528" y="707816"/>
            <a:ext cx="8218099" cy="4305013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ea typeface="游ゴシック Medium"/>
                <a:cs typeface="Times New Roman"/>
              </a:rPr>
              <a:t>Focus on center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Improvement of &gt;200% for FDR, GPE and run time for TUSREC24 validation data set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ea typeface="游ゴシック Medium"/>
                <a:cs typeface="Times New Roman"/>
              </a:rPr>
              <a:t>Patch and evaluate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Improvement of 5% for FDR, 1,5% for runtime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solidFill>
                  <a:schemeClr val="accent1"/>
                </a:solidFill>
              </a:rPr>
              <a:t>➔ </a:t>
            </a:r>
            <a:r>
              <a:rPr lang="en-US" sz="2000" b="0" dirty="0"/>
              <a:t>But: IR still performs worse than </a:t>
            </a:r>
            <a:r>
              <a:rPr lang="en-US" sz="2000" b="0" dirty="0" err="1"/>
              <a:t>DualTrack</a:t>
            </a:r>
            <a:endParaRPr lang="en-US" sz="2000" b="0" dirty="0"/>
          </a:p>
          <a:p>
            <a:pPr>
              <a:buClr>
                <a:srgbClr val="9E3611"/>
              </a:buClr>
            </a:pPr>
            <a:r>
              <a:rPr lang="en-US" sz="2000" b="0" dirty="0">
                <a:ea typeface="游ゴシック Medium"/>
                <a:cs typeface="Times New Roman"/>
              </a:rPr>
              <a:t>DualTrack24: FDR 5.1%, GPE 4.9mm</a:t>
            </a:r>
          </a:p>
          <a:p>
            <a:pPr>
              <a:buClr>
                <a:srgbClr val="9E3611"/>
              </a:buClr>
            </a:pPr>
            <a:r>
              <a:rPr lang="en-US" sz="2000" b="0" dirty="0">
                <a:ea typeface="游ゴシック Medium"/>
                <a:cs typeface="Times New Roman"/>
              </a:rPr>
              <a:t>IR with counter measures: FDR 11.4%, GPE 9.9mm</a:t>
            </a:r>
            <a:endParaRPr lang="en-US" sz="2000" b="0" dirty="0"/>
          </a:p>
        </p:txBody>
      </p:sp>
    </p:spTree>
    <p:extLst>
      <p:ext uri="{BB962C8B-B14F-4D97-AF65-F5344CB8AC3E}">
        <p14:creationId xmlns:p14="http://schemas.microsoft.com/office/powerpoint/2010/main" val="40281470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1FC5F-50F8-0431-6793-463780371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E980A6F-7D70-9EA1-F315-203DF074E556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Error evaluations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0ACA48EC-FA54-02B6-1FF3-813916064306}"/>
              </a:ext>
            </a:extLst>
          </p:cNvPr>
          <p:cNvSpPr txBox="1">
            <a:spLocks/>
          </p:cNvSpPr>
          <p:nvPr/>
        </p:nvSpPr>
        <p:spPr>
          <a:xfrm>
            <a:off x="8483346" y="4704588"/>
            <a:ext cx="480060" cy="2738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050" b="1" kern="1200">
                <a:solidFill>
                  <a:srgbClr val="FFFFFF"/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475F232-FFFE-5E6C-5554-2F165DAD28C0}" type="slidenum">
              <a:rPr lang="en-JP" smtClean="0"/>
              <a:pPr/>
              <a:t>16</a:t>
            </a:fld>
            <a:endParaRPr lang="en-JP" dirty="0"/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E57892FE-CCAB-34F2-D2EB-F445646AFCAA}"/>
              </a:ext>
            </a:extLst>
          </p:cNvPr>
          <p:cNvSpPr txBox="1">
            <a:spLocks/>
          </p:cNvSpPr>
          <p:nvPr/>
        </p:nvSpPr>
        <p:spPr>
          <a:xfrm>
            <a:off x="6031684" y="707816"/>
            <a:ext cx="3112316" cy="4305013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Abs GT vs Abs Error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/>
              <a:t>(DualTrack24 in-between Pred – GT, TUSREC24 72 scans combined)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solidFill>
                  <a:schemeClr val="accent1"/>
                </a:solidFill>
              </a:rPr>
              <a:t>➔ </a:t>
            </a:r>
            <a:r>
              <a:rPr lang="en-US" sz="2000" b="0" dirty="0"/>
              <a:t>Again: Larger error for larger values</a:t>
            </a:r>
          </a:p>
          <a:p>
            <a:pPr>
              <a:buClr>
                <a:srgbClr val="9E3611"/>
              </a:buClr>
            </a:pPr>
            <a:endParaRPr lang="en-US" sz="2000" b="0" dirty="0"/>
          </a:p>
        </p:txBody>
      </p:sp>
      <p:pic>
        <p:nvPicPr>
          <p:cNvPr id="10" name="Picture 9" descr="A group of graphs with numbers&#10;&#10;AI-generated content may be incorrect.">
            <a:extLst>
              <a:ext uri="{FF2B5EF4-FFF2-40B4-BE49-F238E27FC236}">
                <a16:creationId xmlns:a16="http://schemas.microsoft.com/office/drawing/2014/main" id="{DE1F2A94-3258-F952-A1EF-3A53F7AFA2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82" y="587025"/>
            <a:ext cx="5852172" cy="4389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79156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C1655-56E8-D154-E5A8-6BF91BD6A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87E8E27-CD49-8896-4518-86A37D9A3803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Error evaluations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7211BBBA-7AEA-E016-9845-AFC557D4496E}"/>
              </a:ext>
            </a:extLst>
          </p:cNvPr>
          <p:cNvSpPr txBox="1">
            <a:spLocks/>
          </p:cNvSpPr>
          <p:nvPr/>
        </p:nvSpPr>
        <p:spPr>
          <a:xfrm>
            <a:off x="8483346" y="4704588"/>
            <a:ext cx="480060" cy="2738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050" b="1" kern="1200">
                <a:solidFill>
                  <a:srgbClr val="FFFFFF"/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475F232-FFFE-5E6C-5554-2F165DAD28C0}" type="slidenum">
              <a:rPr lang="en-JP" smtClean="0"/>
              <a:pPr/>
              <a:t>17</a:t>
            </a:fld>
            <a:endParaRPr lang="en-JP" dirty="0"/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79B56064-B7C9-9E53-0FA0-CF41DFB1A7BC}"/>
              </a:ext>
            </a:extLst>
          </p:cNvPr>
          <p:cNvSpPr txBox="1">
            <a:spLocks/>
          </p:cNvSpPr>
          <p:nvPr/>
        </p:nvSpPr>
        <p:spPr>
          <a:xfrm>
            <a:off x="6031684" y="707816"/>
            <a:ext cx="3112316" cy="4305013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Mean Error Through Time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/>
              <a:t>(DualTrack24 in-between Pred – GT, TUSREC24 </a:t>
            </a:r>
            <a:r>
              <a:rPr lang="en-US" sz="2000" b="0" dirty="0">
                <a:ea typeface="游ゴシック Medium"/>
                <a:cs typeface="Times New Roman"/>
              </a:rPr>
              <a:t>validation data set, all scans </a:t>
            </a:r>
            <a:r>
              <a:rPr lang="en-US" sz="2000" b="0" dirty="0"/>
              <a:t>combined)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solidFill>
                  <a:schemeClr val="accent1"/>
                </a:solidFill>
              </a:rPr>
              <a:t>➔ </a:t>
            </a:r>
            <a:r>
              <a:rPr lang="en-US" sz="2000" b="0" dirty="0"/>
              <a:t>Mean error of </a:t>
            </a:r>
            <a:r>
              <a:rPr lang="en-US" sz="2000" b="0" dirty="0" err="1"/>
              <a:t>DualTrack</a:t>
            </a:r>
            <a:r>
              <a:rPr lang="en-US" sz="2000" b="0" dirty="0"/>
              <a:t> is </a:t>
            </a:r>
            <a:r>
              <a:rPr lang="en-US" sz="1850" dirty="0"/>
              <a:t>~</a:t>
            </a:r>
            <a:r>
              <a:rPr lang="en-US" sz="2000" b="0" dirty="0"/>
              <a:t>0 for all 6DoF</a:t>
            </a:r>
          </a:p>
        </p:txBody>
      </p:sp>
      <p:pic>
        <p:nvPicPr>
          <p:cNvPr id="3" name="Picture 2" descr="A group of graphs showing the results of a program&#10;&#10;AI-generated content may be incorrect.">
            <a:extLst>
              <a:ext uri="{FF2B5EF4-FFF2-40B4-BE49-F238E27FC236}">
                <a16:creationId xmlns:a16="http://schemas.microsoft.com/office/drawing/2014/main" id="{680109F2-4C9A-BB72-43D0-FD0A69C5BE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04" y="665757"/>
            <a:ext cx="5852172" cy="4389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6731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56B5CC-882F-E0A4-A524-14CD6CEFC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668759A-FE15-5B57-26BF-B590AFD18579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Error evaluations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1FD6EC96-0A42-B799-F59B-F3166BA7D554}"/>
              </a:ext>
            </a:extLst>
          </p:cNvPr>
          <p:cNvSpPr txBox="1">
            <a:spLocks/>
          </p:cNvSpPr>
          <p:nvPr/>
        </p:nvSpPr>
        <p:spPr>
          <a:xfrm>
            <a:off x="8483346" y="4704588"/>
            <a:ext cx="480060" cy="2738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050" b="1" kern="1200">
                <a:solidFill>
                  <a:srgbClr val="FFFFFF"/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475F232-FFFE-5E6C-5554-2F165DAD28C0}" type="slidenum">
              <a:rPr lang="en-JP" smtClean="0"/>
              <a:pPr/>
              <a:t>18</a:t>
            </a:fld>
            <a:endParaRPr lang="en-JP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65F5042-45A0-9F6B-DD73-0279E59D95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9200672"/>
              </p:ext>
            </p:extLst>
          </p:nvPr>
        </p:nvGraphicFramePr>
        <p:xfrm>
          <a:off x="719570" y="1613438"/>
          <a:ext cx="7704858" cy="23349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0694">
                  <a:extLst>
                    <a:ext uri="{9D8B030D-6E8A-4147-A177-3AD203B41FA5}">
                      <a16:colId xmlns:a16="http://schemas.microsoft.com/office/drawing/2014/main" val="891567486"/>
                    </a:ext>
                  </a:extLst>
                </a:gridCol>
                <a:gridCol w="1100694">
                  <a:extLst>
                    <a:ext uri="{9D8B030D-6E8A-4147-A177-3AD203B41FA5}">
                      <a16:colId xmlns:a16="http://schemas.microsoft.com/office/drawing/2014/main" val="4258970538"/>
                    </a:ext>
                  </a:extLst>
                </a:gridCol>
                <a:gridCol w="1100694">
                  <a:extLst>
                    <a:ext uri="{9D8B030D-6E8A-4147-A177-3AD203B41FA5}">
                      <a16:colId xmlns:a16="http://schemas.microsoft.com/office/drawing/2014/main" val="1823026811"/>
                    </a:ext>
                  </a:extLst>
                </a:gridCol>
                <a:gridCol w="1100694">
                  <a:extLst>
                    <a:ext uri="{9D8B030D-6E8A-4147-A177-3AD203B41FA5}">
                      <a16:colId xmlns:a16="http://schemas.microsoft.com/office/drawing/2014/main" val="338105497"/>
                    </a:ext>
                  </a:extLst>
                </a:gridCol>
                <a:gridCol w="1100694">
                  <a:extLst>
                    <a:ext uri="{9D8B030D-6E8A-4147-A177-3AD203B41FA5}">
                      <a16:colId xmlns:a16="http://schemas.microsoft.com/office/drawing/2014/main" val="4115481350"/>
                    </a:ext>
                  </a:extLst>
                </a:gridCol>
                <a:gridCol w="1100694">
                  <a:extLst>
                    <a:ext uri="{9D8B030D-6E8A-4147-A177-3AD203B41FA5}">
                      <a16:colId xmlns:a16="http://schemas.microsoft.com/office/drawing/2014/main" val="264330388"/>
                    </a:ext>
                  </a:extLst>
                </a:gridCol>
                <a:gridCol w="1100694">
                  <a:extLst>
                    <a:ext uri="{9D8B030D-6E8A-4147-A177-3AD203B41FA5}">
                      <a16:colId xmlns:a16="http://schemas.microsoft.com/office/drawing/2014/main" val="3519421448"/>
                    </a:ext>
                  </a:extLst>
                </a:gridCol>
              </a:tblGrid>
              <a:tr h="583733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mm, º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Pitch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Yaw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0027442"/>
                  </a:ext>
                </a:extLst>
              </a:tr>
              <a:tr h="583733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GT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0.0343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9946109"/>
                  </a:ext>
                </a:extLst>
              </a:tr>
              <a:tr h="583733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Error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0.029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6956897"/>
                  </a:ext>
                </a:extLst>
              </a:tr>
              <a:tr h="583733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Ratio (Error/GT)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80.6%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6580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8F8A6313-79C2-0E9F-D2D2-129B6B51B6C3}"/>
              </a:ext>
            </a:extLst>
          </p:cNvPr>
          <p:cNvSpPr txBox="1"/>
          <p:nvPr/>
        </p:nvSpPr>
        <p:spPr>
          <a:xfrm>
            <a:off x="827584" y="91556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F99E5ACB-5FEC-531F-B89E-6B5F7296000B}"/>
              </a:ext>
            </a:extLst>
          </p:cNvPr>
          <p:cNvSpPr txBox="1">
            <a:spLocks/>
          </p:cNvSpPr>
          <p:nvPr/>
        </p:nvSpPr>
        <p:spPr>
          <a:xfrm>
            <a:off x="719570" y="602642"/>
            <a:ext cx="7596845" cy="995179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GT vs Error mean absolute value for every 6DoF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/>
              <a:t>(DualTrack24 in-between Pred – GT, TUSREC24 </a:t>
            </a:r>
            <a:r>
              <a:rPr lang="en-US" sz="2000" b="0" dirty="0">
                <a:ea typeface="游ゴシック Medium"/>
                <a:cs typeface="Times New Roman"/>
              </a:rPr>
              <a:t>validation data set, all scans </a:t>
            </a:r>
            <a:r>
              <a:rPr lang="en-US" sz="2000" b="0" dirty="0"/>
              <a:t>combined)</a:t>
            </a: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DC85169F-510C-39A2-16FC-257D9CC1A963}"/>
              </a:ext>
            </a:extLst>
          </p:cNvPr>
          <p:cNvSpPr txBox="1">
            <a:spLocks/>
          </p:cNvSpPr>
          <p:nvPr/>
        </p:nvSpPr>
        <p:spPr>
          <a:xfrm>
            <a:off x="728924" y="4083918"/>
            <a:ext cx="7596845" cy="85963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solidFill>
                  <a:schemeClr val="accent1"/>
                </a:solidFill>
              </a:rPr>
              <a:t>➔ </a:t>
            </a:r>
            <a:r>
              <a:rPr lang="en-US" sz="2000" b="0" dirty="0"/>
              <a:t>Relative largest errors happen for y and pitch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solidFill>
                  <a:schemeClr val="accent1"/>
                </a:solidFill>
              </a:rPr>
              <a:t>➔ </a:t>
            </a:r>
            <a:r>
              <a:rPr lang="en-US" sz="2000" b="0" dirty="0"/>
              <a:t>Larger relative errors for rotation than translation</a:t>
            </a:r>
          </a:p>
        </p:txBody>
      </p:sp>
    </p:spTree>
    <p:extLst>
      <p:ext uri="{BB962C8B-B14F-4D97-AF65-F5344CB8AC3E}">
        <p14:creationId xmlns:p14="http://schemas.microsoft.com/office/powerpoint/2010/main" val="8970213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E2D4C9-A2CB-D7FE-F0F3-155439E193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633416F-828B-13CD-0D50-9CBAD97286F1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Error evaluations: Speculations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55611A69-34CB-383E-BF1F-2C86EF2498D8}"/>
              </a:ext>
            </a:extLst>
          </p:cNvPr>
          <p:cNvSpPr txBox="1">
            <a:spLocks/>
          </p:cNvSpPr>
          <p:nvPr/>
        </p:nvSpPr>
        <p:spPr>
          <a:xfrm>
            <a:off x="8483346" y="4704588"/>
            <a:ext cx="480060" cy="2738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050" b="1" kern="1200">
                <a:solidFill>
                  <a:srgbClr val="FFFFFF"/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475F232-FFFE-5E6C-5554-2F165DAD28C0}" type="slidenum">
              <a:rPr lang="en-JP" smtClean="0"/>
              <a:pPr/>
              <a:t>19</a:t>
            </a:fld>
            <a:endParaRPr lang="en-JP" dirty="0"/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BE3D6679-4E1C-6CB2-8E0E-6DB2915029E8}"/>
              </a:ext>
            </a:extLst>
          </p:cNvPr>
          <p:cNvSpPr txBox="1">
            <a:spLocks/>
          </p:cNvSpPr>
          <p:nvPr/>
        </p:nvSpPr>
        <p:spPr>
          <a:xfrm>
            <a:off x="323528" y="707816"/>
            <a:ext cx="8218099" cy="4305013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solidFill>
                  <a:schemeClr val="accent1"/>
                </a:solidFill>
              </a:rPr>
              <a:t>➔ </a:t>
            </a:r>
            <a:r>
              <a:rPr lang="en-US" sz="2000" b="0" dirty="0"/>
              <a:t>Images are 640x480 pixels (x, y)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solidFill>
                  <a:schemeClr val="accent1"/>
                </a:solidFill>
              </a:rPr>
              <a:t>➔ </a:t>
            </a:r>
            <a:r>
              <a:rPr lang="en-US" sz="2000" b="0" dirty="0"/>
              <a:t>Less information on y axis, larger error for y and pitch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solidFill>
                  <a:schemeClr val="accent1"/>
                </a:solidFill>
              </a:rPr>
              <a:t>➔ </a:t>
            </a:r>
            <a:r>
              <a:rPr lang="en-US" sz="2000" b="0" dirty="0"/>
              <a:t>Translation is easier to estimate as x and y are directly deductible from images</a:t>
            </a:r>
          </a:p>
        </p:txBody>
      </p:sp>
    </p:spTree>
    <p:extLst>
      <p:ext uri="{BB962C8B-B14F-4D97-AF65-F5344CB8AC3E}">
        <p14:creationId xmlns:p14="http://schemas.microsoft.com/office/powerpoint/2010/main" val="29530169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72A54-EFF1-0DD3-8B72-D1118A76A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93795D4-9769-767F-0C3B-A3C64F0911F9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Next steps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2C3F9B93-2FCE-4745-B4A9-7BDAFE361884}"/>
              </a:ext>
            </a:extLst>
          </p:cNvPr>
          <p:cNvSpPr txBox="1">
            <a:spLocks/>
          </p:cNvSpPr>
          <p:nvPr/>
        </p:nvSpPr>
        <p:spPr>
          <a:xfrm>
            <a:off x="8483346" y="4704588"/>
            <a:ext cx="480060" cy="2738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050" b="1" kern="1200">
                <a:solidFill>
                  <a:srgbClr val="FFFFFF"/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475F232-FFFE-5E6C-5554-2F165DAD28C0}" type="slidenum">
              <a:rPr lang="en-JP" smtClean="0"/>
              <a:pPr/>
              <a:t>20</a:t>
            </a:fld>
            <a:endParaRPr lang="en-JP" dirty="0"/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891697E6-BCDC-260C-B1D3-FAE5FAF76FC5}"/>
              </a:ext>
            </a:extLst>
          </p:cNvPr>
          <p:cNvSpPr txBox="1">
            <a:spLocks/>
          </p:cNvSpPr>
          <p:nvPr/>
        </p:nvSpPr>
        <p:spPr>
          <a:xfrm>
            <a:off x="323528" y="707816"/>
            <a:ext cx="8218099" cy="4305013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9E3611"/>
              </a:buClr>
            </a:pPr>
            <a:r>
              <a:rPr lang="en-US" sz="2000" b="0" dirty="0">
                <a:ea typeface="游ゴシック Medium"/>
                <a:cs typeface="Times New Roman"/>
              </a:rPr>
              <a:t>Improve 2D IR</a:t>
            </a:r>
            <a:endParaRPr lang="en-US" sz="1850" b="0" dirty="0">
              <a:ea typeface="游ゴシック Medium"/>
              <a:cs typeface="Times New Roman"/>
            </a:endParaRPr>
          </a:p>
          <a:p>
            <a:pPr>
              <a:buClr>
                <a:srgbClr val="9E3611"/>
              </a:buClr>
            </a:pPr>
            <a:r>
              <a:rPr lang="en-US" sz="2000" b="0" dirty="0">
                <a:ea typeface="游ゴシック Medium"/>
                <a:cs typeface="Times New Roman"/>
              </a:rPr>
              <a:t>Combine with PGO</a:t>
            </a:r>
          </a:p>
          <a:p>
            <a:pPr lvl="1">
              <a:buClr>
                <a:srgbClr val="9E3611"/>
              </a:buClr>
            </a:pPr>
            <a:r>
              <a:rPr lang="en-US" sz="1850" b="0" dirty="0">
                <a:ea typeface="游ゴシック Medium"/>
                <a:cs typeface="Times New Roman"/>
              </a:rPr>
              <a:t>Jitter?</a:t>
            </a:r>
          </a:p>
          <a:p>
            <a:pPr lvl="1">
              <a:buClr>
                <a:srgbClr val="9E3611"/>
              </a:buClr>
            </a:pPr>
            <a:r>
              <a:rPr lang="en-US" sz="1850" b="0" dirty="0">
                <a:ea typeface="游ゴシック Medium"/>
                <a:cs typeface="Times New Roman"/>
              </a:rPr>
              <a:t>Error?</a:t>
            </a:r>
          </a:p>
          <a:p>
            <a:pPr>
              <a:buClr>
                <a:srgbClr val="9E3611"/>
              </a:buClr>
            </a:pPr>
            <a:r>
              <a:rPr lang="en-US" sz="2000" b="0" dirty="0">
                <a:ea typeface="游ゴシック Medium"/>
                <a:cs typeface="Times New Roman"/>
              </a:rPr>
              <a:t>Try 3D IR</a:t>
            </a:r>
          </a:p>
          <a:p>
            <a:pPr>
              <a:buClr>
                <a:srgbClr val="9E3611"/>
              </a:buClr>
            </a:pPr>
            <a:endParaRPr lang="en-US" sz="2000" b="0" dirty="0">
              <a:ea typeface="游ゴシック Medium"/>
              <a:cs typeface="Times New Roman"/>
            </a:endParaRPr>
          </a:p>
          <a:p>
            <a:pPr>
              <a:buClr>
                <a:srgbClr val="9E3611"/>
              </a:buClr>
            </a:pPr>
            <a:r>
              <a:rPr lang="en-US" sz="2000" b="0" dirty="0">
                <a:ea typeface="游ゴシック Medium"/>
                <a:cs typeface="Times New Roman"/>
              </a:rPr>
              <a:t>Write Master Thesis</a:t>
            </a:r>
          </a:p>
        </p:txBody>
      </p:sp>
    </p:spTree>
    <p:extLst>
      <p:ext uri="{BB962C8B-B14F-4D97-AF65-F5344CB8AC3E}">
        <p14:creationId xmlns:p14="http://schemas.microsoft.com/office/powerpoint/2010/main" val="39617546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木版活字">
  <a:themeElements>
    <a:clrScheme name="木版活字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木版活字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木版活字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 name="Theme2">
  <a:themeElements>
    <a:clrScheme name="Theme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heme2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heme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352A53F757E5E848A18782864458E644" ma:contentTypeVersion="43" ma:contentTypeDescription="新しいドキュメントを作成します。" ma:contentTypeScope="" ma:versionID="e58177412e1512208a553d6b419372bf">
  <xsd:schema xmlns:xsd="http://www.w3.org/2001/XMLSchema" xmlns:xs="http://www.w3.org/2001/XMLSchema" xmlns:p="http://schemas.microsoft.com/office/2006/metadata/properties" xmlns:ns2="f61654bb-b7fc-45ad-85e3-d08f7c4a7ee2" xmlns:ns3="bbdc8989-56fb-4b1d-a38b-166581c893ff" targetNamespace="http://schemas.microsoft.com/office/2006/metadata/properties" ma:root="true" ma:fieldsID="41a5810d8518a876aecc1f17313a65be" ns2:_="" ns3:_="">
    <xsd:import namespace="f61654bb-b7fc-45ad-85e3-d08f7c4a7ee2"/>
    <xsd:import namespace="bbdc8989-56fb-4b1d-a38b-166581c893ff"/>
    <xsd:element name="properties">
      <xsd:complexType>
        <xsd:sequence>
          <xsd:element name="documentManagement">
            <xsd:complexType>
              <xsd:all>
                <xsd:element ref="ns2:Authors" minOccurs="0"/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Location" minOccurs="0"/>
                <xsd:element ref="ns2:MediaLengthInSeconds" minOccurs="0"/>
                <xsd:element ref="ns2:Author0" minOccurs="0"/>
                <xsd:element ref="ns2:Title0" minOccurs="0"/>
                <xsd:element ref="ns2:Year" minOccurs="0"/>
                <xsd:element ref="ns2:MediaServiceObjectDetectorVersions" minOccurs="0"/>
                <xsd:element ref="ns2:NotebookType" minOccurs="0"/>
                <xsd:element ref="ns2:FolderType" minOccurs="0"/>
                <xsd:element ref="ns2:CultureName" minOccurs="0"/>
                <xsd:element ref="ns2:AppVersion" minOccurs="0"/>
                <xsd:element ref="ns2:TeamsChannelId" minOccurs="0"/>
                <xsd:element ref="ns2:Owner" minOccurs="0"/>
                <xsd:element ref="ns2:Math_Settings" minOccurs="0"/>
                <xsd:element ref="ns2:DefaultSectionNames" minOccurs="0"/>
                <xsd:element ref="ns2:Templates" minOccurs="0"/>
                <xsd:element ref="ns2:Leaders" minOccurs="0"/>
                <xsd:element ref="ns2:Members" minOccurs="0"/>
                <xsd:element ref="ns2:Member_Groups" minOccurs="0"/>
                <xsd:element ref="ns2:Distribution_Groups" minOccurs="0"/>
                <xsd:element ref="ns2:LMS_Mappings" minOccurs="0"/>
                <xsd:element ref="ns2:Invited_Leaders" minOccurs="0"/>
                <xsd:element ref="ns2:Invited_Members" minOccurs="0"/>
                <xsd:element ref="ns2:Self_Registration_Enabled" minOccurs="0"/>
                <xsd:element ref="ns2:Has_Leaders_Only_SectionGroup" minOccurs="0"/>
                <xsd:element ref="ns2:Is_Collaboration_Space_Locked" minOccurs="0"/>
                <xsd:element ref="ns2:IsNotebookLocked" minOccurs="0"/>
                <xsd:element ref="ns2:Teams_Channel_Section_Location" minOccurs="0"/>
                <xsd:element ref="ns2:MediaServiceSearchProperties" minOccurs="0"/>
                <xsd:element ref="ns2:_x30a2__x30c3__x30d7__x30ed__x30fc__x30c9__x65e5__x4ed8_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654bb-b7fc-45ad-85e3-d08f7c4a7ee2" elementFormDefault="qualified">
    <xsd:import namespace="http://schemas.microsoft.com/office/2006/documentManagement/types"/>
    <xsd:import namespace="http://schemas.microsoft.com/office/infopath/2007/PartnerControls"/>
    <xsd:element name="Authors" ma:index="2" nillable="true" ma:displayName="Authors" ma:format="Dropdown" ma:internalName="Authors" ma:readOnly="false">
      <xsd:simpleType>
        <xsd:restriction base="dms:Text">
          <xsd:maxLength value="255"/>
        </xsd:restriction>
      </xsd:simple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画像タグ" ma:readOnly="false" ma:fieldId="{5cf76f15-5ced-4ddc-b409-7134ff3c332f}" ma:taxonomyMulti="true" ma:sspId="753b2be4-fe80-4689-baed-1a5cffa4265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hidden="true" ma:internalName="MediaServiceOCR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Location" ma:index="19" nillable="true" ma:displayName="Location" ma:hidden="true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Author0" ma:index="22" nillable="true" ma:displayName="Author" ma:format="Dropdown" ma:hidden="true" ma:internalName="Author0" ma:readOnly="false">
      <xsd:simpleType>
        <xsd:restriction base="dms:Text">
          <xsd:maxLength value="255"/>
        </xsd:restriction>
      </xsd:simpleType>
    </xsd:element>
    <xsd:element name="Title0" ma:index="23" nillable="true" ma:displayName="Title" ma:format="Dropdown" ma:internalName="Title0">
      <xsd:simpleType>
        <xsd:restriction base="dms:Text">
          <xsd:maxLength value="255"/>
        </xsd:restriction>
      </xsd:simpleType>
    </xsd:element>
    <xsd:element name="Year" ma:index="24" nillable="true" ma:displayName="Year" ma:format="Dropdown" ma:indexed="true" ma:internalName="Year">
      <xsd:simpleType>
        <xsd:restriction base="dms:Text">
          <xsd:maxLength value="255"/>
        </xsd:restriction>
      </xsd:simpleType>
    </xsd:element>
    <xsd:element name="MediaServiceObjectDetectorVersions" ma:index="2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NotebookType" ma:index="26" nillable="true" ma:displayName="Notebook Type" ma:internalName="NotebookType">
      <xsd:simpleType>
        <xsd:restriction base="dms:Text"/>
      </xsd:simpleType>
    </xsd:element>
    <xsd:element name="FolderType" ma:index="27" nillable="true" ma:displayName="Folder Type" ma:internalName="FolderType">
      <xsd:simpleType>
        <xsd:restriction base="dms:Text"/>
      </xsd:simpleType>
    </xsd:element>
    <xsd:element name="CultureName" ma:index="28" nillable="true" ma:displayName="Culture Name" ma:internalName="CultureName">
      <xsd:simpleType>
        <xsd:restriction base="dms:Text"/>
      </xsd:simpleType>
    </xsd:element>
    <xsd:element name="AppVersion" ma:index="29" nillable="true" ma:displayName="App Version" ma:internalName="AppVersion">
      <xsd:simpleType>
        <xsd:restriction base="dms:Text"/>
      </xsd:simpleType>
    </xsd:element>
    <xsd:element name="TeamsChannelId" ma:index="30" nillable="true" ma:displayName="Teams Channel Id" ma:internalName="TeamsChannelId">
      <xsd:simpleType>
        <xsd:restriction base="dms:Text"/>
      </xsd:simpleType>
    </xsd:element>
    <xsd:element name="Owner" ma:index="31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ath_Settings" ma:index="32" nillable="true" ma:displayName="Math Settings" ma:internalName="Math_Settings">
      <xsd:simpleType>
        <xsd:restriction base="dms:Text"/>
      </xsd:simpleType>
    </xsd:element>
    <xsd:element name="DefaultSectionNames" ma:index="33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34" nillable="true" ma:displayName="Templates" ma:internalName="Templates">
      <xsd:simpleType>
        <xsd:restriction base="dms:Note">
          <xsd:maxLength value="255"/>
        </xsd:restriction>
      </xsd:simpleType>
    </xsd:element>
    <xsd:element name="Leaders" ma:index="35" nillable="true" ma:displayName="Leaders" ma:internalName="Lead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mbers" ma:index="36" nillable="true" ma:displayName="Members" ma:internalName="Memb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mber_Groups" ma:index="37" nillable="true" ma:displayName="Member Groups" ma:internalName="Member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istribution_Groups" ma:index="38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9" nillable="true" ma:displayName="LMS Mappings" ma:internalName="LMS_Mappings">
      <xsd:simpleType>
        <xsd:restriction base="dms:Note">
          <xsd:maxLength value="255"/>
        </xsd:restriction>
      </xsd:simpleType>
    </xsd:element>
    <xsd:element name="Invited_Leaders" ma:index="40" nillable="true" ma:displayName="Invited Leaders" ma:internalName="Invited_Leaders">
      <xsd:simpleType>
        <xsd:restriction base="dms:Note">
          <xsd:maxLength value="255"/>
        </xsd:restriction>
      </xsd:simpleType>
    </xsd:element>
    <xsd:element name="Invited_Members" ma:index="41" nillable="true" ma:displayName="Invited Members" ma:internalName="Invited_Members">
      <xsd:simpleType>
        <xsd:restriction base="dms:Note">
          <xsd:maxLength value="255"/>
        </xsd:restriction>
      </xsd:simpleType>
    </xsd:element>
    <xsd:element name="Self_Registration_Enabled" ma:index="42" nillable="true" ma:displayName="Self Registration Enabled" ma:internalName="Self_Registration_Enabled">
      <xsd:simpleType>
        <xsd:restriction base="dms:Boolean"/>
      </xsd:simpleType>
    </xsd:element>
    <xsd:element name="Has_Leaders_Only_SectionGroup" ma:index="43" nillable="true" ma:displayName="Has Leaders Only SectionGroup" ma:internalName="Has_Leaders_Only_SectionGroup">
      <xsd:simpleType>
        <xsd:restriction base="dms:Boolean"/>
      </xsd:simpleType>
    </xsd:element>
    <xsd:element name="Is_Collaboration_Space_Locked" ma:index="44" nillable="true" ma:displayName="Is Collaboration Space Locked" ma:internalName="Is_Collaboration_Space_Locked">
      <xsd:simpleType>
        <xsd:restriction base="dms:Boolean"/>
      </xsd:simpleType>
    </xsd:element>
    <xsd:element name="IsNotebookLocked" ma:index="45" nillable="true" ma:displayName="Is Notebook Locked" ma:internalName="IsNotebookLocked">
      <xsd:simpleType>
        <xsd:restriction base="dms:Boolean"/>
      </xsd:simpleType>
    </xsd:element>
    <xsd:element name="Teams_Channel_Section_Location" ma:index="46" nillable="true" ma:displayName="Teams Channel Section Location" ma:internalName="Teams_Channel_Section_Location">
      <xsd:simpleType>
        <xsd:restriction base="dms:Text"/>
      </xsd:simpleType>
    </xsd:element>
    <xsd:element name="MediaServiceSearchProperties" ma:index="47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x30a2__x30c3__x30d7__x30ed__x30fc__x30c9__x65e5__x4ed8_" ma:index="48" nillable="true" ma:displayName="アップロード日付" ma:format="Dropdown" ma:internalName="_x30a2__x30c3__x30d7__x30ed__x30fc__x30c9__x65e5__x4ed8_">
      <xsd:simpleType>
        <xsd:restriction base="dms:Text">
          <xsd:maxLength value="255"/>
        </xsd:restriction>
      </xsd:simpleType>
    </xsd:element>
    <xsd:element name="MediaServiceBillingMetadata" ma:index="4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bdc8989-56fb-4b1d-a38b-166581c893ff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621ce9b0-18e4-41e2-8ccf-cb74b8811c8e}" ma:internalName="TaxCatchAll" ma:readOnly="false" ma:showField="CatchAllData" ma:web="bbdc8989-56fb-4b1d-a38b-166581c893f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共有相手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共有相手の詳細情報" ma:hidden="true" ma:internalName="SharedWithDetail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コンテンツ タイプ"/>
        <xsd:element ref="dc:title" minOccurs="0" maxOccurs="1" ma:index="1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bbdc8989-56fb-4b1d-a38b-166581c893ff" xsi:nil="true"/>
    <lcf76f155ced4ddcb4097134ff3c332f xmlns="f61654bb-b7fc-45ad-85e3-d08f7c4a7ee2">
      <Terms xmlns="http://schemas.microsoft.com/office/infopath/2007/PartnerControls"/>
    </lcf76f155ced4ddcb4097134ff3c332f>
    <Title0 xmlns="f61654bb-b7fc-45ad-85e3-d08f7c4a7ee2" xsi:nil="true"/>
    <Year xmlns="f61654bb-b7fc-45ad-85e3-d08f7c4a7ee2" xsi:nil="true"/>
    <Author0 xmlns="f61654bb-b7fc-45ad-85e3-d08f7c4a7ee2" xsi:nil="true"/>
    <Authors xmlns="f61654bb-b7fc-45ad-85e3-d08f7c4a7ee2" xsi:nil="true"/>
    <NotebookType xmlns="f61654bb-b7fc-45ad-85e3-d08f7c4a7ee2" xsi:nil="true"/>
    <Templates xmlns="f61654bb-b7fc-45ad-85e3-d08f7c4a7ee2" xsi:nil="true"/>
    <AppVersion xmlns="f61654bb-b7fc-45ad-85e3-d08f7c4a7ee2" xsi:nil="true"/>
    <IsNotebookLocked xmlns="f61654bb-b7fc-45ad-85e3-d08f7c4a7ee2" xsi:nil="true"/>
    <Self_Registration_Enabled xmlns="f61654bb-b7fc-45ad-85e3-d08f7c4a7ee2" xsi:nil="true"/>
    <Has_Leaders_Only_SectionGroup xmlns="f61654bb-b7fc-45ad-85e3-d08f7c4a7ee2" xsi:nil="true"/>
    <Invited_Members xmlns="f61654bb-b7fc-45ad-85e3-d08f7c4a7ee2" xsi:nil="true"/>
    <Is_Collaboration_Space_Locked xmlns="f61654bb-b7fc-45ad-85e3-d08f7c4a7ee2" xsi:nil="true"/>
    <LMS_Mappings xmlns="f61654bb-b7fc-45ad-85e3-d08f7c4a7ee2" xsi:nil="true"/>
    <Invited_Leaders xmlns="f61654bb-b7fc-45ad-85e3-d08f7c4a7ee2" xsi:nil="true"/>
    <Math_Settings xmlns="f61654bb-b7fc-45ad-85e3-d08f7c4a7ee2" xsi:nil="true"/>
    <Members xmlns="f61654bb-b7fc-45ad-85e3-d08f7c4a7ee2">
      <UserInfo>
        <DisplayName/>
        <AccountId xsi:nil="true"/>
        <AccountType/>
      </UserInfo>
    </Members>
    <DefaultSectionNames xmlns="f61654bb-b7fc-45ad-85e3-d08f7c4a7ee2" xsi:nil="true"/>
    <TeamsChannelId xmlns="f61654bb-b7fc-45ad-85e3-d08f7c4a7ee2" xsi:nil="true"/>
    <FolderType xmlns="f61654bb-b7fc-45ad-85e3-d08f7c4a7ee2" xsi:nil="true"/>
    <Leaders xmlns="f61654bb-b7fc-45ad-85e3-d08f7c4a7ee2">
      <UserInfo>
        <DisplayName/>
        <AccountId xsi:nil="true"/>
        <AccountType/>
      </UserInfo>
    </Leaders>
    <Distribution_Groups xmlns="f61654bb-b7fc-45ad-85e3-d08f7c4a7ee2" xsi:nil="true"/>
    <Member_Groups xmlns="f61654bb-b7fc-45ad-85e3-d08f7c4a7ee2">
      <UserInfo>
        <DisplayName/>
        <AccountId xsi:nil="true"/>
        <AccountType/>
      </UserInfo>
    </Member_Groups>
    <Teams_Channel_Section_Location xmlns="f61654bb-b7fc-45ad-85e3-d08f7c4a7ee2" xsi:nil="true"/>
    <CultureName xmlns="f61654bb-b7fc-45ad-85e3-d08f7c4a7ee2" xsi:nil="true"/>
    <Owner xmlns="f61654bb-b7fc-45ad-85e3-d08f7c4a7ee2">
      <UserInfo>
        <DisplayName/>
        <AccountId xsi:nil="true"/>
        <AccountType/>
      </UserInfo>
    </Owner>
    <_x30a2__x30c3__x30d7__x30ed__x30fc__x30c9__x65e5__x4ed8_ xmlns="f61654bb-b7fc-45ad-85e3-d08f7c4a7ee2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2D09310-C45E-477D-9B05-494A1C2D178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654bb-b7fc-45ad-85e3-d08f7c4a7ee2"/>
    <ds:schemaRef ds:uri="bbdc8989-56fb-4b1d-a38b-166581c893f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26A834E-B1B5-46FD-BC6A-86110B9E53A8}">
  <ds:schemaRefs>
    <ds:schemaRef ds:uri="f61654bb-b7fc-45ad-85e3-d08f7c4a7ee2"/>
    <ds:schemaRef ds:uri="http://schemas.microsoft.com/office/infopath/2007/PartnerControls"/>
    <ds:schemaRef ds:uri="http://purl.org/dc/dcmitype/"/>
    <ds:schemaRef ds:uri="http://purl.org/dc/elements/1.1/"/>
    <ds:schemaRef ds:uri="bbdc8989-56fb-4b1d-a38b-166581c893ff"/>
    <ds:schemaRef ds:uri="http://purl.org/dc/terms/"/>
    <ds:schemaRef ds:uri="http://schemas.microsoft.com/office/2006/documentManagement/types"/>
    <ds:schemaRef ds:uri="http://www.w3.org/XML/1998/namespace"/>
    <ds:schemaRef ds:uri="http://schemas.openxmlformats.org/package/2006/metadata/core-properties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0A8BCAEC-5EDD-4F8B-8062-E645C37DABB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TM03090434[[fn=木版活字]]</Template>
  <TotalTime>2977</TotalTime>
  <Words>961</Words>
  <Application>Microsoft Office PowerPoint</Application>
  <PresentationFormat>On-screen Show (16:9)</PresentationFormat>
  <Paragraphs>250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30" baseType="lpstr">
      <vt:lpstr>Yu Gothic Medium</vt:lpstr>
      <vt:lpstr>Yu Gothic Medium</vt:lpstr>
      <vt:lpstr>Abadi</vt:lpstr>
      <vt:lpstr>Arial</vt:lpstr>
      <vt:lpstr>Cambria</vt:lpstr>
      <vt:lpstr>Cambria Math</vt:lpstr>
      <vt:lpstr>Rockwell</vt:lpstr>
      <vt:lpstr>Rockwell Condensed</vt:lpstr>
      <vt:lpstr>Wingdings</vt:lpstr>
      <vt:lpstr>木版活字</vt:lpstr>
      <vt:lpstr>Pose Graph Optimization for Vision-Only Freehand 3D Ultrasound Reconstruction</vt:lpstr>
      <vt:lpstr>   What did I do?</vt:lpstr>
      <vt:lpstr>   Image Registration: Basics</vt:lpstr>
      <vt:lpstr>   Image Registration: Combination of transforms</vt:lpstr>
      <vt:lpstr>   Image Registration: SimpleITK</vt:lpstr>
      <vt:lpstr>  Image Registration: Results</vt:lpstr>
      <vt:lpstr>   Image Registration: Results</vt:lpstr>
      <vt:lpstr>   Image Registration: Results</vt:lpstr>
      <vt:lpstr>   Image Registration: Results</vt:lpstr>
      <vt:lpstr>   Image Registration: Problem</vt:lpstr>
      <vt:lpstr>   Counter measures</vt:lpstr>
      <vt:lpstr>   Counter measures</vt:lpstr>
      <vt:lpstr>   Counter measures</vt:lpstr>
      <vt:lpstr>   Counter measures</vt:lpstr>
      <vt:lpstr>   Counter measures</vt:lpstr>
      <vt:lpstr>   Error evaluations</vt:lpstr>
      <vt:lpstr>   Error evaluations</vt:lpstr>
      <vt:lpstr>   Error evaluations</vt:lpstr>
      <vt:lpstr>  Error evaluations: Speculations</vt:lpstr>
      <vt:lpstr>   Next steps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 Presentation</dc:title>
  <dc:subject/>
  <dc:creator>Unknown Creator</dc:creator>
  <cp:keywords/>
  <dc:description/>
  <cp:lastModifiedBy>brgzg 2001</cp:lastModifiedBy>
  <cp:revision>1322</cp:revision>
  <dcterms:created xsi:type="dcterms:W3CDTF">2020-07-20T06:28:23Z</dcterms:created>
  <dcterms:modified xsi:type="dcterms:W3CDTF">2026-07-17T07:35:14Z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0x010100352A53F757E5E848A18782864458E644</vt:lpwstr>
  </property>
  <property fmtid="{D5CDD505-2E9C-101B-9397-08002B2CF9AE}" pid="3" name="MediaServiceImageTags">
    <vt:lpwstr/>
  </property>
</Properties>
</file>