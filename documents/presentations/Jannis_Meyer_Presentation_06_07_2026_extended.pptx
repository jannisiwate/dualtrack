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284242785" r:id="rId4"/>
  </p:sldMasterIdLst>
  <p:notesMasterIdLst>
    <p:notesMasterId r:id="rId24"/>
  </p:notesMasterIdLst>
  <p:sldIdLst>
    <p:sldId id="256" r:id="rId5"/>
    <p:sldId id="282" r:id="rId6"/>
    <p:sldId id="296" r:id="rId7"/>
    <p:sldId id="297" r:id="rId8"/>
    <p:sldId id="286" r:id="rId9"/>
    <p:sldId id="299" r:id="rId10"/>
    <p:sldId id="300" r:id="rId11"/>
    <p:sldId id="301" r:id="rId12"/>
    <p:sldId id="298" r:id="rId13"/>
    <p:sldId id="302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03" r:id="rId23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78694-1E1C-66CA-0E75-1DD917A87028}" v="16" dt="2026-04-20T05:11:42.250"/>
    <p1510:client id="{090E6414-710A-A14B-BA3F-16AC7C122D1A}" v="3" dt="2026-04-19T13:11:33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150" autoAdjust="0"/>
  </p:normalViewPr>
  <p:slideViewPr>
    <p:cSldViewPr>
      <p:cViewPr varScale="1">
        <p:scale>
          <a:sx n="111" d="100"/>
          <a:sy n="111" d="100"/>
        </p:scale>
        <p:origin x="9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98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7315200" cy="2700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18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1389-0821-4682-D9C0-5C395DD7C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2EEA0-A488-5FC5-F9F9-2B5CDAC74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939AB-37A0-B2C6-427A-027C0FA26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620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4DD3-64F3-8232-353D-F77CE363F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6DDA7-5173-7335-429B-31316B75A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306C7-AB11-E097-381C-289331DFE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588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6842-0B0E-91C8-7F35-B356EFFB7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FB22F-F84F-D3D2-EF9C-3CF06ED16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00DD1-C3C9-F066-CCEC-C1128C44A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665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973B-E51E-FE48-A457-2C39A84F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78778-BE6F-A199-3EDC-09525DED6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949C-59CE-8F46-43E0-68FFBF397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TUSREC24, 72 scans</a:t>
            </a:r>
          </a:p>
          <a:p>
            <a:pPr marL="171450" indent="-171450">
              <a:buFontTx/>
              <a:buChar char="-"/>
            </a:pPr>
            <a:r>
              <a:rPr lang="en-US" dirty="0"/>
              <a:t>Slight correlation between transform magnitude and error, especially for large values</a:t>
            </a:r>
          </a:p>
        </p:txBody>
      </p:sp>
    </p:spTree>
    <p:extLst>
      <p:ext uri="{BB962C8B-B14F-4D97-AF65-F5344CB8AC3E}">
        <p14:creationId xmlns:p14="http://schemas.microsoft.com/office/powerpoint/2010/main" val="596583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110AB-35FE-15B6-B7ED-5B05C5D5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FE2BB-792B-A211-B750-0BC0AFDD4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ACF089-96BD-1CC4-EF9C-2166115FE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TUSREC24, one scan, first 100 frames</a:t>
            </a:r>
          </a:p>
          <a:p>
            <a:pPr marL="171450" indent="-171450">
              <a:buFontTx/>
              <a:buChar char="-"/>
            </a:pPr>
            <a:r>
              <a:rPr lang="en-US" dirty="0"/>
              <a:t>general trend is fine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Note: z, pitch, roll from </a:t>
            </a:r>
            <a:r>
              <a:rPr lang="en-US" dirty="0" err="1"/>
              <a:t>DualTrack</a:t>
            </a:r>
            <a:r>
              <a:rPr lang="en-US" dirty="0"/>
              <a:t>: No jitter</a:t>
            </a:r>
          </a:p>
        </p:txBody>
      </p:sp>
    </p:spTree>
    <p:extLst>
      <p:ext uri="{BB962C8B-B14F-4D97-AF65-F5344CB8AC3E}">
        <p14:creationId xmlns:p14="http://schemas.microsoft.com/office/powerpoint/2010/main" val="1878294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9E11-F854-381E-81FF-78627306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D516A-FCAB-3BAD-E4AA-0D468D9B7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21611-294A-235E-8221-D36A650DE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285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TUSREC24, one scan each</a:t>
            </a:r>
          </a:p>
          <a:p>
            <a:pPr marL="171450" marR="0" lvl="0" indent="-171450" algn="l" defTabSz="285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General direction is fine</a:t>
            </a:r>
          </a:p>
          <a:p>
            <a:pPr marL="171450" indent="-171450">
              <a:buFontTx/>
              <a:buChar char="-"/>
            </a:pPr>
            <a:r>
              <a:rPr lang="en-US" dirty="0"/>
              <a:t>Again no jitter for </a:t>
            </a:r>
            <a:r>
              <a:rPr lang="en-US" dirty="0" err="1"/>
              <a:t>DualTrack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IR retains jitter</a:t>
            </a:r>
          </a:p>
        </p:txBody>
      </p:sp>
    </p:spTree>
    <p:extLst>
      <p:ext uri="{BB962C8B-B14F-4D97-AF65-F5344CB8AC3E}">
        <p14:creationId xmlns:p14="http://schemas.microsoft.com/office/powerpoint/2010/main" val="4000627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713E8-7E23-C53F-A2B7-7DA3FC6B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82575-8C9D-EC7D-86DD-DC4B643AB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E6708-94EC-1D21-425B-EF7C3C48E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15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13A74-A868-DB05-9DE4-3163F367B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71AA7-33FB-F080-7C37-8E277DC9B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D47DC-0751-CEBC-9F51-035CB3939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311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ADF8-30B9-97A5-CE34-6917ED80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B875A-B9BE-F360-B756-E065FD259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147DA1-D45D-F024-8373-0F3FD3F2B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210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64341-8EFA-C217-8452-C9C7971BB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629CA-266A-54EC-A863-A2D61B272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F28E7-2108-FA33-1A6A-73E282C4D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227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B1BF-973D-F348-BF93-101B22539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F7683-361B-9027-9D3E-9C182C1B2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1709C-1EF3-8205-AE6E-684B26A13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- black: discard</a:t>
            </a:r>
          </a:p>
        </p:txBody>
      </p:sp>
    </p:spTree>
    <p:extLst>
      <p:ext uri="{BB962C8B-B14F-4D97-AF65-F5344CB8AC3E}">
        <p14:creationId xmlns:p14="http://schemas.microsoft.com/office/powerpoint/2010/main" val="1161992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5AD73-38EE-1FEF-45B0-F7E72ECF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01AA7-372A-AE49-E388-B2A1906E5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C760F-9EA3-CD68-F3AD-78591075D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19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E8AF-05FD-06B3-8E0D-7434C880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68ECC-E5AE-A0A2-C8A0-FF86AA57F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4ED51-9B4F-E538-50CA-6F45B9818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4746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3A89F-56A2-C158-071B-625B2066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74E61-4C7F-36D5-8D90-3F41D786A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CBCF0-171D-3AE1-08A5-4ABFC666C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translation: mm; rotation: angle</a:t>
            </a:r>
          </a:p>
        </p:txBody>
      </p:sp>
    </p:spTree>
    <p:extLst>
      <p:ext uri="{BB962C8B-B14F-4D97-AF65-F5344CB8AC3E}">
        <p14:creationId xmlns:p14="http://schemas.microsoft.com/office/powerpoint/2010/main" val="1262070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063BA-5B60-86B2-9CF7-37B0F342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0A639-8CD0-677A-E709-70AF40D2C1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311C9-FA19-5D45-3CF2-61159479E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228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C8A9-21DD-A1F0-71BF-5893402A1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15482-1104-3DDC-EF19-AD9BCAF97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D4472-FBC4-E3B8-C8BE-DE587F080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061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8693E-E9A8-4AE7-5391-88D6D216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44BEE-185E-A9F3-BCCD-840BCD85B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47576-ACEA-80EF-9F41-5CC637778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3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for title"/>
          <p:cNvSpPr>
            <a:spLocks noGrp="1"/>
          </p:cNvSpPr>
          <p:nvPr>
            <p:ph type="title"/>
          </p:nvPr>
        </p:nvSpPr>
        <p:spPr>
          <a:xfrm>
            <a:off x="333375" y="1714500"/>
            <a:ext cx="8477250" cy="857250"/>
          </a:xfrm>
          <a:prstGeom prst="rect">
            <a:avLst/>
          </a:prstGeom>
          <a:noFill/>
        </p:spPr>
        <p:txBody>
          <a:bodyPr lIns="91440" tIns="45720" rIns="91440" bIns="45720" rtlCol="0" anchor="b">
            <a:normAutofit/>
          </a:bodyPr>
          <a:lstStyle>
            <a:lvl1pPr algn="ctr">
              <a:defRPr sz="32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2" name="Placeholder for subTitle"/>
          <p:cNvSpPr>
            <a:spLocks noGrp="1"/>
          </p:cNvSpPr>
          <p:nvPr>
            <p:ph type="subTitle" idx="1"/>
          </p:nvPr>
        </p:nvSpPr>
        <p:spPr>
          <a:xfrm>
            <a:off x="333375" y="2667000"/>
            <a:ext cx="8477250" cy="47625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algn="ctr">
              <a:buNone/>
              <a:defRPr sz="24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subtitle style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2F130D-C690-83C2-6924-37FD2AB42E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794" y="21252"/>
            <a:ext cx="857250" cy="857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33E7D0-000F-827E-D967-EB3DD67E4F07}"/>
              </a:ext>
            </a:extLst>
          </p:cNvPr>
          <p:cNvSpPr/>
          <p:nvPr userDrawn="1"/>
        </p:nvSpPr>
        <p:spPr>
          <a:xfrm>
            <a:off x="8532440" y="4659982"/>
            <a:ext cx="43204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2C3BEFA-417A-1441-26BB-00A8491D7FF5}"/>
              </a:ext>
            </a:extLst>
          </p:cNvPr>
          <p:cNvSpPr/>
          <p:nvPr userDrawn="1"/>
        </p:nvSpPr>
        <p:spPr>
          <a:xfrm>
            <a:off x="539553" y="0"/>
            <a:ext cx="8604448" cy="937052"/>
          </a:xfrm>
          <a:custGeom>
            <a:avLst/>
            <a:gdLst>
              <a:gd name="connsiteX0" fmla="*/ 54054 w 8153211"/>
              <a:gd name="connsiteY0" fmla="*/ 0 h 936104"/>
              <a:gd name="connsiteX1" fmla="*/ 8153211 w 8153211"/>
              <a:gd name="connsiteY1" fmla="*/ 0 h 936104"/>
              <a:gd name="connsiteX2" fmla="*/ 8153211 w 8153211"/>
              <a:gd name="connsiteY2" fmla="*/ 936104 h 936104"/>
              <a:gd name="connsiteX3" fmla="*/ 0 w 8153211"/>
              <a:gd name="connsiteY3" fmla="*/ 936104 h 936104"/>
              <a:gd name="connsiteX4" fmla="*/ 42843 w 8153211"/>
              <a:gd name="connsiteY4" fmla="*/ 922805 h 936104"/>
              <a:gd name="connsiteX5" fmla="*/ 350698 w 8153211"/>
              <a:gd name="connsiteY5" fmla="*/ 458360 h 936104"/>
              <a:gd name="connsiteX6" fmla="*/ 128465 w 8153211"/>
              <a:gd name="connsiteY6" fmla="*/ 40389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53211" h="936104">
                <a:moveTo>
                  <a:pt x="54054" y="0"/>
                </a:moveTo>
                <a:lnTo>
                  <a:pt x="8153211" y="0"/>
                </a:lnTo>
                <a:lnTo>
                  <a:pt x="8153211" y="936104"/>
                </a:lnTo>
                <a:lnTo>
                  <a:pt x="0" y="936104"/>
                </a:lnTo>
                <a:lnTo>
                  <a:pt x="42843" y="922805"/>
                </a:lnTo>
                <a:cubicBezTo>
                  <a:pt x="223757" y="846285"/>
                  <a:pt x="350698" y="667147"/>
                  <a:pt x="350698" y="458360"/>
                </a:cubicBezTo>
                <a:cubicBezTo>
                  <a:pt x="350698" y="284371"/>
                  <a:pt x="262544" y="130972"/>
                  <a:pt x="128465" y="40389"/>
                </a:cubicBezTo>
                <a:close/>
              </a:path>
            </a:pathLst>
          </a:custGeom>
          <a:gradFill flip="none" rotWithShape="1">
            <a:gsLst>
              <a:gs pos="0">
                <a:srgbClr val="00B0F0"/>
              </a:gs>
              <a:gs pos="100000">
                <a:srgbClr val="00B0F0">
                  <a:alpha val="0"/>
                </a:srgbClr>
              </a:gs>
              <a:gs pos="36000">
                <a:srgbClr val="00B0F0">
                  <a:alpha val="6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6088" indent="0" algn="just">
              <a:tabLst/>
            </a:pPr>
            <a:endParaRPr kumimoji="1" lang="ja-JP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36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for body"/>
          <p:cNvSpPr>
            <a:spLocks noGrp="1"/>
          </p:cNvSpPr>
          <p:nvPr>
            <p:ph type="body" hasCustomPrompt="1"/>
          </p:nvPr>
        </p:nvSpPr>
        <p:spPr>
          <a:xfrm>
            <a:off x="133749" y="707816"/>
            <a:ext cx="8832299" cy="3959434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buSzPct val="100000"/>
              <a:buFont typeface="Arial" panose="020B0604020202020204" pitchFamily="34" charset="0"/>
              <a:buChar char="•"/>
              <a:defRPr/>
            </a:lvl1pPr>
            <a:lvl2pPr>
              <a:buSzPct val="100000"/>
              <a:buFont typeface="Arial" panose="020B0604020202020204" pitchFamily="34" charset="0"/>
              <a:buChar char="•"/>
              <a:defRPr/>
            </a:lvl2pPr>
            <a:lvl3pPr>
              <a:buSzPct val="100000"/>
              <a:buFont typeface="Arial" panose="020B0604020202020204" pitchFamily="34" charset="0"/>
              <a:buChar char="•"/>
              <a:defRPr/>
            </a:lvl3pPr>
            <a:lvl4pPr>
              <a:buSzPct val="100000"/>
              <a:buFont typeface="Arial" panose="020B0604020202020204" pitchFamily="34" charset="0"/>
              <a:buChar char="•"/>
              <a:defRPr/>
            </a:lvl4pPr>
            <a:lvl5pPr>
              <a:buSzPct val="100000"/>
              <a:buFont typeface="Arial" panose="020B0604020202020204" pitchFamily="34" charset="0"/>
              <a:buChar char="•"/>
              <a:defRPr/>
            </a:lvl5pPr>
            <a:lvl6pPr>
              <a:buSzPct val="100000"/>
              <a:buFont typeface="Arial" panose="020B0604020202020204" pitchFamily="34" charset="0"/>
              <a:buChar char="•"/>
              <a:defRPr/>
            </a:lvl6pPr>
            <a:lvl7pPr>
              <a:buSzPct val="100000"/>
              <a:buFont typeface="Arial" panose="020B0604020202020204" pitchFamily="34" charset="0"/>
              <a:buChar char="•"/>
              <a:defRPr/>
            </a:lvl7pPr>
            <a:lvl8pPr>
              <a:buSzPct val="100000"/>
              <a:buFont typeface="Arial" panose="020B0604020202020204" pitchFamily="34" charset="0"/>
              <a:buChar char="•"/>
              <a:defRPr/>
            </a:lvl8pPr>
            <a:lvl9pPr>
              <a:buSzPct val="100000"/>
              <a:buFont typeface="Arial" panose="020B0604020202020204" pitchFamily="34" charset="0"/>
              <a:buChar char="•"/>
              <a:defRPr/>
            </a:lvl9pPr>
          </a:lstStyle>
          <a:p>
            <a:r>
              <a:rPr dirty="0"/>
              <a:t>First level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  <a:p>
            <a:pPr lvl="5"/>
            <a:r>
              <a:rPr dirty="0"/>
              <a:t>Sixth level</a:t>
            </a:r>
          </a:p>
          <a:p>
            <a:pPr lvl="6"/>
            <a:r>
              <a:rPr dirty="0"/>
              <a:t>Seventh level</a:t>
            </a:r>
          </a:p>
          <a:p>
            <a:pPr lvl="7"/>
            <a:r>
              <a:rPr dirty="0"/>
              <a:t>Eighth level</a:t>
            </a:r>
          </a:p>
          <a:p>
            <a:pPr lvl="8"/>
            <a:r>
              <a:rPr dirty="0"/>
              <a:t>Ninth level</a:t>
            </a:r>
          </a:p>
        </p:txBody>
      </p:sp>
      <p:sp>
        <p:nvSpPr>
          <p:cNvPr id="11" name="Placeholder for sldNum"/>
          <p:cNvSpPr>
            <a:spLocks noGrp="1"/>
          </p:cNvSpPr>
          <p:nvPr>
            <p:ph type="sldNum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defRPr/>
            </a:lvl1pPr>
          </a:lstStyle>
          <a:p>
            <a:fld id="{7475F232-FFFE-5E6C-5554-2F165DAD28C0}" type="slidenum">
              <a:t>‹#›</a:t>
            </a:fld>
            <a:endParaRPr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EB3908-8FC6-6D84-5753-FED228058B1E}"/>
              </a:ext>
            </a:extLst>
          </p:cNvPr>
          <p:cNvSpPr txBox="1"/>
          <p:nvPr userDrawn="1"/>
        </p:nvSpPr>
        <p:spPr>
          <a:xfrm>
            <a:off x="0" y="0"/>
            <a:ext cx="8733692" cy="523220"/>
          </a:xfrm>
          <a:custGeom>
            <a:avLst/>
            <a:gdLst>
              <a:gd name="connsiteX0" fmla="*/ 0 w 8949956"/>
              <a:gd name="connsiteY0" fmla="*/ 0 h 523220"/>
              <a:gd name="connsiteX1" fmla="*/ 8949956 w 8949956"/>
              <a:gd name="connsiteY1" fmla="*/ 0 h 523220"/>
              <a:gd name="connsiteX2" fmla="*/ 8894599 w 8949956"/>
              <a:gd name="connsiteY2" fmla="*/ 5580 h 523220"/>
              <a:gd name="connsiteX3" fmla="*/ 8617703 w 8949956"/>
              <a:gd name="connsiteY3" fmla="*/ 345320 h 523220"/>
              <a:gd name="connsiteX4" fmla="*/ 8644955 w 8949956"/>
              <a:gd name="connsiteY4" fmla="*/ 480304 h 523220"/>
              <a:gd name="connsiteX5" fmla="*/ 8668249 w 8949956"/>
              <a:gd name="connsiteY5" fmla="*/ 523220 h 523220"/>
              <a:gd name="connsiteX6" fmla="*/ 0 w 8949956"/>
              <a:gd name="connsiteY6" fmla="*/ 52322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9956" h="523220">
                <a:moveTo>
                  <a:pt x="0" y="0"/>
                </a:moveTo>
                <a:lnTo>
                  <a:pt x="8949956" y="0"/>
                </a:lnTo>
                <a:lnTo>
                  <a:pt x="8894599" y="5580"/>
                </a:lnTo>
                <a:cubicBezTo>
                  <a:pt x="8736575" y="37917"/>
                  <a:pt x="8617703" y="177737"/>
                  <a:pt x="8617703" y="345320"/>
                </a:cubicBezTo>
                <a:cubicBezTo>
                  <a:pt x="8617703" y="393201"/>
                  <a:pt x="8627407" y="438816"/>
                  <a:pt x="8644955" y="480304"/>
                </a:cubicBezTo>
                <a:lnTo>
                  <a:pt x="8668249" y="523220"/>
                </a:lnTo>
                <a:lnTo>
                  <a:pt x="0" y="523220"/>
                </a:lnTo>
                <a:close/>
              </a:path>
            </a:pathLst>
          </a:custGeom>
          <a:gradFill flip="none" rotWithShape="1">
            <a:gsLst>
              <a:gs pos="56000">
                <a:srgbClr val="0070C0">
                  <a:alpha val="47000"/>
                </a:srgbClr>
              </a:gs>
              <a:gs pos="100000">
                <a:srgbClr val="0070C0"/>
              </a:gs>
            </a:gsLst>
            <a:lin ang="10800000" scaled="1"/>
            <a:tileRect/>
          </a:gradFill>
        </p:spPr>
        <p:txBody>
          <a:bodyPr wrap="square" lIns="91440" tIns="45720" rIns="91440" bIns="45720" rtlCol="0">
            <a:noAutofit/>
          </a:bodyPr>
          <a:lstStyle>
            <a:lvl1pPr>
              <a:lnSpc>
                <a:spcPct val="100000"/>
              </a:lnSpc>
              <a:defRPr sz="280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■ </a:t>
            </a:r>
            <a:endParaRPr dirty="0"/>
          </a:p>
        </p:txBody>
      </p:sp>
      <p:sp>
        <p:nvSpPr>
          <p:cNvPr id="14" name="Placeholder for title"/>
          <p:cNvSpPr>
            <a:spLocks noGrp="1"/>
          </p:cNvSpPr>
          <p:nvPr>
            <p:ph type="title" idx="2" hasCustomPrompt="1"/>
          </p:nvPr>
        </p:nvSpPr>
        <p:spPr>
          <a:xfrm>
            <a:off x="179512" y="15525"/>
            <a:ext cx="8136904" cy="57150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marL="180975" indent="0">
              <a:defRPr sz="2200" cap="small" baseline="0">
                <a:solidFill>
                  <a:srgbClr val="FFFFFF">
                    <a:alpha val="100000"/>
                  </a:srgb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21EDD68-0082-E9D5-9873-C1A9C91A4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539" y="26245"/>
            <a:ext cx="648072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3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D8EC5374-57E1-C524-E947-346F474B0D38}" type="slidenum">
              <a:rPr lang="en-US" altLang="ja-JP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1878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284242797" r:id="rId1"/>
    <p:sldLayoutId id="2284242798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4050" b="1" kern="1200" cap="all" baseline="0"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游ゴシック Medium" panose="020B0500000000000000" pitchFamily="50" charset="-128"/>
          <a:ea typeface="游ゴシック Medium" panose="020B0500000000000000" pitchFamily="50" charset="-128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5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35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4617107"/>
          <a:chOff x="0" y="0"/>
          <a:chExt cx="9144000" cy="4617107"/>
        </a:xfrm>
      </p:grpSpPr>
      <p:sp>
        <p:nvSpPr>
          <p:cNvPr id="2" name="Placeholder for title"/>
          <p:cNvSpPr>
            <a:spLocks noGrp="1"/>
          </p:cNvSpPr>
          <p:nvPr>
            <p:ph type="title"/>
          </p:nvPr>
        </p:nvSpPr>
        <p:spPr>
          <a:xfrm>
            <a:off x="0" y="1943299"/>
            <a:ext cx="9144000" cy="628451"/>
          </a:xfrm>
          <a:prstGeom prst="rect">
            <a:avLst/>
          </a:prstGeom>
          <a:noFill/>
        </p:spPr>
        <p:txBody>
          <a:bodyPr lIns="91440" tIns="45720" rIns="91440" bIns="45720" rtlCol="0">
            <a:noAutofit/>
          </a:bodyPr>
          <a:lstStyle/>
          <a:p>
            <a:r>
              <a:rPr lang="en-US" dirty="0"/>
              <a:t>Pose Graph Optimization for Vision-Only Freehand 3D Ultrasound Reconstruction</a:t>
            </a:r>
            <a:endParaRPr lang="ja-JP" sz="3200"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3" name="Placeholder for subTitle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/>
          <a:p>
            <a:pPr>
              <a:buNone/>
            </a:pPr>
            <a:r>
              <a:rPr lang="en-US" b="0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Update 01.06.2026</a:t>
            </a:r>
            <a:endParaRPr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cxnSp>
        <p:nvCxnSpPr>
          <p:cNvPr id="4" name="直線コネクタ 3"/>
          <p:cNvCxnSpPr>
            <a:cxnSpLocks/>
          </p:cNvCxnSpPr>
          <p:nvPr/>
        </p:nvCxnSpPr>
        <p:spPr>
          <a:xfrm>
            <a:off x="1475656" y="2581608"/>
            <a:ext cx="6264696" cy="0"/>
          </a:xfrm>
          <a:prstGeom prst="line">
            <a:avLst/>
          </a:prstGeom>
          <a:ln w="34925" cap="flat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7000">
                  <a:srgbClr val="00B0F0">
                    <a:alpha val="15000"/>
                  </a:srgbClr>
                </a:gs>
                <a:gs pos="83000">
                  <a:srgbClr val="00B0F0"/>
                </a:gs>
                <a:gs pos="100000">
                  <a:srgbClr val="00B0F0"/>
                </a:gs>
              </a:gsLst>
              <a:lin ang="10800000" scaled="1"/>
              <a:tileRect/>
            </a:gradFill>
            <a:prstDash val="solid"/>
            <a:round/>
          </a:ln>
        </p:spPr>
      </p:cxnSp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0E8696AE-8609-3F5A-E2EA-9118C2D7BB63}"/>
              </a:ext>
            </a:extLst>
          </p:cNvPr>
          <p:cNvSpPr txBox="1"/>
          <p:nvPr/>
        </p:nvSpPr>
        <p:spPr>
          <a:xfrm>
            <a:off x="0" y="3867894"/>
            <a:ext cx="9143999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buNone/>
            </a:pPr>
            <a:r>
              <a:rPr lang="en-US" altLang="ja-JP" sz="1600" b="1" dirty="0"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Jannis Meyer</a:t>
            </a:r>
            <a:endParaRPr sz="1600" b="1" dirty="0">
              <a:latin typeface="游ゴシック Medium" panose="020B0500000000000000" pitchFamily="50" charset="-128"/>
              <a:ea typeface="游ゴシック Medium" panose="020B0500000000000000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F51D-1F4A-E04A-82D8-9A4283BF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B685D2-3F37-9201-C050-35C8C663A4F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What did I do?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4933E20B-BB1C-95A6-267B-BCA6EEE361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2000" b="0" dirty="0"/>
              <a:t>Enhance Image Registration (IR) (</a:t>
            </a:r>
            <a:r>
              <a:rPr lang="en-US" sz="2000" b="0" dirty="0" err="1"/>
              <a:t>SimpleITK</a:t>
            </a:r>
            <a:r>
              <a:rPr lang="en-US" sz="2000" b="0" dirty="0"/>
              <a:t>, rigid transform, only 2D so far!)</a:t>
            </a:r>
          </a:p>
          <a:p>
            <a:pPr lvl="1">
              <a:buClr>
                <a:srgbClr val="9E3611"/>
              </a:buClr>
            </a:pPr>
            <a:r>
              <a:rPr lang="en-US" sz="1850" b="0" dirty="0"/>
              <a:t>Metrics, optimizers, techniques, parameters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Evaluate IR on whole scans (no application to PGO here yet): Find frame poses only using IR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>
              <a:buClr>
                <a:srgbClr val="9E3611"/>
              </a:buClr>
            </a:pPr>
            <a:r>
              <a:rPr lang="en-US" sz="2000" b="0" dirty="0"/>
              <a:t>Writing Master Thesis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63EE220-6A3A-B3F0-3A80-F744F7697689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2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27902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2B53-B5F2-A1E3-3EBB-B5867E5D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6F34E-01EF-6142-08CA-DF02143894C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Basics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6D7C7229-3472-4A02-4A8E-E5E32A9ABFB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C6C9760-3356-4A61-D00B-8C2E67448ABF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EDAF894-32A7-5310-7C54-33EE09373E6C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3</a:t>
            </a:fld>
            <a:endParaRPr lang="en-JP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1723FDE-40A9-C37B-C89E-1E3A3184345D}"/>
              </a:ext>
            </a:extLst>
          </p:cNvPr>
          <p:cNvSpPr>
            <a:spLocks noGrp="1"/>
          </p:cNvSpPr>
          <p:nvPr>
            <p:ph type="sldNum" idx="1"/>
          </p:nvPr>
        </p:nvSpPr>
        <p:spPr>
          <a:xfrm>
            <a:off x="8483346" y="4704588"/>
            <a:ext cx="480060" cy="273844"/>
          </a:xfrm>
        </p:spPr>
        <p:txBody>
          <a:bodyPr/>
          <a:lstStyle/>
          <a:p>
            <a:fld id="{7475F232-FFFE-5E6C-5554-2F165DAD28C0}" type="slidenum">
              <a:rPr lang="en-JP" smtClean="0"/>
              <a:t>3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8E20572-F08F-1BD2-CC05-0C0DC7518880}"/>
              </a:ext>
            </a:extLst>
          </p:cNvPr>
          <p:cNvSpPr txBox="1">
            <a:spLocks/>
          </p:cNvSpPr>
          <p:nvPr/>
        </p:nvSpPr>
        <p:spPr>
          <a:xfrm>
            <a:off x="251520" y="774789"/>
            <a:ext cx="8640960" cy="24345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Find transform which makes one image align with another</a:t>
            </a: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8" name="Picture 6" descr="Basic example of an image registration procedure. F is the target image, M is the image to be registered, and R′ is the registered image. ">
            <a:extLst>
              <a:ext uri="{FF2B5EF4-FFF2-40B4-BE49-F238E27FC236}">
                <a16:creationId xmlns:a16="http://schemas.microsoft.com/office/drawing/2014/main" id="{C2E2E3ED-A985-C5A8-61B0-404F15D45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877" y="1302362"/>
            <a:ext cx="5128245" cy="135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C78DC5-E40D-7F52-6C67-A948B9DB2666}"/>
              </a:ext>
            </a:extLst>
          </p:cNvPr>
          <p:cNvSpPr txBox="1"/>
          <p:nvPr/>
        </p:nvSpPr>
        <p:spPr>
          <a:xfrm>
            <a:off x="1247594" y="2798217"/>
            <a:ext cx="6648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游ゴシック Medium" panose="020B0500000000000000" pitchFamily="50" charset="-128"/>
              </a:rPr>
              <a:t>Source: https://www.researchgate.net/figure/Basic-example-of-an-image-registration-procedure-F-is-the-target-image-M-is-the-image_fig4_320212021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541FDF-9AC0-DA11-97E8-23BE9D68CA20}"/>
              </a:ext>
            </a:extLst>
          </p:cNvPr>
          <p:cNvSpPr txBox="1"/>
          <p:nvPr/>
        </p:nvSpPr>
        <p:spPr>
          <a:xfrm>
            <a:off x="323528" y="3507854"/>
            <a:ext cx="32031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F: fixed, M: moving</a:t>
            </a:r>
          </a:p>
          <a:p>
            <a:r>
              <a:rPr lang="en-US" sz="2000" dirty="0">
                <a:solidFill>
                  <a:schemeClr val="accent1"/>
                </a:solidFill>
                <a:latin typeface="游ゴシック Medium" panose="020B0500000000000000" pitchFamily="50" charset="-128"/>
              </a:rPr>
              <a:t>➔ </a:t>
            </a:r>
            <a:r>
              <a:rPr lang="en-US" sz="2000" dirty="0" err="1">
                <a:latin typeface="游ゴシック Medium" panose="020B0500000000000000" pitchFamily="50" charset="-128"/>
              </a:rPr>
              <a:t>SimpleITK</a:t>
            </a:r>
            <a:r>
              <a:rPr lang="en-US" sz="2000" dirty="0">
                <a:latin typeface="游ゴシック Medium" panose="020B0500000000000000" pitchFamily="50" charset="-128"/>
              </a:rPr>
              <a:t>: Finds T</a:t>
            </a:r>
            <a:r>
              <a:rPr lang="en-US" sz="2000" baseline="-25000" dirty="0">
                <a:latin typeface="游ゴシック Medium" panose="020B0500000000000000" pitchFamily="50" charset="-128"/>
              </a:rPr>
              <a:t>M➔F</a:t>
            </a:r>
          </a:p>
        </p:txBody>
      </p:sp>
    </p:spTree>
    <p:extLst>
      <p:ext uri="{BB962C8B-B14F-4D97-AF65-F5344CB8AC3E}">
        <p14:creationId xmlns:p14="http://schemas.microsoft.com/office/powerpoint/2010/main" val="275731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B4A2B-423D-99A8-D915-BE58B73D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9BED0A-C42D-E113-00DA-FE9CC602D1CA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Combination of transforms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32A2463-26B6-52EF-00F5-AE43100F6426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4</a:t>
            </a:fld>
            <a:endParaRPr lang="en-JP" dirty="0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513FA28-6BE8-0A43-8E1A-A0633AAD6525}"/>
              </a:ext>
            </a:extLst>
          </p:cNvPr>
          <p:cNvSpPr txBox="1">
            <a:spLocks/>
          </p:cNvSpPr>
          <p:nvPr/>
        </p:nvSpPr>
        <p:spPr>
          <a:xfrm>
            <a:off x="323528" y="784016"/>
            <a:ext cx="8218099" cy="398686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	IR works in 2D and gives 3DoF transforms (x, y, yaw)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	Volume reconstruction works in 3D and needs 6DoF 	transforms (x, y, z, pitch, yaw, roll)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➔ Combine 2D IR pose and 3D </a:t>
            </a:r>
            <a:r>
              <a:rPr lang="en-US" sz="2000" dirty="0" err="1"/>
              <a:t>DualTrack</a:t>
            </a:r>
            <a:r>
              <a:rPr lang="en-US" sz="2000" dirty="0"/>
              <a:t> pose: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     IR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 err="1"/>
              <a:t>DualTrack</a:t>
            </a:r>
            <a:endParaRPr lang="en-US" sz="2000" b="0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339B2C2E-02C6-FBC6-F4E0-D451018F62FA}"/>
              </a:ext>
            </a:extLst>
          </p:cNvPr>
          <p:cNvSpPr txBox="1">
            <a:spLocks/>
          </p:cNvSpPr>
          <p:nvPr/>
        </p:nvSpPr>
        <p:spPr>
          <a:xfrm>
            <a:off x="8635746" y="48569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4</a:t>
            </a:fld>
            <a:endParaRPr lang="en-JP" dirty="0"/>
          </a:p>
        </p:txBody>
      </p:sp>
      <p:sp>
        <p:nvSpPr>
          <p:cNvPr id="8" name="Flowchart: Extract 7">
            <a:extLst>
              <a:ext uri="{FF2B5EF4-FFF2-40B4-BE49-F238E27FC236}">
                <a16:creationId xmlns:a16="http://schemas.microsoft.com/office/drawing/2014/main" id="{EB13424F-58B9-7F73-E2A1-2ECDB187D47E}"/>
              </a:ext>
            </a:extLst>
          </p:cNvPr>
          <p:cNvSpPr/>
          <p:nvPr/>
        </p:nvSpPr>
        <p:spPr>
          <a:xfrm>
            <a:off x="331603" y="913897"/>
            <a:ext cx="571138" cy="429556"/>
          </a:xfrm>
          <a:prstGeom prst="flowChartExtra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游ゴシック Medium" panose="020B0500000000000000" pitchFamily="50" charset="-128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C6CB093-EAB5-BE9B-F7ED-8248CC402F49}"/>
              </a:ext>
            </a:extLst>
          </p:cNvPr>
          <p:cNvSpPr txBox="1">
            <a:spLocks/>
          </p:cNvSpPr>
          <p:nvPr/>
        </p:nvSpPr>
        <p:spPr>
          <a:xfrm>
            <a:off x="473156" y="987574"/>
            <a:ext cx="288031" cy="3040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bg1"/>
                </a:solidFill>
                <a:ea typeface="游ゴシック Medium"/>
                <a:cs typeface="Times New Roman"/>
              </a:rPr>
              <a:t>!</a:t>
            </a:r>
          </a:p>
          <a:p>
            <a:pPr marL="0" indent="0" algn="ctr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D34E499-B241-1F55-648A-4072000A7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711522"/>
              </p:ext>
            </p:extLst>
          </p:nvPr>
        </p:nvGraphicFramePr>
        <p:xfrm>
          <a:off x="5580112" y="3219822"/>
          <a:ext cx="2016224" cy="1245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71151269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8783054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6059481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12462374"/>
                    </a:ext>
                  </a:extLst>
                </a:gridCol>
              </a:tblGrid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60287"/>
                  </a:ext>
                </a:extLst>
              </a:tr>
              <a:tr h="3507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09197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3675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17317"/>
                  </a:ext>
                </a:extLst>
              </a:tr>
            </a:tbl>
          </a:graphicData>
        </a:graphic>
      </p:graphicFrame>
      <p:sp>
        <p:nvSpPr>
          <p:cNvPr id="13" name="Left Bracket 12">
            <a:extLst>
              <a:ext uri="{FF2B5EF4-FFF2-40B4-BE49-F238E27FC236}">
                <a16:creationId xmlns:a16="http://schemas.microsoft.com/office/drawing/2014/main" id="{5E1FC24A-9E7F-EDA6-5D82-7877689F2D55}"/>
              </a:ext>
            </a:extLst>
          </p:cNvPr>
          <p:cNvSpPr/>
          <p:nvPr/>
        </p:nvSpPr>
        <p:spPr>
          <a:xfrm>
            <a:off x="5423920" y="3170943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Bracket 13">
            <a:extLst>
              <a:ext uri="{FF2B5EF4-FFF2-40B4-BE49-F238E27FC236}">
                <a16:creationId xmlns:a16="http://schemas.microsoft.com/office/drawing/2014/main" id="{6D7F319D-AD1F-B275-15D6-99C425155390}"/>
              </a:ext>
            </a:extLst>
          </p:cNvPr>
          <p:cNvSpPr/>
          <p:nvPr/>
        </p:nvSpPr>
        <p:spPr>
          <a:xfrm rot="10800000">
            <a:off x="7289541" y="3170943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D618D0D-FC9F-EF70-28D4-3346B0670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258353"/>
              </p:ext>
            </p:extLst>
          </p:nvPr>
        </p:nvGraphicFramePr>
        <p:xfrm>
          <a:off x="2048272" y="2331635"/>
          <a:ext cx="1446281" cy="10275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170">
                  <a:extLst>
                    <a:ext uri="{9D8B030D-6E8A-4147-A177-3AD203B41FA5}">
                      <a16:colId xmlns:a16="http://schemas.microsoft.com/office/drawing/2014/main" val="71151269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87830547"/>
                    </a:ext>
                  </a:extLst>
                </a:gridCol>
                <a:gridCol w="504055">
                  <a:extLst>
                    <a:ext uri="{9D8B030D-6E8A-4147-A177-3AD203B41FA5}">
                      <a16:colId xmlns:a16="http://schemas.microsoft.com/office/drawing/2014/main" val="2460594816"/>
                    </a:ext>
                  </a:extLst>
                </a:gridCol>
              </a:tblGrid>
              <a:tr h="365186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60287"/>
                  </a:ext>
                </a:extLst>
              </a:tr>
              <a:tr h="36518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09197"/>
                  </a:ext>
                </a:extLst>
              </a:tr>
              <a:tr h="28091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3675"/>
                  </a:ext>
                </a:extLst>
              </a:tr>
            </a:tbl>
          </a:graphicData>
        </a:graphic>
      </p:graphicFrame>
      <p:sp>
        <p:nvSpPr>
          <p:cNvPr id="17" name="Left Bracket 16">
            <a:extLst>
              <a:ext uri="{FF2B5EF4-FFF2-40B4-BE49-F238E27FC236}">
                <a16:creationId xmlns:a16="http://schemas.microsoft.com/office/drawing/2014/main" id="{E52893EF-A2D2-0FFD-851E-BEBE650DCA30}"/>
              </a:ext>
            </a:extLst>
          </p:cNvPr>
          <p:cNvSpPr/>
          <p:nvPr/>
        </p:nvSpPr>
        <p:spPr>
          <a:xfrm>
            <a:off x="1892080" y="2282756"/>
            <a:ext cx="240909" cy="1076431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778F082A-8556-DF6E-C222-266A03334E45}"/>
              </a:ext>
            </a:extLst>
          </p:cNvPr>
          <p:cNvSpPr/>
          <p:nvPr/>
        </p:nvSpPr>
        <p:spPr>
          <a:xfrm rot="10800000">
            <a:off x="3194579" y="2298454"/>
            <a:ext cx="240909" cy="1076431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C8867A3-4A2D-0614-7B06-1ABBD3BC1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011891"/>
              </p:ext>
            </p:extLst>
          </p:nvPr>
        </p:nvGraphicFramePr>
        <p:xfrm>
          <a:off x="2051720" y="3611166"/>
          <a:ext cx="2016224" cy="1245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71151269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8783054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6059481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12462374"/>
                    </a:ext>
                  </a:extLst>
                </a:gridCol>
              </a:tblGrid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60287"/>
                  </a:ext>
                </a:extLst>
              </a:tr>
              <a:tr h="3507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09197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z</a:t>
                      </a:r>
                      <a:endParaRPr lang="en-US" baseline="-25000" dirty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3675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17317"/>
                  </a:ext>
                </a:extLst>
              </a:tr>
            </a:tbl>
          </a:graphicData>
        </a:graphic>
      </p:graphicFrame>
      <p:sp>
        <p:nvSpPr>
          <p:cNvPr id="20" name="Left Bracket 19">
            <a:extLst>
              <a:ext uri="{FF2B5EF4-FFF2-40B4-BE49-F238E27FC236}">
                <a16:creationId xmlns:a16="http://schemas.microsoft.com/office/drawing/2014/main" id="{48AF3A2D-5335-D4AE-A70C-EAF89F8E30E3}"/>
              </a:ext>
            </a:extLst>
          </p:cNvPr>
          <p:cNvSpPr/>
          <p:nvPr/>
        </p:nvSpPr>
        <p:spPr>
          <a:xfrm>
            <a:off x="1895528" y="3562287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B5065C06-BDAF-78F4-C716-A2074C1BAE9C}"/>
              </a:ext>
            </a:extLst>
          </p:cNvPr>
          <p:cNvSpPr/>
          <p:nvPr/>
        </p:nvSpPr>
        <p:spPr>
          <a:xfrm rot="10800000">
            <a:off x="3761149" y="3562287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824662-9373-A6A5-2531-A196D3A25EC0}"/>
              </a:ext>
            </a:extLst>
          </p:cNvPr>
          <p:cNvCxnSpPr/>
          <p:nvPr/>
        </p:nvCxnSpPr>
        <p:spPr>
          <a:xfrm>
            <a:off x="3707904" y="2643758"/>
            <a:ext cx="1584176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C98F4E0-F740-C9E6-5232-CED0E97F7935}"/>
              </a:ext>
            </a:extLst>
          </p:cNvPr>
          <p:cNvSpPr txBox="1"/>
          <p:nvPr/>
        </p:nvSpPr>
        <p:spPr>
          <a:xfrm>
            <a:off x="4160273" y="2446767"/>
            <a:ext cx="105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x, y, yaw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6C3470C-5905-420B-5946-61AFE79ED05A}"/>
              </a:ext>
            </a:extLst>
          </p:cNvPr>
          <p:cNvCxnSpPr/>
          <p:nvPr/>
        </p:nvCxnSpPr>
        <p:spPr>
          <a:xfrm flipV="1">
            <a:off x="4247964" y="4234077"/>
            <a:ext cx="963879" cy="30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A214CE6-C016-CC8D-DEF8-51A7C19AB17F}"/>
              </a:ext>
            </a:extLst>
          </p:cNvPr>
          <p:cNvSpPr txBox="1"/>
          <p:nvPr/>
        </p:nvSpPr>
        <p:spPr>
          <a:xfrm>
            <a:off x="4017766" y="3779266"/>
            <a:ext cx="139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z, pitch, roll</a:t>
            </a:r>
          </a:p>
        </p:txBody>
      </p:sp>
    </p:spTree>
    <p:extLst>
      <p:ext uri="{BB962C8B-B14F-4D97-AF65-F5344CB8AC3E}">
        <p14:creationId xmlns:p14="http://schemas.microsoft.com/office/powerpoint/2010/main" val="3937431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B051-0EF6-8F7B-56A4-C014AFF6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B2CB50-C8A5-0856-D78D-E98286EBC0A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</a:t>
            </a:r>
            <a:r>
              <a:rPr lang="en-US" sz="2400" dirty="0" err="1">
                <a:ea typeface="游ゴシック Medium"/>
                <a:cs typeface="Times New Roman"/>
              </a:rPr>
              <a:t>SimpleITK</a:t>
            </a:r>
            <a:endParaRPr lang="en-US" sz="2400" dirty="0">
              <a:ea typeface="游ゴシック Medium"/>
              <a:cs typeface="Times New Roman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E78D97E-74FD-2C66-7EBF-94EB233ED3EB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What works best so far (</a:t>
            </a:r>
            <a:r>
              <a:rPr lang="en-US" sz="2000" dirty="0" err="1">
                <a:ea typeface="游ゴシック Medium"/>
                <a:cs typeface="Times New Roman"/>
              </a:rPr>
              <a:t>SimpleITK</a:t>
            </a:r>
            <a:r>
              <a:rPr lang="en-US" sz="2000" dirty="0">
                <a:ea typeface="游ゴシック Medium"/>
                <a:cs typeface="Times New Roman"/>
              </a:rPr>
              <a:t>):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solidFill>
                  <a:schemeClr val="tx1"/>
                </a:solidFill>
                <a:ea typeface="游ゴシック Medium"/>
                <a:cs typeface="Times New Roman"/>
              </a:rPr>
              <a:t>Metric</a:t>
            </a:r>
            <a:r>
              <a:rPr lang="en-US" sz="2000" b="0" dirty="0">
                <a:ea typeface="游ゴシック Medium"/>
                <a:cs typeface="Times New Roman"/>
              </a:rPr>
              <a:t>: Mattes Mutual Information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solidFill>
                  <a:schemeClr val="tx1"/>
                </a:solidFill>
                <a:ea typeface="游ゴシック Medium"/>
                <a:cs typeface="Times New Roman"/>
              </a:rPr>
              <a:t>Maximize information between fixed and moving image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Compute fixed, moving and joint PDFs over set of intensity bins, compute MI by summing over bins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50 histogram bins</a:t>
            </a:r>
          </a:p>
          <a:p>
            <a:pPr marL="205740" lvl="1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Optimizer: Gradient Descent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Init with pose estimation from </a:t>
            </a:r>
            <a:r>
              <a:rPr lang="en-US" sz="1850" b="0" dirty="0" err="1">
                <a:ea typeface="游ゴシック Medium"/>
                <a:cs typeface="Times New Roman"/>
              </a:rPr>
              <a:t>DualTrack</a:t>
            </a:r>
            <a:r>
              <a:rPr lang="en-US" sz="1850" b="0" dirty="0">
                <a:ea typeface="游ゴシック Medium"/>
                <a:cs typeface="Times New Roman"/>
              </a:rPr>
              <a:t> (</a:t>
            </a:r>
            <a:r>
              <a:rPr lang="en-US" sz="1850" b="0" dirty="0" err="1">
                <a:ea typeface="游ゴシック Medium"/>
                <a:cs typeface="Times New Roman"/>
              </a:rPr>
              <a:t>init</a:t>
            </a:r>
            <a:r>
              <a:rPr lang="en-US" sz="1850" b="0" dirty="0">
                <a:ea typeface="游ゴシック Medium"/>
                <a:cs typeface="Times New Roman"/>
              </a:rPr>
              <a:t> with identity works almost equally well)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Learning rate 0.1, min. change </a:t>
            </a:r>
            <a:r>
              <a:rPr lang="en-US" sz="1850" b="0" dirty="0"/>
              <a:t>1e-4</a:t>
            </a:r>
            <a:r>
              <a:rPr lang="en-US" b="0" dirty="0"/>
              <a:t>, </a:t>
            </a:r>
            <a:r>
              <a:rPr lang="en-US" sz="1850" b="0" dirty="0">
                <a:ea typeface="游ゴシック Medium"/>
                <a:cs typeface="Times New Roman"/>
              </a:rPr>
              <a:t>200 max. iterations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AB01D8D-8608-E5C2-BC25-E92EDC8B4C75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5</a:t>
            </a:fld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41138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9BFF6-F96D-759B-7CD5-FE798303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7579CF-050E-2E4C-565F-8F9AEE04871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EAB8BF09-3CC4-BE08-8058-C4E80F75A750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850" b="0" dirty="0">
                <a:ea typeface="游ゴシック Medium"/>
                <a:cs typeface="Times New Roman"/>
              </a:rPr>
              <a:t>      Norm of translational vector		                    Angle of the rotation   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26921FA-F22E-5477-6E36-22AFF44AB2E2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6</a:t>
            </a:fld>
            <a:endParaRPr lang="en-JP" dirty="0"/>
          </a:p>
        </p:txBody>
      </p:sp>
      <p:pic>
        <p:nvPicPr>
          <p:cNvPr id="7" name="Picture 6" descr="A graph of a function">
            <a:extLst>
              <a:ext uri="{FF2B5EF4-FFF2-40B4-BE49-F238E27FC236}">
                <a16:creationId xmlns:a16="http://schemas.microsoft.com/office/drawing/2014/main" id="{E7EE3D15-073E-79B7-95C9-3F77B319F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6750"/>
            <a:ext cx="9144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731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946F0-4886-E1AB-21AB-5E3D278DE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04A049-4A1D-2A82-224B-3C431ED2206D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3DD8E8B9-C7CA-94B6-5C83-2E0F0AD60C18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1850" b="0" dirty="0">
                <a:ea typeface="游ゴシック Medium"/>
                <a:cs typeface="Times New Roman"/>
              </a:rPr>
              <a:t>Blue: GT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850" b="0" dirty="0">
                <a:ea typeface="游ゴシック Medium"/>
                <a:cs typeface="Times New Roman"/>
              </a:rPr>
              <a:t>Yellow: IR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38C8B24-24FF-6957-259C-F6EB4148B521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7</a:t>
            </a:fld>
            <a:endParaRPr lang="en-JP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0938B9-F821-E185-E3EE-A3237F47D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5" y="657388"/>
            <a:ext cx="584835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1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5F4D0-91CB-6276-B7ED-90D27F78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BE8E00-7FD1-6F1E-FDC3-FF01AA1BD96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Results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6616A3B-5A00-8CDF-BFBA-C5996F8B948C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7BA5A07-CC6C-1956-E939-1B54DCAF1C9C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8</a:t>
            </a:fld>
            <a:endParaRPr lang="en-JP" dirty="0"/>
          </a:p>
        </p:txBody>
      </p:sp>
      <p:pic>
        <p:nvPicPr>
          <p:cNvPr id="8" name="Picture 7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7F03BDD9-47F8-9917-C9EB-F5115109D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6128"/>
            <a:ext cx="4672345" cy="3504259"/>
          </a:xfrm>
          <a:prstGeom prst="rect">
            <a:avLst/>
          </a:prstGeom>
        </p:spPr>
      </p:pic>
      <p:pic>
        <p:nvPicPr>
          <p:cNvPr id="11" name="Picture 10" descr="A graph with a red line and blue line&#10;&#10;AI-generated content may be incorrect.">
            <a:extLst>
              <a:ext uri="{FF2B5EF4-FFF2-40B4-BE49-F238E27FC236}">
                <a16:creationId xmlns:a16="http://schemas.microsoft.com/office/drawing/2014/main" id="{5CFDD1E5-F164-0C74-9660-EA77F41C4F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548" y="993326"/>
            <a:ext cx="4672345" cy="350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5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E615-AAEB-85FD-6A44-E1614A63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9D0D0E-5139-8637-F4ED-74D6CAAA275C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Image Registration: Problem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6618D5B-77FA-8994-A5A3-4939BDC58824}"/>
              </a:ext>
            </a:extLst>
          </p:cNvPr>
          <p:cNvSpPr txBox="1">
            <a:spLocks/>
          </p:cNvSpPr>
          <p:nvPr/>
        </p:nvSpPr>
        <p:spPr>
          <a:xfrm>
            <a:off x="323528" y="587025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Problem</a:t>
            </a:r>
            <a:r>
              <a:rPr lang="en-US" sz="2000" b="0" dirty="0">
                <a:ea typeface="游ゴシック Medium"/>
                <a:cs typeface="Times New Roman"/>
              </a:rPr>
              <a:t>: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2D IR does not account for out-of-plane motion (z axis) nor pitch and roll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	 y                                                          </a:t>
            </a:r>
            <a:r>
              <a:rPr lang="en-US" sz="2000" b="0" dirty="0" err="1">
                <a:ea typeface="游ゴシック Medium"/>
                <a:cs typeface="Times New Roman"/>
              </a:rPr>
              <a:t>y</a:t>
            </a: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								       x						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		        x						z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Features present in one picture are not necessarily present in the other (spawning feature problem)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2D IR cannot find a transform which makes the two images align perfectly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GT transform will not yield a perfect error metric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AB306FF-6212-2853-245A-1687794578FA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9</a:t>
            </a:fld>
            <a:endParaRPr lang="en-JP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92867-713B-53BD-0E58-DD806D3F62EE}"/>
              </a:ext>
            </a:extLst>
          </p:cNvPr>
          <p:cNvSpPr/>
          <p:nvPr/>
        </p:nvSpPr>
        <p:spPr>
          <a:xfrm>
            <a:off x="1547664" y="1851670"/>
            <a:ext cx="792088" cy="792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1DAF8C-1498-EDC2-5A45-DEAE5FC3278B}"/>
              </a:ext>
            </a:extLst>
          </p:cNvPr>
          <p:cNvSpPr/>
          <p:nvPr/>
        </p:nvSpPr>
        <p:spPr>
          <a:xfrm>
            <a:off x="2987824" y="1851670"/>
            <a:ext cx="792088" cy="792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2FE8E0-B909-D391-C20A-98A17EFCAFA1}"/>
              </a:ext>
            </a:extLst>
          </p:cNvPr>
          <p:cNvSpPr/>
          <p:nvPr/>
        </p:nvSpPr>
        <p:spPr>
          <a:xfrm>
            <a:off x="5521545" y="1851670"/>
            <a:ext cx="792088" cy="792088"/>
          </a:xfrm>
          <a:prstGeom prst="rect">
            <a:avLst/>
          </a:prstGeom>
          <a:scene3d>
            <a:camera prst="orthographicFront">
              <a:rot lat="19799999" lon="329996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23DA5-5419-E853-70EE-478CB5895B8E}"/>
              </a:ext>
            </a:extLst>
          </p:cNvPr>
          <p:cNvSpPr/>
          <p:nvPr/>
        </p:nvSpPr>
        <p:spPr>
          <a:xfrm>
            <a:off x="6516216" y="1851670"/>
            <a:ext cx="792088" cy="792088"/>
          </a:xfrm>
          <a:prstGeom prst="rect">
            <a:avLst/>
          </a:prstGeom>
          <a:scene3d>
            <a:camera prst="orthographicFront">
              <a:rot lat="19799999" lon="3299968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0FC7E9-0368-4B6E-EE65-2103BB15D0F2}"/>
              </a:ext>
            </a:extLst>
          </p:cNvPr>
          <p:cNvCxnSpPr>
            <a:cxnSpLocks/>
          </p:cNvCxnSpPr>
          <p:nvPr/>
        </p:nvCxnSpPr>
        <p:spPr>
          <a:xfrm>
            <a:off x="2411760" y="2251425"/>
            <a:ext cx="5040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AAC163-8BF5-3C22-18DA-3D11C3110ECE}"/>
              </a:ext>
            </a:extLst>
          </p:cNvPr>
          <p:cNvCxnSpPr>
            <a:cxnSpLocks/>
          </p:cNvCxnSpPr>
          <p:nvPr/>
        </p:nvCxnSpPr>
        <p:spPr>
          <a:xfrm>
            <a:off x="6156176" y="2265019"/>
            <a:ext cx="5040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CF09BC-FC37-0628-91C8-391B321031B7}"/>
              </a:ext>
            </a:extLst>
          </p:cNvPr>
          <p:cNvCxnSpPr/>
          <p:nvPr/>
        </p:nvCxnSpPr>
        <p:spPr>
          <a:xfrm flipV="1">
            <a:off x="1187624" y="1851670"/>
            <a:ext cx="0" cy="1008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E52777-E938-7B27-8B01-5E90D1C2E7C4}"/>
              </a:ext>
            </a:extLst>
          </p:cNvPr>
          <p:cNvCxnSpPr/>
          <p:nvPr/>
        </p:nvCxnSpPr>
        <p:spPr>
          <a:xfrm>
            <a:off x="1187624" y="2859782"/>
            <a:ext cx="11521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E11D03-01C0-AC1D-769E-8F550BC2D25F}"/>
              </a:ext>
            </a:extLst>
          </p:cNvPr>
          <p:cNvCxnSpPr/>
          <p:nvPr/>
        </p:nvCxnSpPr>
        <p:spPr>
          <a:xfrm flipV="1">
            <a:off x="5580112" y="1853233"/>
            <a:ext cx="0" cy="1008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BF172C-0E26-7B99-3F0D-7FB62ADDDD75}"/>
              </a:ext>
            </a:extLst>
          </p:cNvPr>
          <p:cNvCxnSpPr>
            <a:cxnSpLocks/>
          </p:cNvCxnSpPr>
          <p:nvPr/>
        </p:nvCxnSpPr>
        <p:spPr>
          <a:xfrm flipV="1">
            <a:off x="5580112" y="2355726"/>
            <a:ext cx="792088" cy="52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19258C-7F9D-E6B6-5ECB-484EF04F58E4}"/>
              </a:ext>
            </a:extLst>
          </p:cNvPr>
          <p:cNvCxnSpPr>
            <a:cxnSpLocks/>
          </p:cNvCxnSpPr>
          <p:nvPr/>
        </p:nvCxnSpPr>
        <p:spPr>
          <a:xfrm>
            <a:off x="5588496" y="2878481"/>
            <a:ext cx="9277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5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89B8-59B9-7747-9CFF-C3695100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456144-7424-555C-A8FB-2C3175541B0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Counter measures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C7CFA56-C9F2-51A1-50B0-B1CA269CF9C2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10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1F24EC59-7D7C-1FB8-8E3A-F9AD0DBE5F14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Focus on center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Use only center for IR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Center 50% of both x and y</a:t>
            </a: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Pixels near to the center are less affected by roll and pitch (center of rotation is the image center)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761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0CBE3-69F8-4037-CF62-6A4837819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F68E38-3972-071E-AB21-78C6830F0205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Counter measures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E309BA2-072C-DFB4-1A74-F7A67DCBE494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11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4FEDFD8C-F0C0-2B2B-58BC-777E691EA639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Focus on center</a:t>
            </a:r>
          </a:p>
        </p:txBody>
      </p:sp>
      <p:pic>
        <p:nvPicPr>
          <p:cNvPr id="8" name="Picture 7" descr="A close-up of an ultrasound">
            <a:extLst>
              <a:ext uri="{FF2B5EF4-FFF2-40B4-BE49-F238E27FC236}">
                <a16:creationId xmlns:a16="http://schemas.microsoft.com/office/drawing/2014/main" id="{10282119-CEC4-3720-DE6A-CA317E422D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385078"/>
            <a:ext cx="4320480" cy="3593354"/>
          </a:xfrm>
          <a:prstGeom prst="rect">
            <a:avLst/>
          </a:prstGeom>
        </p:spPr>
      </p:pic>
      <p:pic>
        <p:nvPicPr>
          <p:cNvPr id="12" name="Picture 11" descr="A close-up of an ultrasound&#10;&#10;AI-generated content may be incorrect.">
            <a:extLst>
              <a:ext uri="{FF2B5EF4-FFF2-40B4-BE49-F238E27FC236}">
                <a16:creationId xmlns:a16="http://schemas.microsoft.com/office/drawing/2014/main" id="{2CFEC377-1A1A-B7F0-0D26-876B3867E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016" y="2110043"/>
            <a:ext cx="2400635" cy="214342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0B098E-9922-0DA5-F045-8998B48A5D70}"/>
              </a:ext>
            </a:extLst>
          </p:cNvPr>
          <p:cNvCxnSpPr>
            <a:cxnSpLocks/>
          </p:cNvCxnSpPr>
          <p:nvPr/>
        </p:nvCxnSpPr>
        <p:spPr>
          <a:xfrm>
            <a:off x="4797556" y="3211901"/>
            <a:ext cx="969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709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8BDC-C859-E52C-3139-21AE9808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2F27D9-E604-DEE0-FF99-736C1905260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Counter measures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F8B26A9-BD51-1280-5372-54094BA24425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12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F325CD5E-8DF5-3AB1-FB5C-E8190501D04D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Patch and evaluate</a:t>
            </a:r>
          </a:p>
          <a:p>
            <a:pPr marL="457200" indent="-457200">
              <a:buClr>
                <a:srgbClr val="9E3611"/>
              </a:buClr>
              <a:buFont typeface="+mj-lt"/>
              <a:buAutoNum type="arabicPeriod"/>
            </a:pPr>
            <a:r>
              <a:rPr lang="en-US" sz="2000" b="0" dirty="0">
                <a:ea typeface="游ゴシック Medium"/>
                <a:cs typeface="Times New Roman"/>
              </a:rPr>
              <a:t>Divide fixed and moving into patches</a:t>
            </a:r>
          </a:p>
          <a:p>
            <a:pPr marL="457200" indent="-457200">
              <a:buClr>
                <a:srgbClr val="9E3611"/>
              </a:buClr>
              <a:buFont typeface="+mj-lt"/>
              <a:buAutoNum type="arabicPeriod"/>
            </a:pPr>
            <a:r>
              <a:rPr lang="en-US" sz="2000" b="0" dirty="0">
                <a:ea typeface="游ゴシック Medium"/>
                <a:cs typeface="Times New Roman"/>
              </a:rPr>
              <a:t>For every fixed patch:</a:t>
            </a:r>
          </a:p>
          <a:p>
            <a:pPr marL="662940" lvl="1" indent="-457200">
              <a:buClr>
                <a:srgbClr val="9E3611"/>
              </a:buClr>
              <a:buFont typeface="+mj-lt"/>
              <a:buAutoNum type="arabicPeriod"/>
            </a:pPr>
            <a:r>
              <a:rPr lang="en-US" sz="1850" b="0" dirty="0">
                <a:ea typeface="游ゴシック Medium"/>
                <a:cs typeface="Times New Roman"/>
              </a:rPr>
              <a:t>Apply ref transform from </a:t>
            </a:r>
            <a:r>
              <a:rPr lang="en-US" sz="1850" b="0" dirty="0" err="1">
                <a:ea typeface="游ゴシック Medium"/>
                <a:cs typeface="Times New Roman"/>
              </a:rPr>
              <a:t>DualTrack</a:t>
            </a:r>
            <a:endParaRPr lang="en-US" sz="1850" b="0" dirty="0">
              <a:ea typeface="游ゴシック Medium"/>
              <a:cs typeface="Times New Roman"/>
            </a:endParaRPr>
          </a:p>
          <a:p>
            <a:pPr marL="662940" lvl="1" indent="-457200">
              <a:buClr>
                <a:srgbClr val="9E3611"/>
              </a:buClr>
              <a:buFont typeface="+mj-lt"/>
              <a:buAutoNum type="arabicPeriod"/>
            </a:pPr>
            <a:r>
              <a:rPr lang="en-US" sz="1850" b="0" dirty="0">
                <a:ea typeface="游ゴシック Medium"/>
                <a:cs typeface="Times New Roman"/>
              </a:rPr>
              <a:t>Compare transformed fixed patch and corresponding moving patch</a:t>
            </a:r>
          </a:p>
          <a:p>
            <a:pPr marL="662940" lvl="1" indent="-457200">
              <a:buClr>
                <a:srgbClr val="9E3611"/>
              </a:buClr>
              <a:buFont typeface="+mj-lt"/>
              <a:buAutoNum type="arabicPeriod"/>
            </a:pPr>
            <a:r>
              <a:rPr lang="en-US" sz="1850" b="0" dirty="0">
                <a:ea typeface="游ゴシック Medium"/>
                <a:cs typeface="Times New Roman"/>
              </a:rPr>
              <a:t>Consider for IR if similar</a:t>
            </a:r>
          </a:p>
          <a:p>
            <a:pPr marL="205740" lvl="1" indent="0">
              <a:buClr>
                <a:srgbClr val="9E3611"/>
              </a:buClr>
              <a:buNone/>
            </a:pPr>
            <a:endParaRPr lang="en-US" sz="185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</a:t>
            </a:r>
            <a:r>
              <a:rPr lang="en-US" sz="2000" b="0" dirty="0"/>
              <a:t> 4x4 grid, Normalized </a:t>
            </a:r>
            <a:r>
              <a:rPr lang="en-US" sz="2000" b="0" dirty="0">
                <a:ea typeface="游ゴシック Medium"/>
                <a:cs typeface="Times New Roman"/>
              </a:rPr>
              <a:t>Cross Correlation for comparison (value range [-1, 1]), threshold 0.7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Patches with little similarity (due to a potential spawning feature) are discarded</a:t>
            </a:r>
          </a:p>
        </p:txBody>
      </p:sp>
    </p:spTree>
    <p:extLst>
      <p:ext uri="{BB962C8B-B14F-4D97-AF65-F5344CB8AC3E}">
        <p14:creationId xmlns:p14="http://schemas.microsoft.com/office/powerpoint/2010/main" val="178464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FF59-029B-3A6D-111A-7121FFCE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EB9EFB-4291-B0E6-37DA-573E43EE853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Counter measures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609D680-A356-987E-BDBC-C822528BB718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13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9D901D0-12F2-9F13-76B2-ECD202DFC5D7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Patch and evaluate</a:t>
            </a:r>
          </a:p>
        </p:txBody>
      </p:sp>
      <p:pic>
        <p:nvPicPr>
          <p:cNvPr id="3" name="Picture 2" descr="A graph with a black rectangle&#10;&#10;AI-generated content may be incorrect.">
            <a:extLst>
              <a:ext uri="{FF2B5EF4-FFF2-40B4-BE49-F238E27FC236}">
                <a16:creationId xmlns:a16="http://schemas.microsoft.com/office/drawing/2014/main" id="{89A5D63C-FA68-2BEC-5788-AAFF717A5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718" y="1174180"/>
            <a:ext cx="2400635" cy="3210372"/>
          </a:xfrm>
          <a:prstGeom prst="rect">
            <a:avLst/>
          </a:prstGeom>
        </p:spPr>
      </p:pic>
      <p:pic>
        <p:nvPicPr>
          <p:cNvPr id="5" name="Picture 4" descr="A close-up of an ultrasound&#10;&#10;AI-generated content may be incorrect.">
            <a:extLst>
              <a:ext uri="{FF2B5EF4-FFF2-40B4-BE49-F238E27FC236}">
                <a16:creationId xmlns:a16="http://schemas.microsoft.com/office/drawing/2014/main" id="{698B3C1F-ED47-2101-28FE-0AAD39C79F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21" y="1707654"/>
            <a:ext cx="2400635" cy="214342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F35BEE-1BD4-415C-B7C5-CF232C48AEB9}"/>
              </a:ext>
            </a:extLst>
          </p:cNvPr>
          <p:cNvCxnSpPr>
            <a:cxnSpLocks/>
          </p:cNvCxnSpPr>
          <p:nvPr/>
        </p:nvCxnSpPr>
        <p:spPr>
          <a:xfrm>
            <a:off x="3851920" y="2787774"/>
            <a:ext cx="969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C63D156-BE6C-BDF5-9A83-37F8AA03A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047970"/>
              </p:ext>
            </p:extLst>
          </p:nvPr>
        </p:nvGraphicFramePr>
        <p:xfrm>
          <a:off x="891156" y="1923678"/>
          <a:ext cx="2210780" cy="1728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695">
                  <a:extLst>
                    <a:ext uri="{9D8B030D-6E8A-4147-A177-3AD203B41FA5}">
                      <a16:colId xmlns:a16="http://schemas.microsoft.com/office/drawing/2014/main" val="2328694238"/>
                    </a:ext>
                  </a:extLst>
                </a:gridCol>
                <a:gridCol w="552695">
                  <a:extLst>
                    <a:ext uri="{9D8B030D-6E8A-4147-A177-3AD203B41FA5}">
                      <a16:colId xmlns:a16="http://schemas.microsoft.com/office/drawing/2014/main" val="2491919738"/>
                    </a:ext>
                  </a:extLst>
                </a:gridCol>
                <a:gridCol w="552695">
                  <a:extLst>
                    <a:ext uri="{9D8B030D-6E8A-4147-A177-3AD203B41FA5}">
                      <a16:colId xmlns:a16="http://schemas.microsoft.com/office/drawing/2014/main" val="2225398154"/>
                    </a:ext>
                  </a:extLst>
                </a:gridCol>
                <a:gridCol w="552695">
                  <a:extLst>
                    <a:ext uri="{9D8B030D-6E8A-4147-A177-3AD203B41FA5}">
                      <a16:colId xmlns:a16="http://schemas.microsoft.com/office/drawing/2014/main" val="248011818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1235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85216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51571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64006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8B068A3D-DC4C-322B-B020-CE2A54B4381C}"/>
              </a:ext>
            </a:extLst>
          </p:cNvPr>
          <p:cNvSpPr/>
          <p:nvPr/>
        </p:nvSpPr>
        <p:spPr>
          <a:xfrm>
            <a:off x="1403648" y="1735717"/>
            <a:ext cx="122413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3FB8ED-1918-CDF1-74D7-854E7C4650A5}"/>
              </a:ext>
            </a:extLst>
          </p:cNvPr>
          <p:cNvSpPr/>
          <p:nvPr/>
        </p:nvSpPr>
        <p:spPr>
          <a:xfrm>
            <a:off x="6255039" y="1779662"/>
            <a:ext cx="1224136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66D0158B-0D59-F1FA-9AE3-D93F2ACDA273}"/>
              </a:ext>
            </a:extLst>
          </p:cNvPr>
          <p:cNvSpPr txBox="1">
            <a:spLocks/>
          </p:cNvSpPr>
          <p:nvPr/>
        </p:nvSpPr>
        <p:spPr>
          <a:xfrm>
            <a:off x="5840686" y="4019779"/>
            <a:ext cx="2021052" cy="72954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White: keep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Black: discard</a:t>
            </a:r>
          </a:p>
        </p:txBody>
      </p:sp>
    </p:spTree>
    <p:extLst>
      <p:ext uri="{BB962C8B-B14F-4D97-AF65-F5344CB8AC3E}">
        <p14:creationId xmlns:p14="http://schemas.microsoft.com/office/powerpoint/2010/main" val="3810129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8872D-B5B1-446A-3435-B927078AE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94C52C-1C4B-1680-54A8-26D5D3A0EF1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Counter measures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CCD4F8D-C1F0-7A42-383F-CBA6CB1A8928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14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9F41F01B-4C86-B1ED-859A-5C50C8E8ADC2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Focus on center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Improvement of &gt;200% for FDR, GPE and run time for TUSREC24, 72 scans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Patch and evaluate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Improvement of 5% for FDR, 1,5% for runtime for TUSREC24, 72 scans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But: IR still performs worse than </a:t>
            </a:r>
            <a:r>
              <a:rPr lang="en-US" sz="2000" b="0" dirty="0" err="1"/>
              <a:t>DualTrack</a:t>
            </a: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>
                <a:ea typeface="游ゴシック Medium"/>
                <a:cs typeface="Times New Roman"/>
              </a:rPr>
              <a:t>TUSREC24, 72 scans: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	DualTrack24: FDR 5.1mm, GPE 4.9mm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	IR with counter measures: FDR 11.4mm, GPE 9.9mm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402814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FC5F-50F8-0431-6793-46378037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980A6F-7D70-9EA1-F315-203DF074E55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Error evaluations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ACA48EC-FA54-02B6-1FF3-813916064306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15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E57892FE-CCAB-34F2-D2EB-F445646AFCAA}"/>
              </a:ext>
            </a:extLst>
          </p:cNvPr>
          <p:cNvSpPr txBox="1">
            <a:spLocks/>
          </p:cNvSpPr>
          <p:nvPr/>
        </p:nvSpPr>
        <p:spPr>
          <a:xfrm>
            <a:off x="6031684" y="707816"/>
            <a:ext cx="3112316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Abs GT vs Abs Error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(DualTrack24 in-between Pred – GT, TUSREC24 72 scans combined)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Again: Larger error for larger values</a:t>
            </a:r>
          </a:p>
          <a:p>
            <a:pPr>
              <a:buClr>
                <a:srgbClr val="9E3611"/>
              </a:buClr>
            </a:pPr>
            <a:endParaRPr lang="en-US" sz="2000" b="0" dirty="0"/>
          </a:p>
        </p:txBody>
      </p:sp>
      <p:pic>
        <p:nvPicPr>
          <p:cNvPr id="10" name="Picture 9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DE1F2A94-3258-F952-A1EF-3A53F7AFA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2" y="58702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915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C1655-56E8-D154-E5A8-6BF91BD6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7E8E27-CD49-8896-4518-86A37D9A380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Error evaluations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211BBBA-7AEA-E016-9845-AFC557D4496E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16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9B56064-B7C9-9E53-0FA0-CF41DFB1A7BC}"/>
              </a:ext>
            </a:extLst>
          </p:cNvPr>
          <p:cNvSpPr txBox="1">
            <a:spLocks/>
          </p:cNvSpPr>
          <p:nvPr/>
        </p:nvSpPr>
        <p:spPr>
          <a:xfrm>
            <a:off x="6031684" y="707816"/>
            <a:ext cx="3112316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Mean Error Through Time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(DualTrack24 in-between Pred – GT, TUSREC24 72 scans combined)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Mean error of </a:t>
            </a:r>
            <a:r>
              <a:rPr lang="en-US" sz="2000" b="0" dirty="0" err="1"/>
              <a:t>DualTrack</a:t>
            </a:r>
            <a:r>
              <a:rPr lang="en-US" sz="2000" b="0" dirty="0"/>
              <a:t> is </a:t>
            </a:r>
            <a:r>
              <a:rPr lang="en-US" sz="1850" dirty="0"/>
              <a:t>~</a:t>
            </a:r>
            <a:r>
              <a:rPr lang="en-US" sz="2000" b="0" dirty="0"/>
              <a:t>0 for all 6DoF</a:t>
            </a:r>
          </a:p>
        </p:txBody>
      </p:sp>
      <p:pic>
        <p:nvPicPr>
          <p:cNvPr id="3" name="Picture 2" descr="A group of graphs showing the results of a program&#10;&#10;AI-generated content may be incorrect.">
            <a:extLst>
              <a:ext uri="{FF2B5EF4-FFF2-40B4-BE49-F238E27FC236}">
                <a16:creationId xmlns:a16="http://schemas.microsoft.com/office/drawing/2014/main" id="{680109F2-4C9A-BB72-43D0-FD0A69C5B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65757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673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B5CC-882F-E0A4-A524-14CD6CEFC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68759A-FE15-5B57-26BF-B590AFD1857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Error evaluations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FD6EC96-0A42-B799-F59B-F3166BA7D554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17</a:t>
            </a:fld>
            <a:endParaRPr lang="en-JP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5F5042-45A0-9F6B-DD73-0279E59D9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078275"/>
              </p:ext>
            </p:extLst>
          </p:nvPr>
        </p:nvGraphicFramePr>
        <p:xfrm>
          <a:off x="719570" y="1613438"/>
          <a:ext cx="7704858" cy="2334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94">
                  <a:extLst>
                    <a:ext uri="{9D8B030D-6E8A-4147-A177-3AD203B41FA5}">
                      <a16:colId xmlns:a16="http://schemas.microsoft.com/office/drawing/2014/main" val="891567486"/>
                    </a:ext>
                  </a:extLst>
                </a:gridCol>
                <a:gridCol w="1100694">
                  <a:extLst>
                    <a:ext uri="{9D8B030D-6E8A-4147-A177-3AD203B41FA5}">
                      <a16:colId xmlns:a16="http://schemas.microsoft.com/office/drawing/2014/main" val="4258970538"/>
                    </a:ext>
                  </a:extLst>
                </a:gridCol>
                <a:gridCol w="1100694">
                  <a:extLst>
                    <a:ext uri="{9D8B030D-6E8A-4147-A177-3AD203B41FA5}">
                      <a16:colId xmlns:a16="http://schemas.microsoft.com/office/drawing/2014/main" val="1823026811"/>
                    </a:ext>
                  </a:extLst>
                </a:gridCol>
                <a:gridCol w="1100694">
                  <a:extLst>
                    <a:ext uri="{9D8B030D-6E8A-4147-A177-3AD203B41FA5}">
                      <a16:colId xmlns:a16="http://schemas.microsoft.com/office/drawing/2014/main" val="338105497"/>
                    </a:ext>
                  </a:extLst>
                </a:gridCol>
                <a:gridCol w="1100694">
                  <a:extLst>
                    <a:ext uri="{9D8B030D-6E8A-4147-A177-3AD203B41FA5}">
                      <a16:colId xmlns:a16="http://schemas.microsoft.com/office/drawing/2014/main" val="4115481350"/>
                    </a:ext>
                  </a:extLst>
                </a:gridCol>
                <a:gridCol w="1100694">
                  <a:extLst>
                    <a:ext uri="{9D8B030D-6E8A-4147-A177-3AD203B41FA5}">
                      <a16:colId xmlns:a16="http://schemas.microsoft.com/office/drawing/2014/main" val="264330388"/>
                    </a:ext>
                  </a:extLst>
                </a:gridCol>
                <a:gridCol w="1100694">
                  <a:extLst>
                    <a:ext uri="{9D8B030D-6E8A-4147-A177-3AD203B41FA5}">
                      <a16:colId xmlns:a16="http://schemas.microsoft.com/office/drawing/2014/main" val="3519421448"/>
                    </a:ext>
                  </a:extLst>
                </a:gridCol>
              </a:tblGrid>
              <a:tr h="5837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mm, º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7442"/>
                  </a:ext>
                </a:extLst>
              </a:tr>
              <a:tr h="58373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46109"/>
                  </a:ext>
                </a:extLst>
              </a:tr>
              <a:tr h="58373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Error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956897"/>
                  </a:ext>
                </a:extLst>
              </a:tr>
              <a:tr h="58373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Ratio (Error/GT)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58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F8A6313-79C2-0E9F-D2D2-129B6B51B6C3}"/>
              </a:ext>
            </a:extLst>
          </p:cNvPr>
          <p:cNvSpPr txBox="1"/>
          <p:nvPr/>
        </p:nvSpPr>
        <p:spPr>
          <a:xfrm>
            <a:off x="827584" y="9155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99E5ACB-5FEC-531F-B89E-6B5F7296000B}"/>
              </a:ext>
            </a:extLst>
          </p:cNvPr>
          <p:cNvSpPr txBox="1">
            <a:spLocks/>
          </p:cNvSpPr>
          <p:nvPr/>
        </p:nvSpPr>
        <p:spPr>
          <a:xfrm>
            <a:off x="719570" y="602642"/>
            <a:ext cx="7596845" cy="9951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GT vs Error mean absolute value for every 6DoF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(DualTrack24 in-between Pred – GT, TUSREC24 72 scans combined)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C85169F-510C-39A2-16FC-257D9CC1A963}"/>
              </a:ext>
            </a:extLst>
          </p:cNvPr>
          <p:cNvSpPr txBox="1">
            <a:spLocks/>
          </p:cNvSpPr>
          <p:nvPr/>
        </p:nvSpPr>
        <p:spPr>
          <a:xfrm>
            <a:off x="728924" y="4083918"/>
            <a:ext cx="7596845" cy="85963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Relative largest errors happen for y and pitch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Larger relative errors for rotation than translation</a:t>
            </a:r>
          </a:p>
        </p:txBody>
      </p:sp>
    </p:spTree>
    <p:extLst>
      <p:ext uri="{BB962C8B-B14F-4D97-AF65-F5344CB8AC3E}">
        <p14:creationId xmlns:p14="http://schemas.microsoft.com/office/powerpoint/2010/main" val="897021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D4C9-A2CB-D7FE-F0F3-155439E1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33416F-828B-13CD-0D50-9CBAD97286F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Error evaluations: Speculations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5611A69-34CB-383E-BF1F-2C86EF2498D8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18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BE3D6679-4E1C-6CB2-8E0E-6DB2915029E8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Images are 640x480 pixels (x, y)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Less information on y axis, larger error for y and pitch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Translation is easier to estimate as x and y are directly deductible from images</a:t>
            </a:r>
          </a:p>
        </p:txBody>
      </p:sp>
    </p:spTree>
    <p:extLst>
      <p:ext uri="{BB962C8B-B14F-4D97-AF65-F5344CB8AC3E}">
        <p14:creationId xmlns:p14="http://schemas.microsoft.com/office/powerpoint/2010/main" val="2953016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2A54-EFF1-0DD3-8B72-D1118A76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795D4-9769-767F-0C3B-A3C64F0911F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dirty="0">
                <a:ea typeface="游ゴシック Medium"/>
                <a:cs typeface="Times New Roman"/>
              </a:rPr>
              <a:t>   Next steps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C3F9B93-2FCE-4745-B4A9-7BDAFE361884}"/>
              </a:ext>
            </a:extLst>
          </p:cNvPr>
          <p:cNvSpPr txBox="1">
            <a:spLocks/>
          </p:cNvSpPr>
          <p:nvPr/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1050" b="1" kern="1200">
                <a:solidFill>
                  <a:srgbClr val="FFFFFF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75F232-FFFE-5E6C-5554-2F165DAD28C0}" type="slidenum">
              <a:rPr lang="en-JP" smtClean="0"/>
              <a:pPr/>
              <a:t>19</a:t>
            </a:fld>
            <a:endParaRPr lang="en-JP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91697E6-BCDC-260C-B1D3-FAE5FAF76FC5}"/>
              </a:ext>
            </a:extLst>
          </p:cNvPr>
          <p:cNvSpPr txBox="1">
            <a:spLocks/>
          </p:cNvSpPr>
          <p:nvPr/>
        </p:nvSpPr>
        <p:spPr>
          <a:xfrm>
            <a:off x="323528" y="707816"/>
            <a:ext cx="8218099" cy="4305013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Improve 2D IR</a:t>
            </a:r>
            <a:endParaRPr lang="en-US" sz="185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Combine with PGO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Jitter?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Error?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Try </a:t>
            </a:r>
            <a:r>
              <a:rPr lang="en-US" sz="2000" b="0">
                <a:ea typeface="游ゴシック Medium"/>
                <a:cs typeface="Times New Roman"/>
              </a:rPr>
              <a:t>3D IR</a:t>
            </a: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Write Master Thesis</a:t>
            </a:r>
          </a:p>
        </p:txBody>
      </p:sp>
    </p:spTree>
    <p:extLst>
      <p:ext uri="{BB962C8B-B14F-4D97-AF65-F5344CB8AC3E}">
        <p14:creationId xmlns:p14="http://schemas.microsoft.com/office/powerpoint/2010/main" val="3961754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版活字">
  <a:themeElements>
    <a:clrScheme name="木版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版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版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dc8989-56fb-4b1d-a38b-166581c893ff" xsi:nil="true"/>
    <lcf76f155ced4ddcb4097134ff3c332f xmlns="f61654bb-b7fc-45ad-85e3-d08f7c4a7ee2">
      <Terms xmlns="http://schemas.microsoft.com/office/infopath/2007/PartnerControls"/>
    </lcf76f155ced4ddcb4097134ff3c332f>
    <Title0 xmlns="f61654bb-b7fc-45ad-85e3-d08f7c4a7ee2" xsi:nil="true"/>
    <Year xmlns="f61654bb-b7fc-45ad-85e3-d08f7c4a7ee2" xsi:nil="true"/>
    <Author0 xmlns="f61654bb-b7fc-45ad-85e3-d08f7c4a7ee2" xsi:nil="true"/>
    <Authors xmlns="f61654bb-b7fc-45ad-85e3-d08f7c4a7ee2" xsi:nil="true"/>
    <NotebookType xmlns="f61654bb-b7fc-45ad-85e3-d08f7c4a7ee2" xsi:nil="true"/>
    <Templates xmlns="f61654bb-b7fc-45ad-85e3-d08f7c4a7ee2" xsi:nil="true"/>
    <AppVersion xmlns="f61654bb-b7fc-45ad-85e3-d08f7c4a7ee2" xsi:nil="true"/>
    <IsNotebookLocked xmlns="f61654bb-b7fc-45ad-85e3-d08f7c4a7ee2" xsi:nil="true"/>
    <Self_Registration_Enabled xmlns="f61654bb-b7fc-45ad-85e3-d08f7c4a7ee2" xsi:nil="true"/>
    <Has_Leaders_Only_SectionGroup xmlns="f61654bb-b7fc-45ad-85e3-d08f7c4a7ee2" xsi:nil="true"/>
    <Invited_Members xmlns="f61654bb-b7fc-45ad-85e3-d08f7c4a7ee2" xsi:nil="true"/>
    <Is_Collaboration_Space_Locked xmlns="f61654bb-b7fc-45ad-85e3-d08f7c4a7ee2" xsi:nil="true"/>
    <LMS_Mappings xmlns="f61654bb-b7fc-45ad-85e3-d08f7c4a7ee2" xsi:nil="true"/>
    <Invited_Leaders xmlns="f61654bb-b7fc-45ad-85e3-d08f7c4a7ee2" xsi:nil="true"/>
    <Math_Settings xmlns="f61654bb-b7fc-45ad-85e3-d08f7c4a7ee2" xsi:nil="true"/>
    <Members xmlns="f61654bb-b7fc-45ad-85e3-d08f7c4a7ee2">
      <UserInfo>
        <DisplayName/>
        <AccountId xsi:nil="true"/>
        <AccountType/>
      </UserInfo>
    </Members>
    <DefaultSectionNames xmlns="f61654bb-b7fc-45ad-85e3-d08f7c4a7ee2" xsi:nil="true"/>
    <TeamsChannelId xmlns="f61654bb-b7fc-45ad-85e3-d08f7c4a7ee2" xsi:nil="true"/>
    <FolderType xmlns="f61654bb-b7fc-45ad-85e3-d08f7c4a7ee2" xsi:nil="true"/>
    <Leaders xmlns="f61654bb-b7fc-45ad-85e3-d08f7c4a7ee2">
      <UserInfo>
        <DisplayName/>
        <AccountId xsi:nil="true"/>
        <AccountType/>
      </UserInfo>
    </Leaders>
    <Distribution_Groups xmlns="f61654bb-b7fc-45ad-85e3-d08f7c4a7ee2" xsi:nil="true"/>
    <Member_Groups xmlns="f61654bb-b7fc-45ad-85e3-d08f7c4a7ee2">
      <UserInfo>
        <DisplayName/>
        <AccountId xsi:nil="true"/>
        <AccountType/>
      </UserInfo>
    </Member_Groups>
    <Teams_Channel_Section_Location xmlns="f61654bb-b7fc-45ad-85e3-d08f7c4a7ee2" xsi:nil="true"/>
    <CultureName xmlns="f61654bb-b7fc-45ad-85e3-d08f7c4a7ee2" xsi:nil="true"/>
    <Owner xmlns="f61654bb-b7fc-45ad-85e3-d08f7c4a7ee2">
      <UserInfo>
        <DisplayName/>
        <AccountId xsi:nil="true"/>
        <AccountType/>
      </UserInfo>
    </Owner>
    <_x30a2__x30c3__x30d7__x30ed__x30fc__x30c9__x65e5__x4ed8_ xmlns="f61654bb-b7fc-45ad-85e3-d08f7c4a7ee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2A53F757E5E848A18782864458E644" ma:contentTypeVersion="43" ma:contentTypeDescription="新しいドキュメントを作成します。" ma:contentTypeScope="" ma:versionID="e58177412e1512208a553d6b419372bf">
  <xsd:schema xmlns:xsd="http://www.w3.org/2001/XMLSchema" xmlns:xs="http://www.w3.org/2001/XMLSchema" xmlns:p="http://schemas.microsoft.com/office/2006/metadata/properties" xmlns:ns2="f61654bb-b7fc-45ad-85e3-d08f7c4a7ee2" xmlns:ns3="bbdc8989-56fb-4b1d-a38b-166581c893ff" targetNamespace="http://schemas.microsoft.com/office/2006/metadata/properties" ma:root="true" ma:fieldsID="41a5810d8518a876aecc1f17313a65be" ns2:_="" ns3:_="">
    <xsd:import namespace="f61654bb-b7fc-45ad-85e3-d08f7c4a7ee2"/>
    <xsd:import namespace="bbdc8989-56fb-4b1d-a38b-166581c893ff"/>
    <xsd:element name="properties">
      <xsd:complexType>
        <xsd:sequence>
          <xsd:element name="documentManagement">
            <xsd:complexType>
              <xsd:all>
                <xsd:element ref="ns2:Author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Author0" minOccurs="0"/>
                <xsd:element ref="ns2:Title0" minOccurs="0"/>
                <xsd:element ref="ns2:Year" minOccurs="0"/>
                <xsd:element ref="ns2:MediaServiceObjectDetectorVersion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SearchProperties" minOccurs="0"/>
                <xsd:element ref="ns2:_x30a2__x30c3__x30d7__x30ed__x30fc__x30c9__x65e5__x4ed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654bb-b7fc-45ad-85e3-d08f7c4a7ee2" elementFormDefault="qualified">
    <xsd:import namespace="http://schemas.microsoft.com/office/2006/documentManagement/types"/>
    <xsd:import namespace="http://schemas.microsoft.com/office/infopath/2007/PartnerControls"/>
    <xsd:element name="Authors" ma:index="2" nillable="true" ma:displayName="Authors" ma:format="Dropdown" ma:internalName="Authors" ma:readOnly="false">
      <xsd:simpleType>
        <xsd:restriction base="dms:Text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753b2be4-fe80-4689-baed-1a5cffa426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Author0" ma:index="22" nillable="true" ma:displayName="Author" ma:format="Dropdown" ma:hidden="true" ma:internalName="Author0" ma:readOnly="false">
      <xsd:simpleType>
        <xsd:restriction base="dms:Text">
          <xsd:maxLength value="255"/>
        </xsd:restriction>
      </xsd:simpleType>
    </xsd:element>
    <xsd:element name="Title0" ma:index="23" nillable="true" ma:displayName="Title" ma:format="Dropdown" ma:internalName="Title0">
      <xsd:simpleType>
        <xsd:restriction base="dms:Text">
          <xsd:maxLength value="255"/>
        </xsd:restriction>
      </xsd:simpleType>
    </xsd:element>
    <xsd:element name="Year" ma:index="24" nillable="true" ma:displayName="Year" ma:format="Dropdown" ma:indexed="true" ma:internalName="Year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bookType" ma:index="26" nillable="true" ma:displayName="Notebook Type" ma:internalName="NotebookType">
      <xsd:simpleType>
        <xsd:restriction base="dms:Text"/>
      </xsd:simpleType>
    </xsd:element>
    <xsd:element name="FolderType" ma:index="27" nillable="true" ma:displayName="Folder Type" ma:internalName="FolderType">
      <xsd:simpleType>
        <xsd:restriction base="dms:Text"/>
      </xsd:simpleType>
    </xsd:element>
    <xsd:element name="CultureName" ma:index="28" nillable="true" ma:displayName="Culture Name" ma:internalName="CultureName">
      <xsd:simpleType>
        <xsd:restriction base="dms:Text"/>
      </xsd:simpleType>
    </xsd:element>
    <xsd:element name="AppVersion" ma:index="29" nillable="true" ma:displayName="App Version" ma:internalName="AppVersion">
      <xsd:simpleType>
        <xsd:restriction base="dms:Text"/>
      </xsd:simpleType>
    </xsd:element>
    <xsd:element name="TeamsChannelId" ma:index="30" nillable="true" ma:displayName="Teams Channel Id" ma:internalName="TeamsChannelId">
      <xsd:simpleType>
        <xsd:restriction base="dms:Text"/>
      </xsd:simpleType>
    </xsd:element>
    <xsd:element name="Owner" ma:index="3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32" nillable="true" ma:displayName="Math Settings" ma:internalName="Math_Settings">
      <xsd:simpleType>
        <xsd:restriction base="dms:Text"/>
      </xsd:simpleType>
    </xsd:element>
    <xsd:element name="DefaultSectionNames" ma:index="3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4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35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6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7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40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41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42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43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44" nillable="true" ma:displayName="Is Collaboration Space Locked" ma:internalName="Is_Collaboration_Space_Locked">
      <xsd:simpleType>
        <xsd:restriction base="dms:Boolean"/>
      </xsd:simpleType>
    </xsd:element>
    <xsd:element name="IsNotebookLocked" ma:index="45" nillable="true" ma:displayName="Is Notebook Locked" ma:internalName="IsNotebookLocked">
      <xsd:simpleType>
        <xsd:restriction base="dms:Boolean"/>
      </xsd:simpleType>
    </xsd:element>
    <xsd:element name="Teams_Channel_Section_Location" ma:index="46" nillable="true" ma:displayName="Teams Channel Section Location" ma:internalName="Teams_Channel_Section_Location">
      <xsd:simpleType>
        <xsd:restriction base="dms:Text"/>
      </xsd:simpleType>
    </xsd:element>
    <xsd:element name="MediaServiceSearchProperties" ma:index="4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a2__x30c3__x30d7__x30ed__x30fc__x30c9__x65e5__x4ed8_" ma:index="48" nillable="true" ma:displayName="アップロード日付" ma:format="Dropdown" ma:internalName="_x30a2__x30c3__x30d7__x30ed__x30fc__x30c9__x65e5__x4ed8_">
      <xsd:simpleType>
        <xsd:restriction base="dms:Text">
          <xsd:maxLength value="255"/>
        </xsd:restriction>
      </xsd:simpleType>
    </xsd:element>
    <xsd:element name="MediaServiceBillingMetadata" ma:index="4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c8989-56fb-4b1d-a38b-166581c893f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1ce9b0-18e4-41e2-8ccf-cb74b8811c8e}" ma:internalName="TaxCatchAll" ma:readOnly="false" ma:showField="CatchAllData" ma:web="bbdc8989-56fb-4b1d-a38b-166581c893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共有相手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6A834E-B1B5-46FD-BC6A-86110B9E53A8}">
  <ds:schemaRefs>
    <ds:schemaRef ds:uri="f61654bb-b7fc-45ad-85e3-d08f7c4a7ee2"/>
    <ds:schemaRef ds:uri="http://schemas.microsoft.com/office/infopath/2007/PartnerControls"/>
    <ds:schemaRef ds:uri="http://purl.org/dc/dcmitype/"/>
    <ds:schemaRef ds:uri="http://purl.org/dc/elements/1.1/"/>
    <ds:schemaRef ds:uri="bbdc8989-56fb-4b1d-a38b-166581c893ff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D09310-C45E-477D-9B05-494A1C2D17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654bb-b7fc-45ad-85e3-d08f7c4a7ee2"/>
    <ds:schemaRef ds:uri="bbdc8989-56fb-4b1d-a38b-166581c89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8BCAEC-5EDD-4F8B-8062-E645C37DA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TM03090434[[fn=木版活字]]</Template>
  <TotalTime>2830</TotalTime>
  <Words>923</Words>
  <Application>Microsoft Office PowerPoint</Application>
  <PresentationFormat>On-screen Show (16:9)</PresentationFormat>
  <Paragraphs>245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Yu Gothic Medium</vt:lpstr>
      <vt:lpstr>Yu Gothic Medium</vt:lpstr>
      <vt:lpstr>Abadi</vt:lpstr>
      <vt:lpstr>Arial</vt:lpstr>
      <vt:lpstr>Cambria</vt:lpstr>
      <vt:lpstr>Cambria Math</vt:lpstr>
      <vt:lpstr>Rockwell</vt:lpstr>
      <vt:lpstr>Rockwell Condensed</vt:lpstr>
      <vt:lpstr>Wingdings</vt:lpstr>
      <vt:lpstr>木版活字</vt:lpstr>
      <vt:lpstr>Pose Graph Optimization for Vision-Only Freehand 3D Ultrasound Reconstruction</vt:lpstr>
      <vt:lpstr>   What did I do?</vt:lpstr>
      <vt:lpstr>   Image Registration: Basics</vt:lpstr>
      <vt:lpstr>   Image Registration: Combination of transforms</vt:lpstr>
      <vt:lpstr>   Image Registration: SimpleITK</vt:lpstr>
      <vt:lpstr>   Image Registration: Results</vt:lpstr>
      <vt:lpstr>   Image Registration: Results</vt:lpstr>
      <vt:lpstr>   Image Registration: Results</vt:lpstr>
      <vt:lpstr>   Image Registration: Problem</vt:lpstr>
      <vt:lpstr>   Counter measures</vt:lpstr>
      <vt:lpstr>   Counter measures</vt:lpstr>
      <vt:lpstr>   Counter measures</vt:lpstr>
      <vt:lpstr>   Counter measures</vt:lpstr>
      <vt:lpstr>   Counter measures</vt:lpstr>
      <vt:lpstr>   Error evaluations</vt:lpstr>
      <vt:lpstr>   Error evaluations</vt:lpstr>
      <vt:lpstr>   Error evaluations</vt:lpstr>
      <vt:lpstr>  Error evaluations: Speculations</vt:lpstr>
      <vt:lpstr>   Next steps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brgzg 2001</cp:lastModifiedBy>
  <cp:revision>1287</cp:revision>
  <dcterms:created xsi:type="dcterms:W3CDTF">2020-07-20T06:28:23Z</dcterms:created>
  <dcterms:modified xsi:type="dcterms:W3CDTF">2026-07-16T07:41:57Z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0x010100352A53F757E5E848A18782864458E644</vt:lpwstr>
  </property>
  <property fmtid="{D5CDD505-2E9C-101B-9397-08002B2CF9AE}" pid="3" name="MediaServiceImageTags">
    <vt:lpwstr/>
  </property>
</Properties>
</file>