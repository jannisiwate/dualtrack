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25"/>
  </p:notesMasterIdLst>
  <p:sldIdLst>
    <p:sldId id="256" r:id="rId5"/>
    <p:sldId id="282" r:id="rId6"/>
    <p:sldId id="296" r:id="rId7"/>
    <p:sldId id="297" r:id="rId8"/>
    <p:sldId id="286" r:id="rId9"/>
    <p:sldId id="312" r:id="rId10"/>
    <p:sldId id="301" r:id="rId11"/>
    <p:sldId id="300" r:id="rId12"/>
    <p:sldId id="299" r:id="rId13"/>
    <p:sldId id="298" r:id="rId14"/>
    <p:sldId id="302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03" r:id="rId24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6150" autoAdjust="0"/>
  </p:normalViewPr>
  <p:slideViewPr>
    <p:cSldViewPr>
      <p:cViewPr varScale="1">
        <p:scale>
          <a:sx n="111" d="100"/>
          <a:sy n="111" d="100"/>
        </p:scale>
        <p:origin x="96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1389-0821-4682-D9C0-5C395DD7C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2EEA0-A488-5FC5-F9F9-2B5CDAC74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D939AB-37A0-B2C6-427A-027C0FA26A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620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4DD3-64F3-8232-353D-F77CE363F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6DDA7-5173-7335-429B-31316B75A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306C7-AB11-E097-381C-289331DFE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5888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16842-0B0E-91C8-7F35-B356EFFB7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FB22F-F84F-D3D2-EF9C-3CF06ED16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00DD1-C3C9-F066-CCEC-C1128C44A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665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B1621-8BDB-B4DD-BFF6-4A4A13EAF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812535-F9D6-A891-2506-2703DFF1E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7F941D-0BFD-DAD0-FD22-D9BB545C3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4234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89E11-F854-381E-81FF-78627306C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AD516A-FCAB-3BAD-E4AA-0D468D9B7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821611-294A-235E-8221-D36A650DE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marR="0" lvl="0" indent="-171450" algn="l" defTabSz="2857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TUSREC24, one scan each</a:t>
            </a:r>
          </a:p>
          <a:p>
            <a:pPr marL="171450" marR="0" lvl="0" indent="-171450" algn="l" defTabSz="2857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Only translation</a:t>
            </a:r>
          </a:p>
          <a:p>
            <a:pPr marL="171450" marR="0" lvl="0" indent="-171450" algn="l" defTabSz="2857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General direction is fine</a:t>
            </a:r>
          </a:p>
          <a:p>
            <a:pPr marL="171450" indent="-171450">
              <a:buFontTx/>
              <a:buChar char="-"/>
            </a:pPr>
            <a:r>
              <a:rPr lang="en-US" dirty="0"/>
              <a:t>Again no jitter for </a:t>
            </a:r>
            <a:r>
              <a:rPr lang="en-US" dirty="0" err="1"/>
              <a:t>DualTrack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IR retains jitter</a:t>
            </a:r>
          </a:p>
        </p:txBody>
      </p:sp>
    </p:spTree>
    <p:extLst>
      <p:ext uri="{BB962C8B-B14F-4D97-AF65-F5344CB8AC3E}">
        <p14:creationId xmlns:p14="http://schemas.microsoft.com/office/powerpoint/2010/main" val="40006271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110AB-35FE-15B6-B7ED-5B05C5D5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1FE2BB-792B-A211-B750-0BC0AFDD4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CF089-96BD-1CC4-EF9C-2166115FEF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TUSREC24, one scan, first 100 frames</a:t>
            </a:r>
          </a:p>
          <a:p>
            <a:pPr marL="171450" indent="-171450">
              <a:buFontTx/>
              <a:buChar char="-"/>
            </a:pPr>
            <a:r>
              <a:rPr lang="en-US" dirty="0"/>
              <a:t>general trend is fine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Note: z, pitch, roll from </a:t>
            </a:r>
            <a:r>
              <a:rPr lang="en-US" dirty="0" err="1"/>
              <a:t>DualTrack</a:t>
            </a:r>
            <a:r>
              <a:rPr lang="en-US" dirty="0"/>
              <a:t>: No jitter</a:t>
            </a:r>
          </a:p>
        </p:txBody>
      </p:sp>
    </p:spTree>
    <p:extLst>
      <p:ext uri="{BB962C8B-B14F-4D97-AF65-F5344CB8AC3E}">
        <p14:creationId xmlns:p14="http://schemas.microsoft.com/office/powerpoint/2010/main" val="18782947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4973B-E51E-FE48-A457-2C39A84F3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78778-BE6F-A199-3EDC-09525DED6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E4949C-59CE-8F46-43E0-68FFBF397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TUSREC24, 72 scans</a:t>
            </a:r>
          </a:p>
          <a:p>
            <a:pPr marL="171450" indent="-171450">
              <a:buFontTx/>
              <a:buChar char="-"/>
            </a:pPr>
            <a:r>
              <a:rPr lang="en-US" dirty="0"/>
              <a:t>Slight correlation between transform magnitude and error, especially for large values</a:t>
            </a:r>
          </a:p>
        </p:txBody>
      </p:sp>
    </p:spTree>
    <p:extLst>
      <p:ext uri="{BB962C8B-B14F-4D97-AF65-F5344CB8AC3E}">
        <p14:creationId xmlns:p14="http://schemas.microsoft.com/office/powerpoint/2010/main" val="596583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713E8-7E23-C53F-A2B7-7DA3FC6B0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82575-8C9D-EC7D-86DD-DC4B643AB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9E6708-94EC-1D21-425B-EF7C3C48E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15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13A74-A868-DB05-9DE4-3163F367B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371AA7-33FB-F080-7C37-8E277DC9B0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D47DC-0751-CEBC-9F51-035CB39398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3110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EADF8-30B9-97A5-CE34-6917ED80A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8B875A-B9BE-F360-B756-E065FD259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47DA1-D45D-F024-8373-0F3FD3F2B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2109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64341-8EFA-C217-8452-C9C7971B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8629CA-266A-54EC-A863-A2D61B272D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F28E7-2108-FA33-1A6A-73E282C4D1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227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9B1BF-973D-F348-BF93-101B22539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F7683-361B-9027-9D3E-9C182C1B2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1709C-1EF3-8205-AE6E-684B26A13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9928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5AD73-38EE-1FEF-45B0-F7E72ECF6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301AA7-372A-AE49-E388-B2A1906E51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8C760F-9EA3-CD68-F3AD-78591075DC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5191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E8AF-05FD-06B3-8E0D-7434C880B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68ECC-E5AE-A0A2-C8A0-FF86AA57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64ED51-9B4F-E538-50CA-6F45B98189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4746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3A89F-56A2-C158-071B-625B2066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C74E61-4C7F-36D5-8D90-3F41D786A5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CBCF0-171D-3AE1-08A5-4ABFC666C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translation: mm; rotation: angle</a:t>
            </a:r>
          </a:p>
        </p:txBody>
      </p:sp>
    </p:spTree>
    <p:extLst>
      <p:ext uri="{BB962C8B-B14F-4D97-AF65-F5344CB8AC3E}">
        <p14:creationId xmlns:p14="http://schemas.microsoft.com/office/powerpoint/2010/main" val="12620700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063BA-5B60-86B2-9CF7-37B0F3424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60A639-8CD0-677A-E709-70AF40D2C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4311C9-FA19-5D45-3CF2-61159479E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2282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6C8A9-21DD-A1F0-71BF-5893402A1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15482-1104-3DDC-EF19-AD9BCAF97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D4472-FBC4-E3B8-C8BE-DE587F080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0617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8693E-E9A8-4AE7-5391-88D6D2167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44BEE-185E-A9F3-BCCD-840BCD85B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7576-ACEA-80EF-9F41-5CC637778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3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7/16/2026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Enhance Image Registration (IR) (</a:t>
            </a:r>
            <a:r>
              <a:rPr lang="en-US" sz="2000" b="0" dirty="0" err="1"/>
              <a:t>SimpleITK</a:t>
            </a:r>
            <a:r>
              <a:rPr lang="en-US" sz="2000" b="0" dirty="0"/>
              <a:t>, rigid transform, only 2D so far!)</a:t>
            </a:r>
          </a:p>
          <a:p>
            <a:pPr lvl="1">
              <a:buClr>
                <a:srgbClr val="9E3611"/>
              </a:buClr>
            </a:pPr>
            <a:r>
              <a:rPr lang="en-US" sz="1850" b="0" dirty="0"/>
              <a:t>Metrics, optimizers, techniques, parameters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Evaluate IR on TUSREC24 </a:t>
            </a:r>
            <a:r>
              <a:rPr lang="en-US" sz="2000" b="0" dirty="0">
                <a:ea typeface="游ゴシック Medium"/>
                <a:cs typeface="Times New Roman"/>
              </a:rPr>
              <a:t>validation data set </a:t>
            </a:r>
            <a:r>
              <a:rPr lang="en-US" sz="2000" b="0" dirty="0"/>
              <a:t>(72 scans, no application to PGO here yet): Find frame poses only using IR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463EE220-6A3A-B3F0-3A80-F744F7697689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2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C2B53-B5F2-A1E3-3EBB-B5867E5D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A6F34E-01EF-6142-08CA-DF02143894C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Basics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6D7C7229-3472-4A02-4A8E-E5E32A9ABFB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6C9760-3356-4A61-D00B-8C2E67448ABF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2EDAF894-32A7-5310-7C54-33EE09373E6C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3</a:t>
            </a:fld>
            <a:endParaRPr lang="en-JP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81723FDE-40A9-C37B-C89E-1E3A3184345D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8483346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88E20572-F08F-1BD2-CC05-0C0DC7518880}"/>
              </a:ext>
            </a:extLst>
          </p:cNvPr>
          <p:cNvSpPr txBox="1">
            <a:spLocks/>
          </p:cNvSpPr>
          <p:nvPr/>
        </p:nvSpPr>
        <p:spPr>
          <a:xfrm>
            <a:off x="251520" y="774789"/>
            <a:ext cx="8640960" cy="24345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Find transform which makes one image align with another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8" name="Picture 6" descr="Basic example of an image registration procedure. F is the target image, M is the image to be registered, and R′ is the registered image. ">
            <a:extLst>
              <a:ext uri="{FF2B5EF4-FFF2-40B4-BE49-F238E27FC236}">
                <a16:creationId xmlns:a16="http://schemas.microsoft.com/office/drawing/2014/main" id="{C2E2E3ED-A985-C5A8-61B0-404F15D45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7877" y="1302362"/>
            <a:ext cx="5128245" cy="135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C78DC5-E40D-7F52-6C67-A948B9DB2666}"/>
              </a:ext>
            </a:extLst>
          </p:cNvPr>
          <p:cNvSpPr txBox="1"/>
          <p:nvPr/>
        </p:nvSpPr>
        <p:spPr>
          <a:xfrm>
            <a:off x="1247594" y="2798217"/>
            <a:ext cx="6648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游ゴシック Medium" panose="020B0500000000000000" pitchFamily="50" charset="-128"/>
              </a:rPr>
              <a:t>Source: https://www.researchgate.net/figure/Basic-example-of-an-image-registration-procedure-F-is-the-target-image-M-is-the-image_fig4_320212021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541FDF-9AC0-DA11-97E8-23BE9D68CA20}"/>
              </a:ext>
            </a:extLst>
          </p:cNvPr>
          <p:cNvSpPr txBox="1"/>
          <p:nvPr/>
        </p:nvSpPr>
        <p:spPr>
          <a:xfrm>
            <a:off x="323528" y="3507854"/>
            <a:ext cx="32031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F: fixed, M: moving</a:t>
            </a:r>
          </a:p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 err="1">
                <a:latin typeface="游ゴシック Medium" panose="020B0500000000000000" pitchFamily="50" charset="-128"/>
              </a:rPr>
              <a:t>SimpleITK</a:t>
            </a:r>
            <a:r>
              <a:rPr lang="en-US" sz="2000" dirty="0">
                <a:latin typeface="游ゴシック Medium" panose="020B0500000000000000" pitchFamily="50" charset="-128"/>
              </a:rPr>
              <a:t>: Finds T</a:t>
            </a:r>
            <a:r>
              <a:rPr lang="en-US" sz="2000" baseline="-25000" dirty="0">
                <a:latin typeface="游ゴシック Medium" panose="020B0500000000000000" pitchFamily="50" charset="-128"/>
              </a:rPr>
              <a:t>M➔F</a:t>
            </a:r>
          </a:p>
        </p:txBody>
      </p:sp>
    </p:spTree>
    <p:extLst>
      <p:ext uri="{BB962C8B-B14F-4D97-AF65-F5344CB8AC3E}">
        <p14:creationId xmlns:p14="http://schemas.microsoft.com/office/powerpoint/2010/main" val="2757316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B4A2B-423D-99A8-D915-BE58B73D5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9BED0A-C42D-E113-00DA-FE9CC602D1C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Combination of transforms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32A2463-26B6-52EF-00F5-AE43100F6426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4</a:t>
            </a:fld>
            <a:endParaRPr lang="en-JP" dirty="0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513FA28-6BE8-0A43-8E1A-A0633AAD6525}"/>
              </a:ext>
            </a:extLst>
          </p:cNvPr>
          <p:cNvSpPr txBox="1">
            <a:spLocks/>
          </p:cNvSpPr>
          <p:nvPr/>
        </p:nvSpPr>
        <p:spPr>
          <a:xfrm>
            <a:off x="323528" y="784016"/>
            <a:ext cx="8218099" cy="398686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	IR works in 2D and gives 3DoF transforms (x, y, yaw)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	Volume reconstruction works in 3D and needs 6DoF 	transforms (x, y, z, pitch, yaw, roll)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➔ Combine 2D IR pose and 3D </a:t>
            </a:r>
            <a:r>
              <a:rPr lang="en-US" sz="2000" dirty="0" err="1"/>
              <a:t>DualTrack</a:t>
            </a:r>
            <a:r>
              <a:rPr lang="en-US" sz="2000" dirty="0"/>
              <a:t> pose: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     IR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 err="1"/>
              <a:t>DualTrack</a:t>
            </a:r>
            <a:endParaRPr lang="en-US" sz="2000" b="0" dirty="0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339B2C2E-02C6-FBC6-F4E0-D451018F62FA}"/>
              </a:ext>
            </a:extLst>
          </p:cNvPr>
          <p:cNvSpPr txBox="1">
            <a:spLocks/>
          </p:cNvSpPr>
          <p:nvPr/>
        </p:nvSpPr>
        <p:spPr>
          <a:xfrm>
            <a:off x="8635746" y="48569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4</a:t>
            </a:fld>
            <a:endParaRPr lang="en-JP" dirty="0"/>
          </a:p>
        </p:txBody>
      </p:sp>
      <p:sp>
        <p:nvSpPr>
          <p:cNvPr id="8" name="Flowchart: Extract 7">
            <a:extLst>
              <a:ext uri="{FF2B5EF4-FFF2-40B4-BE49-F238E27FC236}">
                <a16:creationId xmlns:a16="http://schemas.microsoft.com/office/drawing/2014/main" id="{EB13424F-58B9-7F73-E2A1-2ECDB187D47E}"/>
              </a:ext>
            </a:extLst>
          </p:cNvPr>
          <p:cNvSpPr/>
          <p:nvPr/>
        </p:nvSpPr>
        <p:spPr>
          <a:xfrm>
            <a:off x="331603" y="913897"/>
            <a:ext cx="571138" cy="429556"/>
          </a:xfrm>
          <a:prstGeom prst="flowChartExtra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游ゴシック Medium" panose="020B0500000000000000" pitchFamily="50" charset="-128"/>
            </a:endParaRP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C6CB093-EAB5-BE9B-F7ED-8248CC402F49}"/>
              </a:ext>
            </a:extLst>
          </p:cNvPr>
          <p:cNvSpPr txBox="1">
            <a:spLocks/>
          </p:cNvSpPr>
          <p:nvPr/>
        </p:nvSpPr>
        <p:spPr>
          <a:xfrm>
            <a:off x="473156" y="987574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D34E499-B241-1F55-648A-4072000A71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711522"/>
              </p:ext>
            </p:extLst>
          </p:nvPr>
        </p:nvGraphicFramePr>
        <p:xfrm>
          <a:off x="5580112" y="3219822"/>
          <a:ext cx="2016224" cy="1245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12462374"/>
                    </a:ext>
                  </a:extLst>
                </a:gridCol>
              </a:tblGrid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5079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z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017317"/>
                  </a:ext>
                </a:extLst>
              </a:tr>
            </a:tbl>
          </a:graphicData>
        </a:graphic>
      </p:graphicFrame>
      <p:sp>
        <p:nvSpPr>
          <p:cNvPr id="13" name="Left Bracket 12">
            <a:extLst>
              <a:ext uri="{FF2B5EF4-FFF2-40B4-BE49-F238E27FC236}">
                <a16:creationId xmlns:a16="http://schemas.microsoft.com/office/drawing/2014/main" id="{5E1FC24A-9E7F-EDA6-5D82-7877689F2D55}"/>
              </a:ext>
            </a:extLst>
          </p:cNvPr>
          <p:cNvSpPr/>
          <p:nvPr/>
        </p:nvSpPr>
        <p:spPr>
          <a:xfrm>
            <a:off x="5423920" y="3170943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6D7F319D-AD1F-B275-15D6-99C425155390}"/>
              </a:ext>
            </a:extLst>
          </p:cNvPr>
          <p:cNvSpPr/>
          <p:nvPr/>
        </p:nvSpPr>
        <p:spPr>
          <a:xfrm rot="10800000">
            <a:off x="7289541" y="3170943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D618D0D-FC9F-EF70-28D4-3346B0670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258353"/>
              </p:ext>
            </p:extLst>
          </p:nvPr>
        </p:nvGraphicFramePr>
        <p:xfrm>
          <a:off x="2048272" y="2331635"/>
          <a:ext cx="1446281" cy="1027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8170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5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</a:tblGrid>
              <a:tr h="365186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6518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80912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</a:tbl>
          </a:graphicData>
        </a:graphic>
      </p:graphicFrame>
      <p:sp>
        <p:nvSpPr>
          <p:cNvPr id="17" name="Left Bracket 16">
            <a:extLst>
              <a:ext uri="{FF2B5EF4-FFF2-40B4-BE49-F238E27FC236}">
                <a16:creationId xmlns:a16="http://schemas.microsoft.com/office/drawing/2014/main" id="{E52893EF-A2D2-0FFD-851E-BEBE650DCA30}"/>
              </a:ext>
            </a:extLst>
          </p:cNvPr>
          <p:cNvSpPr/>
          <p:nvPr/>
        </p:nvSpPr>
        <p:spPr>
          <a:xfrm>
            <a:off x="1892080" y="2282756"/>
            <a:ext cx="240909" cy="1076431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778F082A-8556-DF6E-C222-266A03334E45}"/>
              </a:ext>
            </a:extLst>
          </p:cNvPr>
          <p:cNvSpPr/>
          <p:nvPr/>
        </p:nvSpPr>
        <p:spPr>
          <a:xfrm rot="10800000">
            <a:off x="3194579" y="2298454"/>
            <a:ext cx="240909" cy="1076431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4C8867A3-4A2D-0614-7B06-1ABBD3BC12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11891"/>
              </p:ext>
            </p:extLst>
          </p:nvPr>
        </p:nvGraphicFramePr>
        <p:xfrm>
          <a:off x="2051720" y="3611166"/>
          <a:ext cx="2016224" cy="1245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12462374"/>
                    </a:ext>
                  </a:extLst>
                </a:gridCol>
              </a:tblGrid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x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5079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 err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z</a:t>
                      </a:r>
                      <a:endParaRPr lang="en-US" baseline="-2500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017317"/>
                  </a:ext>
                </a:extLst>
              </a:tr>
            </a:tbl>
          </a:graphicData>
        </a:graphic>
      </p:graphicFrame>
      <p:sp>
        <p:nvSpPr>
          <p:cNvPr id="20" name="Left Bracket 19">
            <a:extLst>
              <a:ext uri="{FF2B5EF4-FFF2-40B4-BE49-F238E27FC236}">
                <a16:creationId xmlns:a16="http://schemas.microsoft.com/office/drawing/2014/main" id="{48AF3A2D-5335-D4AE-A70C-EAF89F8E30E3}"/>
              </a:ext>
            </a:extLst>
          </p:cNvPr>
          <p:cNvSpPr/>
          <p:nvPr/>
        </p:nvSpPr>
        <p:spPr>
          <a:xfrm>
            <a:off x="1895528" y="3562287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B5065C06-BDAF-78F4-C716-A2074C1BAE9C}"/>
              </a:ext>
            </a:extLst>
          </p:cNvPr>
          <p:cNvSpPr/>
          <p:nvPr/>
        </p:nvSpPr>
        <p:spPr>
          <a:xfrm rot="10800000">
            <a:off x="3761149" y="3562287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8824662-9373-A6A5-2531-A196D3A25EC0}"/>
              </a:ext>
            </a:extLst>
          </p:cNvPr>
          <p:cNvCxnSpPr/>
          <p:nvPr/>
        </p:nvCxnSpPr>
        <p:spPr>
          <a:xfrm>
            <a:off x="3707904" y="2643758"/>
            <a:ext cx="1584176" cy="576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C98F4E0-F740-C9E6-5232-CED0E97F7935}"/>
              </a:ext>
            </a:extLst>
          </p:cNvPr>
          <p:cNvSpPr txBox="1"/>
          <p:nvPr/>
        </p:nvSpPr>
        <p:spPr>
          <a:xfrm>
            <a:off x="4160273" y="2446767"/>
            <a:ext cx="1051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x, y, yaw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C3470C-5905-420B-5946-61AFE79ED05A}"/>
              </a:ext>
            </a:extLst>
          </p:cNvPr>
          <p:cNvCxnSpPr/>
          <p:nvPr/>
        </p:nvCxnSpPr>
        <p:spPr>
          <a:xfrm flipV="1">
            <a:off x="4247964" y="4234077"/>
            <a:ext cx="963879" cy="301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A214CE6-C016-CC8D-DEF8-51A7C19AB17F}"/>
              </a:ext>
            </a:extLst>
          </p:cNvPr>
          <p:cNvSpPr txBox="1"/>
          <p:nvPr/>
        </p:nvSpPr>
        <p:spPr>
          <a:xfrm>
            <a:off x="4017766" y="3779266"/>
            <a:ext cx="1390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z, pitch, roll</a:t>
            </a:r>
          </a:p>
        </p:txBody>
      </p:sp>
    </p:spTree>
    <p:extLst>
      <p:ext uri="{BB962C8B-B14F-4D97-AF65-F5344CB8AC3E}">
        <p14:creationId xmlns:p14="http://schemas.microsoft.com/office/powerpoint/2010/main" val="3937431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7B051-0EF6-8F7B-56A4-C014AFF6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B2CB50-C8A5-0856-D78D-E98286EBC0A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</a:t>
            </a:r>
            <a:r>
              <a:rPr lang="en-US" sz="2400" dirty="0" err="1">
                <a:ea typeface="游ゴシック Medium"/>
                <a:cs typeface="Times New Roman"/>
              </a:rPr>
              <a:t>SimpleITK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8E78D97E-74FD-2C66-7EBF-94EB233ED3EB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What works best so far (</a:t>
            </a:r>
            <a:r>
              <a:rPr lang="en-US" sz="2000" dirty="0" err="1">
                <a:ea typeface="游ゴシック Medium"/>
                <a:cs typeface="Times New Roman"/>
              </a:rPr>
              <a:t>SimpleITK</a:t>
            </a:r>
            <a:r>
              <a:rPr lang="en-US" sz="2000" dirty="0">
                <a:ea typeface="游ゴシック Medium"/>
                <a:cs typeface="Times New Roman"/>
              </a:rPr>
              <a:t>):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solidFill>
                  <a:schemeClr val="tx1"/>
                </a:solidFill>
                <a:ea typeface="游ゴシック Medium"/>
                <a:cs typeface="Times New Roman"/>
              </a:rPr>
              <a:t>Metric</a:t>
            </a:r>
            <a:r>
              <a:rPr lang="en-US" sz="2000" b="0" dirty="0">
                <a:ea typeface="游ゴシック Medium"/>
                <a:cs typeface="Times New Roman"/>
              </a:rPr>
              <a:t>: Mattes Mutual Information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solidFill>
                  <a:schemeClr val="tx1"/>
                </a:solidFill>
                <a:ea typeface="游ゴシック Medium"/>
                <a:cs typeface="Times New Roman"/>
              </a:rPr>
              <a:t>Maximize information between fixed and moving image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Compute fixed, moving and joint PDFs over set of intensity bins, compute MI by summing over bins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50 histogram bins</a:t>
            </a:r>
          </a:p>
          <a:p>
            <a:pPr marL="205740" lvl="1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Optimizer: Gradient Descent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Init with pose estimation from </a:t>
            </a:r>
            <a:r>
              <a:rPr lang="en-US" sz="1850" b="0" dirty="0" err="1">
                <a:ea typeface="游ゴシック Medium"/>
                <a:cs typeface="Times New Roman"/>
              </a:rPr>
              <a:t>DualTrack</a:t>
            </a:r>
            <a:r>
              <a:rPr lang="en-US" sz="1850" b="0" dirty="0">
                <a:ea typeface="游ゴシック Medium"/>
                <a:cs typeface="Times New Roman"/>
              </a:rPr>
              <a:t> (</a:t>
            </a:r>
            <a:r>
              <a:rPr lang="en-US" sz="1850" b="0" dirty="0" err="1">
                <a:ea typeface="游ゴシック Medium"/>
                <a:cs typeface="Times New Roman"/>
              </a:rPr>
              <a:t>init</a:t>
            </a:r>
            <a:r>
              <a:rPr lang="en-US" sz="1850" b="0" dirty="0">
                <a:ea typeface="游ゴシック Medium"/>
                <a:cs typeface="Times New Roman"/>
              </a:rPr>
              <a:t> with identity works almost equally well)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Learning rate 0.1, min. change </a:t>
            </a:r>
            <a:r>
              <a:rPr lang="en-US" sz="1850" b="0" dirty="0"/>
              <a:t>1e-4</a:t>
            </a:r>
            <a:r>
              <a:rPr lang="en-US" b="0" dirty="0"/>
              <a:t>, </a:t>
            </a:r>
            <a:r>
              <a:rPr lang="en-US" sz="1850" b="0" dirty="0">
                <a:ea typeface="游ゴシック Medium"/>
                <a:cs typeface="Times New Roman"/>
              </a:rPr>
              <a:t>200 max. iterations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AB01D8D-8608-E5C2-BC25-E92EDC8B4C75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5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4113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F228E-1387-9C16-9C77-F6845F89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EB8BAA-5FED-BB5C-D4EC-7ACEF895C39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Image Registration: Results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D4E245-0B4A-62C8-531E-BD4BEE7AE257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6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92757092-DA6E-3B0D-9EFA-3A6B70CF4FEF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TUSREC24 validation data set, 72 scans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DualTrack24: FDR 5.1%, GPE 4.9mm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IR: FDR 28.0%, GPE 9.9mm</a:t>
            </a: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172808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5F4D0-91CB-6276-B7ED-90D27F78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BE8E00-7FD1-6F1E-FDC3-FF01AA1BD96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Results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616A3B-5A00-8CDF-BFBA-C5996F8B948C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7BA5A07-CC6C-1956-E939-1B54DCAF1C9C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7</a:t>
            </a:fld>
            <a:endParaRPr lang="en-JP" dirty="0"/>
          </a:p>
        </p:txBody>
      </p:sp>
      <p:pic>
        <p:nvPicPr>
          <p:cNvPr id="8" name="Picture 7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7F03BDD9-47F8-9917-C9EB-F5115109D7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76128"/>
            <a:ext cx="4672345" cy="3504259"/>
          </a:xfrm>
          <a:prstGeom prst="rect">
            <a:avLst/>
          </a:prstGeom>
        </p:spPr>
      </p:pic>
      <p:pic>
        <p:nvPicPr>
          <p:cNvPr id="11" name="Picture 10" descr="A graph with a red line and blue line&#10;&#10;AI-generated content may be incorrect.">
            <a:extLst>
              <a:ext uri="{FF2B5EF4-FFF2-40B4-BE49-F238E27FC236}">
                <a16:creationId xmlns:a16="http://schemas.microsoft.com/office/drawing/2014/main" id="{5CFDD1E5-F164-0C74-9660-EA77F41C4F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8548" y="993326"/>
            <a:ext cx="4672345" cy="350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95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946F0-4886-E1AB-21AB-5E3D278D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04A049-4A1D-2A82-224B-3C431ED2206D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Results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3DD8E8B9-C7CA-94B6-5C83-2E0F0AD60C18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1850" b="0" dirty="0">
                <a:ea typeface="游ゴシック Medium"/>
                <a:cs typeface="Times New Roman"/>
              </a:rPr>
              <a:t>Blue: GT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1850" b="0" dirty="0">
                <a:ea typeface="游ゴシック Medium"/>
                <a:cs typeface="Times New Roman"/>
              </a:rPr>
              <a:t>Yellow: IR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38C8B24-24FF-6957-259C-F6EB4148B521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8</a:t>
            </a:fld>
            <a:endParaRPr lang="en-JP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0938B9-F821-E185-E3EE-A3237F47D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825" y="657388"/>
            <a:ext cx="5848350" cy="43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19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9BFF6-F96D-759B-7CD5-FE798303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7579CF-050E-2E4C-565F-8F9AEE04871E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Results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EAB8BF09-3CC4-BE08-8058-C4E80F75A750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1850" b="0" dirty="0">
                <a:ea typeface="游ゴシック Medium"/>
                <a:cs typeface="Times New Roman"/>
              </a:rPr>
              <a:t>      Norm of translational vector		                    Angle of the rotation   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F26921FA-F22E-5477-6E36-22AFF44AB2E2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9</a:t>
            </a:fld>
            <a:endParaRPr lang="en-JP" dirty="0"/>
          </a:p>
        </p:txBody>
      </p:sp>
      <p:pic>
        <p:nvPicPr>
          <p:cNvPr id="7" name="Picture 6" descr="A graph of a function">
            <a:extLst>
              <a:ext uri="{FF2B5EF4-FFF2-40B4-BE49-F238E27FC236}">
                <a16:creationId xmlns:a16="http://schemas.microsoft.com/office/drawing/2014/main" id="{E7EE3D15-073E-79B7-95C9-3F77B319FE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6750"/>
            <a:ext cx="9144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31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EE615-AAEB-85FD-6A44-E1614A63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9D0D0E-5139-8637-F4ED-74D6CAAA275C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Image Registration: Problem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26618D5B-77FA-8994-A5A3-4939BDC58824}"/>
              </a:ext>
            </a:extLst>
          </p:cNvPr>
          <p:cNvSpPr txBox="1">
            <a:spLocks/>
          </p:cNvSpPr>
          <p:nvPr/>
        </p:nvSpPr>
        <p:spPr>
          <a:xfrm>
            <a:off x="323528" y="587025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Problem</a:t>
            </a:r>
            <a:r>
              <a:rPr lang="en-US" sz="2000" b="0" dirty="0">
                <a:ea typeface="游ゴシック Medium"/>
                <a:cs typeface="Times New Roman"/>
              </a:rPr>
              <a:t>: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2D IR does not account for out-of-plane motion (z axis) nor pitch and roll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	  y                                                           </a:t>
            </a:r>
            <a:r>
              <a:rPr lang="en-US" sz="2000" b="0" dirty="0" err="1">
                <a:ea typeface="游ゴシック Medium"/>
                <a:cs typeface="Times New Roman"/>
              </a:rPr>
              <a:t>y</a:t>
            </a: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								       x						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		        x						z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Features present in one picture are not necessarily present in the other (spawning feature problem)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2D IR cannot find a transform which makes the two images align perfectly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GT transform will not yield a perfect error metric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3AB306FF-6212-2853-245A-1687794578FA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10</a:t>
            </a:fld>
            <a:endParaRPr lang="en-JP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492867-713B-53BD-0E58-DD806D3F62EE}"/>
              </a:ext>
            </a:extLst>
          </p:cNvPr>
          <p:cNvSpPr/>
          <p:nvPr/>
        </p:nvSpPr>
        <p:spPr>
          <a:xfrm>
            <a:off x="1547664" y="1851670"/>
            <a:ext cx="792088" cy="792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1DAF8C-1498-EDC2-5A45-DEAE5FC3278B}"/>
              </a:ext>
            </a:extLst>
          </p:cNvPr>
          <p:cNvSpPr/>
          <p:nvPr/>
        </p:nvSpPr>
        <p:spPr>
          <a:xfrm>
            <a:off x="2987824" y="1851670"/>
            <a:ext cx="792088" cy="792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2FE8E0-B909-D391-C20A-98A17EFCAFA1}"/>
              </a:ext>
            </a:extLst>
          </p:cNvPr>
          <p:cNvSpPr/>
          <p:nvPr/>
        </p:nvSpPr>
        <p:spPr>
          <a:xfrm>
            <a:off x="5521545" y="1851670"/>
            <a:ext cx="792088" cy="792088"/>
          </a:xfrm>
          <a:prstGeom prst="rect">
            <a:avLst/>
          </a:prstGeom>
          <a:scene3d>
            <a:camera prst="orthographicFront">
              <a:rot lat="19799999" lon="3299968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23DA5-5419-E853-70EE-478CB5895B8E}"/>
              </a:ext>
            </a:extLst>
          </p:cNvPr>
          <p:cNvSpPr/>
          <p:nvPr/>
        </p:nvSpPr>
        <p:spPr>
          <a:xfrm>
            <a:off x="6516216" y="1851670"/>
            <a:ext cx="792088" cy="792088"/>
          </a:xfrm>
          <a:prstGeom prst="rect">
            <a:avLst/>
          </a:prstGeom>
          <a:scene3d>
            <a:camera prst="orthographicFront">
              <a:rot lat="19799999" lon="3299968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E0FC7E9-0368-4B6E-EE65-2103BB15D0F2}"/>
              </a:ext>
            </a:extLst>
          </p:cNvPr>
          <p:cNvCxnSpPr>
            <a:cxnSpLocks/>
          </p:cNvCxnSpPr>
          <p:nvPr/>
        </p:nvCxnSpPr>
        <p:spPr>
          <a:xfrm>
            <a:off x="2411760" y="2251425"/>
            <a:ext cx="50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AAC163-8BF5-3C22-18DA-3D11C3110ECE}"/>
              </a:ext>
            </a:extLst>
          </p:cNvPr>
          <p:cNvCxnSpPr>
            <a:cxnSpLocks/>
          </p:cNvCxnSpPr>
          <p:nvPr/>
        </p:nvCxnSpPr>
        <p:spPr>
          <a:xfrm>
            <a:off x="6156176" y="2265019"/>
            <a:ext cx="50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1CF09BC-FC37-0628-91C8-391B321031B7}"/>
              </a:ext>
            </a:extLst>
          </p:cNvPr>
          <p:cNvCxnSpPr/>
          <p:nvPr/>
        </p:nvCxnSpPr>
        <p:spPr>
          <a:xfrm flipV="1">
            <a:off x="1187624" y="1851670"/>
            <a:ext cx="0" cy="1008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E52777-E938-7B27-8B01-5E90D1C2E7C4}"/>
              </a:ext>
            </a:extLst>
          </p:cNvPr>
          <p:cNvCxnSpPr/>
          <p:nvPr/>
        </p:nvCxnSpPr>
        <p:spPr>
          <a:xfrm>
            <a:off x="1187624" y="2859782"/>
            <a:ext cx="11521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E11D03-01C0-AC1D-769E-8F550BC2D25F}"/>
              </a:ext>
            </a:extLst>
          </p:cNvPr>
          <p:cNvCxnSpPr/>
          <p:nvPr/>
        </p:nvCxnSpPr>
        <p:spPr>
          <a:xfrm flipV="1">
            <a:off x="5580112" y="1853233"/>
            <a:ext cx="0" cy="1008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FBF172C-0E26-7B99-3F0D-7FB62ADDDD75}"/>
              </a:ext>
            </a:extLst>
          </p:cNvPr>
          <p:cNvCxnSpPr>
            <a:cxnSpLocks/>
          </p:cNvCxnSpPr>
          <p:nvPr/>
        </p:nvCxnSpPr>
        <p:spPr>
          <a:xfrm flipV="1">
            <a:off x="5580112" y="2355726"/>
            <a:ext cx="792088" cy="522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819258C-7F9D-E6B6-5ECB-484EF04F58E4}"/>
              </a:ext>
            </a:extLst>
          </p:cNvPr>
          <p:cNvCxnSpPr>
            <a:cxnSpLocks/>
          </p:cNvCxnSpPr>
          <p:nvPr/>
        </p:nvCxnSpPr>
        <p:spPr>
          <a:xfrm>
            <a:off x="5588496" y="2878481"/>
            <a:ext cx="9277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7450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89B8-59B9-7747-9CFF-C36951006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456144-7424-555C-A8FB-2C3175541B06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C7CFA56-C9F2-51A1-50B0-B1CA269CF9C2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11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1F24EC59-7D7C-1FB8-8E3A-F9AD0DBE5F14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Focus on center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Use only center for IR (</a:t>
            </a:r>
            <a:r>
              <a:rPr lang="en-US" sz="2000" b="0" dirty="0" err="1">
                <a:ea typeface="游ゴシック Medium"/>
                <a:cs typeface="Times New Roman"/>
              </a:rPr>
              <a:t>SimpleITK</a:t>
            </a:r>
            <a:r>
              <a:rPr lang="en-US" sz="2000" b="0" dirty="0">
                <a:ea typeface="游ゴシック Medium"/>
                <a:cs typeface="Times New Roman"/>
              </a:rPr>
              <a:t>: Region of Interest)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Center 50% of both x and y</a:t>
            </a: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Pixels near to the center are less affected by roll and pitch (center of rotation is the image center)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7612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0CBE3-69F8-4037-CF62-6A4837819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F68E38-3972-071E-AB21-78C6830F0205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E309BA2-072C-DFB4-1A74-F7A67DCBE494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12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4FEDFD8C-F0C0-2B2B-58BC-777E691EA639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Focus on center</a:t>
            </a:r>
          </a:p>
        </p:txBody>
      </p:sp>
      <p:pic>
        <p:nvPicPr>
          <p:cNvPr id="8" name="Picture 7" descr="A close-up of an ultrasound">
            <a:extLst>
              <a:ext uri="{FF2B5EF4-FFF2-40B4-BE49-F238E27FC236}">
                <a16:creationId xmlns:a16="http://schemas.microsoft.com/office/drawing/2014/main" id="{10282119-CEC4-3720-DE6A-CA317E422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385078"/>
            <a:ext cx="4320480" cy="3593354"/>
          </a:xfrm>
          <a:prstGeom prst="rect">
            <a:avLst/>
          </a:prstGeom>
        </p:spPr>
      </p:pic>
      <p:pic>
        <p:nvPicPr>
          <p:cNvPr id="12" name="Picture 11" descr="A close-up of an ultrasound&#10;&#10;AI-generated content may be incorrect.">
            <a:extLst>
              <a:ext uri="{FF2B5EF4-FFF2-40B4-BE49-F238E27FC236}">
                <a16:creationId xmlns:a16="http://schemas.microsoft.com/office/drawing/2014/main" id="{2CFEC377-1A1A-B7F0-0D26-876B3867EC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7016" y="2110043"/>
            <a:ext cx="2400635" cy="2143424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C0B098E-9922-0DA5-F045-8998B48A5D70}"/>
              </a:ext>
            </a:extLst>
          </p:cNvPr>
          <p:cNvCxnSpPr>
            <a:cxnSpLocks/>
          </p:cNvCxnSpPr>
          <p:nvPr/>
        </p:nvCxnSpPr>
        <p:spPr>
          <a:xfrm>
            <a:off x="4797556" y="3211901"/>
            <a:ext cx="96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8709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F8BDC-C859-E52C-3139-21AE9808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2F27D9-E604-DEE0-FF99-736C1905260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3F8B26A9-BD51-1280-5372-54094BA24425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13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F325CD5E-8DF5-3AB1-FB5C-E8190501D04D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Patch and evaluate</a:t>
            </a:r>
          </a:p>
          <a:p>
            <a:pPr marL="457200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2000" b="0" dirty="0">
                <a:ea typeface="游ゴシック Medium"/>
                <a:cs typeface="Times New Roman"/>
              </a:rPr>
              <a:t>Divide fixed and moving into patches</a:t>
            </a:r>
          </a:p>
          <a:p>
            <a:pPr marL="457200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2000" b="0" dirty="0">
                <a:ea typeface="游ゴシック Medium"/>
                <a:cs typeface="Times New Roman"/>
              </a:rPr>
              <a:t>For every fixed patch:</a:t>
            </a:r>
          </a:p>
          <a:p>
            <a:pPr marL="662940" lvl="1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1850" b="0" dirty="0">
                <a:ea typeface="游ゴシック Medium"/>
                <a:cs typeface="Times New Roman"/>
              </a:rPr>
              <a:t>Apply ref transform from </a:t>
            </a:r>
            <a:r>
              <a:rPr lang="en-US" sz="1850" b="0" dirty="0" err="1">
                <a:ea typeface="游ゴシック Medium"/>
                <a:cs typeface="Times New Roman"/>
              </a:rPr>
              <a:t>DualTrack</a:t>
            </a:r>
            <a:endParaRPr lang="en-US" sz="1850" b="0" dirty="0">
              <a:ea typeface="游ゴシック Medium"/>
              <a:cs typeface="Times New Roman"/>
            </a:endParaRPr>
          </a:p>
          <a:p>
            <a:pPr marL="662940" lvl="1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1850" b="0" dirty="0">
                <a:ea typeface="游ゴシック Medium"/>
                <a:cs typeface="Times New Roman"/>
              </a:rPr>
              <a:t>Compare transformed fixed patch and corresponding moving patch</a:t>
            </a:r>
          </a:p>
          <a:p>
            <a:pPr marL="662940" lvl="1" indent="-457200">
              <a:buClr>
                <a:srgbClr val="9E3611"/>
              </a:buClr>
              <a:buFont typeface="+mj-lt"/>
              <a:buAutoNum type="arabicPeriod"/>
            </a:pPr>
            <a:r>
              <a:rPr lang="en-US" sz="1850" b="0" dirty="0">
                <a:ea typeface="游ゴシック Medium"/>
                <a:cs typeface="Times New Roman"/>
              </a:rPr>
              <a:t>Consider for IR if similar</a:t>
            </a:r>
            <a:r>
              <a:rPr lang="en-US" sz="1800" b="0" dirty="0">
                <a:ea typeface="游ゴシック Medium"/>
                <a:cs typeface="Times New Roman"/>
              </a:rPr>
              <a:t> (</a:t>
            </a:r>
            <a:r>
              <a:rPr lang="en-US" sz="1800" b="0" dirty="0" err="1">
                <a:ea typeface="游ゴシック Medium"/>
                <a:cs typeface="Times New Roman"/>
              </a:rPr>
              <a:t>SimpleITK</a:t>
            </a:r>
            <a:r>
              <a:rPr lang="en-US" sz="1800" b="0" dirty="0">
                <a:ea typeface="游ゴシック Medium"/>
                <a:cs typeface="Times New Roman"/>
              </a:rPr>
              <a:t>: Mask)</a:t>
            </a:r>
            <a:endParaRPr lang="en-US" sz="1850" b="0" dirty="0">
              <a:ea typeface="游ゴシック Medium"/>
              <a:cs typeface="Times New Roman"/>
            </a:endParaRPr>
          </a:p>
          <a:p>
            <a:pPr marL="205740" lvl="1" indent="0">
              <a:buClr>
                <a:srgbClr val="9E3611"/>
              </a:buClr>
              <a:buNone/>
            </a:pPr>
            <a:endParaRPr lang="en-US" sz="185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</a:t>
            </a:r>
            <a:r>
              <a:rPr lang="en-US" sz="2000" b="0" dirty="0"/>
              <a:t> 4x4 grid, Normalized </a:t>
            </a:r>
            <a:r>
              <a:rPr lang="en-US" sz="2000" b="0" dirty="0">
                <a:ea typeface="游ゴシック Medium"/>
                <a:cs typeface="Times New Roman"/>
              </a:rPr>
              <a:t>Cross Correlation for comparison (value range [-1, 1]), threshold 0.7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Patches with little similarity (due to a potential spawning feature) are discarded</a:t>
            </a:r>
          </a:p>
        </p:txBody>
      </p:sp>
    </p:spTree>
    <p:extLst>
      <p:ext uri="{BB962C8B-B14F-4D97-AF65-F5344CB8AC3E}">
        <p14:creationId xmlns:p14="http://schemas.microsoft.com/office/powerpoint/2010/main" val="178464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FF59-029B-3A6D-111A-7121FFCE3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EB9EFB-4291-B0E6-37DA-573E43EE853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609D680-A356-987E-BDBC-C822528BB718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14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79D901D0-12F2-9F13-76B2-ECD202DFC5D7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Patch and evaluate</a:t>
            </a:r>
          </a:p>
        </p:txBody>
      </p:sp>
      <p:pic>
        <p:nvPicPr>
          <p:cNvPr id="3" name="Picture 2" descr="A graph with a black rectangle&#10;&#10;AI-generated content may be incorrect.">
            <a:extLst>
              <a:ext uri="{FF2B5EF4-FFF2-40B4-BE49-F238E27FC236}">
                <a16:creationId xmlns:a16="http://schemas.microsoft.com/office/drawing/2014/main" id="{89A5D63C-FA68-2BEC-5788-AAFF717A5B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718" y="1174180"/>
            <a:ext cx="2400635" cy="3210372"/>
          </a:xfrm>
          <a:prstGeom prst="rect">
            <a:avLst/>
          </a:prstGeom>
        </p:spPr>
      </p:pic>
      <p:pic>
        <p:nvPicPr>
          <p:cNvPr id="5" name="Picture 4" descr="A close-up of an ultrasound&#10;&#10;AI-generated content may be incorrect.">
            <a:extLst>
              <a:ext uri="{FF2B5EF4-FFF2-40B4-BE49-F238E27FC236}">
                <a16:creationId xmlns:a16="http://schemas.microsoft.com/office/drawing/2014/main" id="{698B3C1F-ED47-2101-28FE-0AAD39C79F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1" y="1707654"/>
            <a:ext cx="2400635" cy="214342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F35BEE-1BD4-415C-B7C5-CF232C48AEB9}"/>
              </a:ext>
            </a:extLst>
          </p:cNvPr>
          <p:cNvCxnSpPr>
            <a:cxnSpLocks/>
          </p:cNvCxnSpPr>
          <p:nvPr/>
        </p:nvCxnSpPr>
        <p:spPr>
          <a:xfrm>
            <a:off x="3851920" y="2787774"/>
            <a:ext cx="96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C63D156-BE6C-BDF5-9A83-37F8AA03A9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047970"/>
              </p:ext>
            </p:extLst>
          </p:nvPr>
        </p:nvGraphicFramePr>
        <p:xfrm>
          <a:off x="891156" y="1923678"/>
          <a:ext cx="2210780" cy="1728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695">
                  <a:extLst>
                    <a:ext uri="{9D8B030D-6E8A-4147-A177-3AD203B41FA5}">
                      <a16:colId xmlns:a16="http://schemas.microsoft.com/office/drawing/2014/main" val="2328694238"/>
                    </a:ext>
                  </a:extLst>
                </a:gridCol>
                <a:gridCol w="552695">
                  <a:extLst>
                    <a:ext uri="{9D8B030D-6E8A-4147-A177-3AD203B41FA5}">
                      <a16:colId xmlns:a16="http://schemas.microsoft.com/office/drawing/2014/main" val="2491919738"/>
                    </a:ext>
                  </a:extLst>
                </a:gridCol>
                <a:gridCol w="552695">
                  <a:extLst>
                    <a:ext uri="{9D8B030D-6E8A-4147-A177-3AD203B41FA5}">
                      <a16:colId xmlns:a16="http://schemas.microsoft.com/office/drawing/2014/main" val="2225398154"/>
                    </a:ext>
                  </a:extLst>
                </a:gridCol>
                <a:gridCol w="552695">
                  <a:extLst>
                    <a:ext uri="{9D8B030D-6E8A-4147-A177-3AD203B41FA5}">
                      <a16:colId xmlns:a16="http://schemas.microsoft.com/office/drawing/2014/main" val="248011818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12357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5216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2515714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7640063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8B068A3D-DC4C-322B-B020-CE2A54B4381C}"/>
              </a:ext>
            </a:extLst>
          </p:cNvPr>
          <p:cNvSpPr/>
          <p:nvPr/>
        </p:nvSpPr>
        <p:spPr>
          <a:xfrm>
            <a:off x="1403648" y="1735717"/>
            <a:ext cx="122413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3FB8ED-1918-CDF1-74D7-854E7C4650A5}"/>
              </a:ext>
            </a:extLst>
          </p:cNvPr>
          <p:cNvSpPr/>
          <p:nvPr/>
        </p:nvSpPr>
        <p:spPr>
          <a:xfrm>
            <a:off x="6255039" y="1779662"/>
            <a:ext cx="122413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66D0158B-0D59-F1FA-9AE3-D93F2ACDA273}"/>
              </a:ext>
            </a:extLst>
          </p:cNvPr>
          <p:cNvSpPr txBox="1">
            <a:spLocks/>
          </p:cNvSpPr>
          <p:nvPr/>
        </p:nvSpPr>
        <p:spPr>
          <a:xfrm>
            <a:off x="5856581" y="3929407"/>
            <a:ext cx="2021052" cy="1123721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Mask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White: keep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Black: discard</a:t>
            </a:r>
          </a:p>
        </p:txBody>
      </p:sp>
    </p:spTree>
    <p:extLst>
      <p:ext uri="{BB962C8B-B14F-4D97-AF65-F5344CB8AC3E}">
        <p14:creationId xmlns:p14="http://schemas.microsoft.com/office/powerpoint/2010/main" val="3810129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8872D-B5B1-446A-3435-B927078A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94C52C-1C4B-1680-54A8-26D5D3A0EF19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Counter measures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CCD4F8D-C1F0-7A42-383F-CBA6CB1A8928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15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9F41F01B-4C86-B1ED-859A-5C50C8E8ADC2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Focus on center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Improvement of &gt;200% for FDR, GPE and run time for TUSREC24 validation data set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Patch and evaluate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Improvement of 5% for FDR, 1,5% for runtime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But: IR still performs worse than </a:t>
            </a:r>
            <a:r>
              <a:rPr lang="en-US" sz="2000" b="0" dirty="0" err="1"/>
              <a:t>DualTrack</a:t>
            </a: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DualTrack24: FDR 5.1%, GPE 4.9mm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IR with counter measures: FDR 11.4%, GPE 9.9mm</a:t>
            </a:r>
            <a:endParaRPr lang="en-US" sz="2000" b="0" dirty="0"/>
          </a:p>
        </p:txBody>
      </p:sp>
    </p:spTree>
    <p:extLst>
      <p:ext uri="{BB962C8B-B14F-4D97-AF65-F5344CB8AC3E}">
        <p14:creationId xmlns:p14="http://schemas.microsoft.com/office/powerpoint/2010/main" val="4028147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1FC5F-50F8-0431-6793-46378037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980A6F-7D70-9EA1-F315-203DF074E556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evaluations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ACA48EC-FA54-02B6-1FF3-813916064306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16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57892FE-CCAB-34F2-D2EB-F445646AFCAA}"/>
              </a:ext>
            </a:extLst>
          </p:cNvPr>
          <p:cNvSpPr txBox="1">
            <a:spLocks/>
          </p:cNvSpPr>
          <p:nvPr/>
        </p:nvSpPr>
        <p:spPr>
          <a:xfrm>
            <a:off x="6031684" y="707816"/>
            <a:ext cx="3112316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Abs GT vs Abs Error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(DualTrack24 in-between Pred – GT, TUSREC24 72 scans combined)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Again: Larger error for larger values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</p:txBody>
      </p:sp>
      <p:pic>
        <p:nvPicPr>
          <p:cNvPr id="10" name="Picture 9" descr="A group of graphs with numbers&#10;&#10;AI-generated content may be incorrect.">
            <a:extLst>
              <a:ext uri="{FF2B5EF4-FFF2-40B4-BE49-F238E27FC236}">
                <a16:creationId xmlns:a16="http://schemas.microsoft.com/office/drawing/2014/main" id="{DE1F2A94-3258-F952-A1EF-3A53F7AFA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82" y="587025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915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C1655-56E8-D154-E5A8-6BF91BD6A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7E8E27-CD49-8896-4518-86A37D9A3803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evaluations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211BBBA-7AEA-E016-9845-AFC557D4496E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17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79B56064-B7C9-9E53-0FA0-CF41DFB1A7BC}"/>
              </a:ext>
            </a:extLst>
          </p:cNvPr>
          <p:cNvSpPr txBox="1">
            <a:spLocks/>
          </p:cNvSpPr>
          <p:nvPr/>
        </p:nvSpPr>
        <p:spPr>
          <a:xfrm>
            <a:off x="6031684" y="707816"/>
            <a:ext cx="3112316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Mean Error Through Time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(DualTrack24 in-between Pred – GT, TUSREC24 </a:t>
            </a:r>
            <a:r>
              <a:rPr lang="en-US" sz="2000" b="0" dirty="0">
                <a:ea typeface="游ゴシック Medium"/>
                <a:cs typeface="Times New Roman"/>
              </a:rPr>
              <a:t>validation data set, all scans </a:t>
            </a:r>
            <a:r>
              <a:rPr lang="en-US" sz="2000" b="0" dirty="0"/>
              <a:t>combined)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Mean error of </a:t>
            </a:r>
            <a:r>
              <a:rPr lang="en-US" sz="2000" b="0" dirty="0" err="1"/>
              <a:t>DualTrack</a:t>
            </a:r>
            <a:r>
              <a:rPr lang="en-US" sz="2000" b="0" dirty="0"/>
              <a:t> is </a:t>
            </a:r>
            <a:r>
              <a:rPr lang="en-US" sz="1850" dirty="0"/>
              <a:t>~</a:t>
            </a:r>
            <a:r>
              <a:rPr lang="en-US" sz="2000" b="0" dirty="0"/>
              <a:t>0 for all 6DoF</a:t>
            </a:r>
          </a:p>
        </p:txBody>
      </p:sp>
      <p:pic>
        <p:nvPicPr>
          <p:cNvPr id="3" name="Picture 2" descr="A group of graphs showing the results of a program&#10;&#10;AI-generated content may be incorrect.">
            <a:extLst>
              <a:ext uri="{FF2B5EF4-FFF2-40B4-BE49-F238E27FC236}">
                <a16:creationId xmlns:a16="http://schemas.microsoft.com/office/drawing/2014/main" id="{680109F2-4C9A-BB72-43D0-FD0A69C5BE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665757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673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6B5CC-882F-E0A4-A524-14CD6CEFC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68759A-FE15-5B57-26BF-B590AFD18579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evaluations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FD6EC96-0A42-B799-F59B-F3166BA7D554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18</a:t>
            </a:fld>
            <a:endParaRPr lang="en-JP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5F5042-45A0-9F6B-DD73-0279E59D95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078275"/>
              </p:ext>
            </p:extLst>
          </p:nvPr>
        </p:nvGraphicFramePr>
        <p:xfrm>
          <a:off x="719570" y="1613438"/>
          <a:ext cx="7704858" cy="23349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694">
                  <a:extLst>
                    <a:ext uri="{9D8B030D-6E8A-4147-A177-3AD203B41FA5}">
                      <a16:colId xmlns:a16="http://schemas.microsoft.com/office/drawing/2014/main" val="891567486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4258970538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1823026811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338105497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4115481350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264330388"/>
                    </a:ext>
                  </a:extLst>
                </a:gridCol>
                <a:gridCol w="1100694">
                  <a:extLst>
                    <a:ext uri="{9D8B030D-6E8A-4147-A177-3AD203B41FA5}">
                      <a16:colId xmlns:a16="http://schemas.microsoft.com/office/drawing/2014/main" val="3519421448"/>
                    </a:ext>
                  </a:extLst>
                </a:gridCol>
              </a:tblGrid>
              <a:tr h="583733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mm, º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027442"/>
                  </a:ext>
                </a:extLst>
              </a:tr>
              <a:tr h="583733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GT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46109"/>
                  </a:ext>
                </a:extLst>
              </a:tr>
              <a:tr h="583733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Error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956897"/>
                  </a:ext>
                </a:extLst>
              </a:tr>
              <a:tr h="583733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Ratio (Error/GT)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80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F8A6313-79C2-0E9F-D2D2-129B6B51B6C3}"/>
              </a:ext>
            </a:extLst>
          </p:cNvPr>
          <p:cNvSpPr txBox="1"/>
          <p:nvPr/>
        </p:nvSpPr>
        <p:spPr>
          <a:xfrm>
            <a:off x="827584" y="9155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99E5ACB-5FEC-531F-B89E-6B5F7296000B}"/>
              </a:ext>
            </a:extLst>
          </p:cNvPr>
          <p:cNvSpPr txBox="1">
            <a:spLocks/>
          </p:cNvSpPr>
          <p:nvPr/>
        </p:nvSpPr>
        <p:spPr>
          <a:xfrm>
            <a:off x="719570" y="602642"/>
            <a:ext cx="7596845" cy="99517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GT vs Error mean absolute value for every 6DoF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(DualTrack24 in-between Pred – GT, TUSREC24 </a:t>
            </a:r>
            <a:r>
              <a:rPr lang="en-US" sz="2000" b="0" dirty="0">
                <a:ea typeface="游ゴシック Medium"/>
                <a:cs typeface="Times New Roman"/>
              </a:rPr>
              <a:t>validation data set, all scans </a:t>
            </a:r>
            <a:r>
              <a:rPr lang="en-US" sz="2000" b="0" dirty="0"/>
              <a:t>combined)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C85169F-510C-39A2-16FC-257D9CC1A963}"/>
              </a:ext>
            </a:extLst>
          </p:cNvPr>
          <p:cNvSpPr txBox="1">
            <a:spLocks/>
          </p:cNvSpPr>
          <p:nvPr/>
        </p:nvSpPr>
        <p:spPr>
          <a:xfrm>
            <a:off x="728924" y="4083918"/>
            <a:ext cx="7596845" cy="85963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Relative largest errors happen for y and pitch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Larger relative errors for rotation than translation</a:t>
            </a:r>
          </a:p>
        </p:txBody>
      </p:sp>
    </p:spTree>
    <p:extLst>
      <p:ext uri="{BB962C8B-B14F-4D97-AF65-F5344CB8AC3E}">
        <p14:creationId xmlns:p14="http://schemas.microsoft.com/office/powerpoint/2010/main" val="897021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2D4C9-A2CB-D7FE-F0F3-155439E19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33416F-828B-13CD-0D50-9CBAD97286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Error evaluations: Speculations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5611A69-34CB-383E-BF1F-2C86EF2498D8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19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BE3D6679-4E1C-6CB2-8E0E-6DB2915029E8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Images are 640x480 pixels (x, y)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Less information on y axis, larger error for y and pitch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Translation is easier to estimate as x and y are directly deductible from images</a:t>
            </a:r>
          </a:p>
        </p:txBody>
      </p:sp>
    </p:spTree>
    <p:extLst>
      <p:ext uri="{BB962C8B-B14F-4D97-AF65-F5344CB8AC3E}">
        <p14:creationId xmlns:p14="http://schemas.microsoft.com/office/powerpoint/2010/main" val="2953016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2A54-EFF1-0DD3-8B72-D1118A76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93795D4-9769-767F-0C3B-A3C64F0911F9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Next steps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2C3F9B93-2FCE-4745-B4A9-7BDAFE361884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20</a:t>
            </a:fld>
            <a:endParaRPr lang="en-JP" dirty="0"/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891697E6-BCDC-260C-B1D3-FAE5FAF76FC5}"/>
              </a:ext>
            </a:extLst>
          </p:cNvPr>
          <p:cNvSpPr txBox="1">
            <a:spLocks/>
          </p:cNvSpPr>
          <p:nvPr/>
        </p:nvSpPr>
        <p:spPr>
          <a:xfrm>
            <a:off x="323528" y="707816"/>
            <a:ext cx="8218099" cy="4305013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Improve 2D IR</a:t>
            </a:r>
            <a:endParaRPr lang="en-US" sz="185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Combine with PGO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Jitter?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Error?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Try 3D IR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Write Master Thesis</a:t>
            </a:r>
          </a:p>
        </p:txBody>
      </p:sp>
    </p:spTree>
    <p:extLst>
      <p:ext uri="{BB962C8B-B14F-4D97-AF65-F5344CB8AC3E}">
        <p14:creationId xmlns:p14="http://schemas.microsoft.com/office/powerpoint/2010/main" val="3961754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2873</TotalTime>
  <Words>961</Words>
  <Application>Microsoft Office PowerPoint</Application>
  <PresentationFormat>On-screen Show (16:9)</PresentationFormat>
  <Paragraphs>250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Yu Gothic Medium</vt:lpstr>
      <vt:lpstr>Yu Gothic Medium</vt:lpstr>
      <vt:lpstr>Abadi</vt:lpstr>
      <vt:lpstr>Arial</vt:lpstr>
      <vt:lpstr>Cambria</vt:lpstr>
      <vt:lpstr>Cambria Math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What did I do?</vt:lpstr>
      <vt:lpstr>   Image Registration: Basics</vt:lpstr>
      <vt:lpstr>   Image Registration: Combination of transforms</vt:lpstr>
      <vt:lpstr>   Image Registration: SimpleITK</vt:lpstr>
      <vt:lpstr>  Image Registration: Results</vt:lpstr>
      <vt:lpstr>   Image Registration: Results</vt:lpstr>
      <vt:lpstr>   Image Registration: Results</vt:lpstr>
      <vt:lpstr>   Image Registration: Results</vt:lpstr>
      <vt:lpstr>   Image Registration: Problem</vt:lpstr>
      <vt:lpstr>   Counter measures</vt:lpstr>
      <vt:lpstr>   Counter measures</vt:lpstr>
      <vt:lpstr>   Counter measures</vt:lpstr>
      <vt:lpstr>   Counter measures</vt:lpstr>
      <vt:lpstr>   Counter measures</vt:lpstr>
      <vt:lpstr>   Error evaluations</vt:lpstr>
      <vt:lpstr>   Error evaluations</vt:lpstr>
      <vt:lpstr>   Error evaluations</vt:lpstr>
      <vt:lpstr>  Error evaluations: Speculations</vt:lpstr>
      <vt:lpstr>   Next steps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1321</cp:revision>
  <dcterms:created xsi:type="dcterms:W3CDTF">2020-07-20T06:28:23Z</dcterms:created>
  <dcterms:modified xsi:type="dcterms:W3CDTF">2026-07-16T08:24:51Z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