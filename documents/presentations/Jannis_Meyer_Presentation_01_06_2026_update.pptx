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20"/>
  </p:notesMasterIdLst>
  <p:sldIdLst>
    <p:sldId id="256" r:id="rId5"/>
    <p:sldId id="281" r:id="rId6"/>
    <p:sldId id="282" r:id="rId7"/>
    <p:sldId id="286" r:id="rId8"/>
    <p:sldId id="290" r:id="rId9"/>
    <p:sldId id="291" r:id="rId10"/>
    <p:sldId id="292" r:id="rId11"/>
    <p:sldId id="293" r:id="rId12"/>
    <p:sldId id="294" r:id="rId13"/>
    <p:sldId id="284" r:id="rId14"/>
    <p:sldId id="283" r:id="rId15"/>
    <p:sldId id="295" r:id="rId16"/>
    <p:sldId id="285" r:id="rId17"/>
    <p:sldId id="288" r:id="rId18"/>
    <p:sldId id="289" r:id="rId19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150" autoAdjust="0"/>
  </p:normalViewPr>
  <p:slideViewPr>
    <p:cSldViewPr>
      <p:cViewPr varScale="1">
        <p:scale>
          <a:sx n="111" d="100"/>
          <a:sy n="111" d="100"/>
        </p:scale>
        <p:origin x="16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Reminder</a:t>
            </a:r>
          </a:p>
          <a:p>
            <a:pPr marL="171450" indent="-171450">
              <a:buFontTx/>
              <a:buChar char="-"/>
            </a:pPr>
            <a:r>
              <a:rPr lang="en-US" dirty="0"/>
              <a:t>US frames from TUSREC data for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DT model for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Get pose predictions and more from that</a:t>
            </a:r>
          </a:p>
          <a:p>
            <a:pPr marL="171450" indent="-171450">
              <a:buFontTx/>
              <a:buChar char="-"/>
            </a:pPr>
            <a:r>
              <a:rPr lang="en-US" dirty="0"/>
              <a:t>Build pose graph and optimize using extra constraints and weights</a:t>
            </a:r>
          </a:p>
        </p:txBody>
      </p:sp>
    </p:spTree>
    <p:extLst>
      <p:ext uri="{BB962C8B-B14F-4D97-AF65-F5344CB8AC3E}">
        <p14:creationId xmlns:p14="http://schemas.microsoft.com/office/powerpoint/2010/main" val="254702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18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6842-0B0E-91C8-7F35-B356EFFB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FB22F-F84F-D3D2-EF9C-3CF06ED16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00DD1-C3C9-F066-CCEC-C1128C44A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More mathematical insights into PGO</a:t>
            </a:r>
          </a:p>
          <a:p>
            <a:pPr marL="171450" indent="-171450">
              <a:buFontTx/>
              <a:buChar char="-"/>
            </a:pPr>
            <a:r>
              <a:rPr lang="en-US" dirty="0"/>
              <a:t>Base optimization formula from last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general formulation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Linear optimization problem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Internal functionality of GTSAM</a:t>
            </a:r>
          </a:p>
        </p:txBody>
      </p:sp>
    </p:spTree>
    <p:extLst>
      <p:ext uri="{BB962C8B-B14F-4D97-AF65-F5344CB8AC3E}">
        <p14:creationId xmlns:p14="http://schemas.microsoft.com/office/powerpoint/2010/main" val="229466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0974-D706-4BBC-A7D3-B951CF05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32BCB-1F7B-BA26-1E06-5AB010BA3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18E18-9526-3196-870C-4FEEBE7E3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3057863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C52A-CEF1-F898-0658-4C2CFDF0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4551B-3B8F-80BE-AC3A-86FC332D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8AFEB-8BF2-50B9-F0AD-4B97D4F0D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3084879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5A31-5A09-0BBF-FD1A-89CC9289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5106A-838F-84BE-6E40-ED25B8A71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A53B6-CAB7-8C44-BB60-6EB3979B7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1332452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960F-8FB5-2D8B-58E0-23ECCF80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1C2B-745A-8FE1-F0D2-CF14F6793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1E640-3AEE-625C-2E5D-C2065E93D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1817326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4ABF-07AE-4C55-F7F8-A47DA096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6751D-D972-E2F5-D278-F07A1C7F8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A5C0A-DD07-40D7-3733-91765360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Parameters for PGO right now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extra edges or weights</a:t>
            </a:r>
          </a:p>
        </p:txBody>
      </p:sp>
    </p:spTree>
    <p:extLst>
      <p:ext uri="{BB962C8B-B14F-4D97-AF65-F5344CB8AC3E}">
        <p14:creationId xmlns:p14="http://schemas.microsoft.com/office/powerpoint/2010/main" val="2151149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7875-7413-35C4-E4D8-CAE05FE1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8419C-47A3-0F7B-5F8C-9B16F981D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E642B-A82A-2789-9F2E-4A6894837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82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2EDE-AC15-F05A-2039-AFB22CC1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10634-757B-0EEC-42A2-ED2F3291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0E073-A190-09F1-13DC-C18CB1873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results</a:t>
            </a:r>
          </a:p>
          <a:p>
            <a:pPr marL="171450" indent="-171450">
              <a:buFontTx/>
              <a:buChar char="-"/>
            </a:pPr>
            <a:r>
              <a:rPr lang="en-US" dirty="0"/>
              <a:t>PGO on DT24 currently not possible as DT24 code doesn’t provide individual results for a single frame, just overall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GPE for PGO results as I didn’t have the time yet to implement that</a:t>
            </a:r>
          </a:p>
        </p:txBody>
      </p:sp>
    </p:spTree>
    <p:extLst>
      <p:ext uri="{BB962C8B-B14F-4D97-AF65-F5344CB8AC3E}">
        <p14:creationId xmlns:p14="http://schemas.microsoft.com/office/powerpoint/2010/main" val="1429761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1D40-DF54-1B54-4C3E-D8246056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C08B1-9255-DBB8-5121-31EF6C14E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C0050-4A39-CAB9-79CA-5940A9A0C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results</a:t>
            </a:r>
          </a:p>
          <a:p>
            <a:pPr marL="171450" indent="-171450">
              <a:buFontTx/>
              <a:buChar char="-"/>
            </a:pPr>
            <a:r>
              <a:rPr lang="en-US" dirty="0"/>
              <a:t>PGO on DT24 currently not possible as DT24 code doesn’t provide individual results for a single frame, just overall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No GPE for PGO results as I didn’t have the time yet to implement that</a:t>
            </a:r>
          </a:p>
        </p:txBody>
      </p:sp>
    </p:spTree>
    <p:extLst>
      <p:ext uri="{BB962C8B-B14F-4D97-AF65-F5344CB8AC3E}">
        <p14:creationId xmlns:p14="http://schemas.microsoft.com/office/powerpoint/2010/main" val="1955934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B08A-898A-9B44-C8EE-BF2DD1E2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D2579-6B1F-5D2C-A379-F561083AB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A4E82-3690-05D1-6342-3F5F6AA1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50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1C46-4E65-E93E-2442-6E4ED72D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E776-D8E7-8B49-4B82-41D2C9B13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8AC5B-B7E6-3B4E-1AEA-7F35DF4B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3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F6D0-3100-79C4-7AA9-879773F7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21FE9-E15C-3631-B457-B85439BDB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508A6-9778-0A51-71DE-079E8F4C6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1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3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-pages.ucl.ac.uk/tus-rec-challenge/" TargetMode="External"/><Relationship Id="rId7" Type="http://schemas.openxmlformats.org/officeDocument/2006/relationships/hyperlink" Target="https://borglab.github.io/gtsam/betweenfactor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rglab.github.io/gtsam/nonlinearoptimizer/" TargetMode="External"/><Relationship Id="rId5" Type="http://schemas.openxmlformats.org/officeDocument/2006/relationships/hyperlink" Target="https://borglab.github.io/gtsam/" TargetMode="External"/><Relationship Id="rId4" Type="http://schemas.openxmlformats.org/officeDocument/2006/relationships/hyperlink" Target="https://arxiv.org/pdf/2509.0953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Update 01.06.2026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40A7-1564-9640-AF68-893759E6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F0C07-ADF2-FDB0-FF3C-8059041238D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</a:t>
            </a:r>
            <a:r>
              <a:rPr lang="en-US" sz="2400" dirty="0">
                <a:ea typeface="游ゴシック Medium"/>
                <a:cs typeface="Times New Roman"/>
              </a:rPr>
              <a:t>Reminder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BBB3F1-2966-E583-73CE-E7D6D97CF542}"/>
              </a:ext>
            </a:extLst>
          </p:cNvPr>
          <p:cNvSpPr txBox="1">
            <a:spLocks/>
          </p:cNvSpPr>
          <p:nvPr/>
        </p:nvSpPr>
        <p:spPr>
          <a:xfrm>
            <a:off x="4272908" y="1203598"/>
            <a:ext cx="1597743" cy="13624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Pose predictions</a:t>
            </a:r>
          </a:p>
          <a:p>
            <a:pPr lvl="1"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i</a:t>
            </a:r>
          </a:p>
          <a:p>
            <a:pPr lvl="1"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i→i+1</a:t>
            </a:r>
            <a:endParaRPr lang="en-US" sz="12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US Frames</a:t>
            </a:r>
          </a:p>
          <a:p>
            <a:pPr>
              <a:buClr>
                <a:srgbClr val="9E3611"/>
              </a:buClr>
            </a:pPr>
            <a:r>
              <a:rPr lang="en-US" sz="1200" b="0" dirty="0">
                <a:ea typeface="游ゴシック Medium"/>
                <a:cs typeface="Times New Roman"/>
              </a:rPr>
              <a:t>FVs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17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4027E8FD-6D1B-1ABD-9CF7-EB915390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65" y="1098249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48509-CB3D-883E-B19B-7C1BEAE411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54" y="1186068"/>
            <a:ext cx="1140702" cy="7604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496AC3-8CCA-9F75-CF1A-446C0B14E973}"/>
              </a:ext>
            </a:extLst>
          </p:cNvPr>
          <p:cNvSpPr txBox="1"/>
          <p:nvPr/>
        </p:nvSpPr>
        <p:spPr>
          <a:xfrm>
            <a:off x="177654" y="1946536"/>
            <a:ext cx="1426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US frames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5C89568-EFE9-1405-E238-0ABA4D260AFD}"/>
              </a:ext>
            </a:extLst>
          </p:cNvPr>
          <p:cNvSpPr/>
          <p:nvPr/>
        </p:nvSpPr>
        <p:spPr>
          <a:xfrm rot="16200000">
            <a:off x="1479956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F7BFAA8-55FB-8F9B-2D9F-6DB62AB868E0}"/>
              </a:ext>
            </a:extLst>
          </p:cNvPr>
          <p:cNvSpPr/>
          <p:nvPr/>
        </p:nvSpPr>
        <p:spPr>
          <a:xfrm rot="16200000">
            <a:off x="3608184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99CF8DD-D518-6519-0BF3-90E79377EFE5}"/>
              </a:ext>
            </a:extLst>
          </p:cNvPr>
          <p:cNvSpPr/>
          <p:nvPr/>
        </p:nvSpPr>
        <p:spPr>
          <a:xfrm rot="16200000">
            <a:off x="6175562" y="1203994"/>
            <a:ext cx="475131" cy="6236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52DD2-5EBF-65FF-42FB-077362A1B68C}"/>
              </a:ext>
            </a:extLst>
          </p:cNvPr>
          <p:cNvSpPr txBox="1"/>
          <p:nvPr/>
        </p:nvSpPr>
        <p:spPr>
          <a:xfrm>
            <a:off x="7587427" y="3267737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PGO</a:t>
            </a: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C7970EA-8AE1-E8A1-4DE9-9C1788ECE086}"/>
              </a:ext>
            </a:extLst>
          </p:cNvPr>
          <p:cNvSpPr/>
          <p:nvPr/>
        </p:nvSpPr>
        <p:spPr>
          <a:xfrm rot="16200000">
            <a:off x="7027938" y="1438538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F63D1321-4540-8119-8100-22E26CC8652C}"/>
              </a:ext>
            </a:extLst>
          </p:cNvPr>
          <p:cNvSpPr/>
          <p:nvPr/>
        </p:nvSpPr>
        <p:spPr>
          <a:xfrm rot="5977851">
            <a:off x="7524923" y="2244875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D1FC3349-935F-5102-A191-58293386D9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580" y="764353"/>
            <a:ext cx="1690432" cy="2485929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1A7327C-4E48-9F58-B0CA-69692AC23B84}"/>
              </a:ext>
            </a:extLst>
          </p:cNvPr>
          <p:cNvSpPr txBox="1">
            <a:spLocks/>
          </p:cNvSpPr>
          <p:nvPr/>
        </p:nvSpPr>
        <p:spPr>
          <a:xfrm>
            <a:off x="8190896" y="288672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78A6980-F96A-47EB-084A-A3779CE28AEA}"/>
              </a:ext>
            </a:extLst>
          </p:cNvPr>
          <p:cNvSpPr txBox="1">
            <a:spLocks/>
          </p:cNvSpPr>
          <p:nvPr/>
        </p:nvSpPr>
        <p:spPr>
          <a:xfrm>
            <a:off x="8495696" y="164028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DCD0817-23CC-04F3-6F72-258C15173100}"/>
              </a:ext>
            </a:extLst>
          </p:cNvPr>
          <p:cNvSpPr txBox="1">
            <a:spLocks/>
          </p:cNvSpPr>
          <p:nvPr/>
        </p:nvSpPr>
        <p:spPr>
          <a:xfrm>
            <a:off x="7254792" y="79136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1BBB9FC-ACBC-A492-0A33-9AD0399E58D6}"/>
              </a:ext>
            </a:extLst>
          </p:cNvPr>
          <p:cNvSpPr txBox="1">
            <a:spLocks/>
          </p:cNvSpPr>
          <p:nvPr/>
        </p:nvSpPr>
        <p:spPr>
          <a:xfrm>
            <a:off x="7038767" y="2144343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362F1643-042B-2FCF-B6D6-83BE3DD0A1D8}"/>
              </a:ext>
            </a:extLst>
          </p:cNvPr>
          <p:cNvSpPr txBox="1">
            <a:spLocks/>
          </p:cNvSpPr>
          <p:nvPr/>
        </p:nvSpPr>
        <p:spPr>
          <a:xfrm>
            <a:off x="7985013" y="111392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9E126BA-2189-EB85-AB52-27025F2799E8}"/>
              </a:ext>
            </a:extLst>
          </p:cNvPr>
          <p:cNvSpPr txBox="1">
            <a:spLocks/>
          </p:cNvSpPr>
          <p:nvPr/>
        </p:nvSpPr>
        <p:spPr>
          <a:xfrm>
            <a:off x="7541356" y="170457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806D87BE-23DE-89B5-6149-A7F15AC02EC1}"/>
              </a:ext>
            </a:extLst>
          </p:cNvPr>
          <p:cNvSpPr txBox="1">
            <a:spLocks/>
          </p:cNvSpPr>
          <p:nvPr/>
        </p:nvSpPr>
        <p:spPr>
          <a:xfrm>
            <a:off x="7797525" y="238059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CB68EDF-3109-994D-4595-E6EA8C7CD883}"/>
              </a:ext>
            </a:extLst>
          </p:cNvPr>
          <p:cNvSpPr txBox="1">
            <a:spLocks/>
          </p:cNvSpPr>
          <p:nvPr/>
        </p:nvSpPr>
        <p:spPr>
          <a:xfrm>
            <a:off x="8301914" y="2237670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0→2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44BA2E4-B944-7695-EC4A-F08982A8804C}"/>
              </a:ext>
            </a:extLst>
          </p:cNvPr>
          <p:cNvSpPr txBox="1">
            <a:spLocks/>
          </p:cNvSpPr>
          <p:nvPr/>
        </p:nvSpPr>
        <p:spPr>
          <a:xfrm>
            <a:off x="6844017" y="1388914"/>
            <a:ext cx="746625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1→3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AE590-B02D-CF71-BC90-FCC56F7B0C45}"/>
              </a:ext>
            </a:extLst>
          </p:cNvPr>
          <p:cNvSpPr txBox="1"/>
          <p:nvPr/>
        </p:nvSpPr>
        <p:spPr>
          <a:xfrm>
            <a:off x="0" y="3250282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TUSREC24/25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212099-DF53-981E-058E-FB824415EB3E}"/>
              </a:ext>
            </a:extLst>
          </p:cNvPr>
          <p:cNvSpPr txBox="1"/>
          <p:nvPr/>
        </p:nvSpPr>
        <p:spPr>
          <a:xfrm>
            <a:off x="801793" y="3994380"/>
            <a:ext cx="4152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游ゴシック Medium" panose="020B0500000000000000" pitchFamily="50" charset="-128"/>
              </a:rPr>
              <a:t>DualTrack</a:t>
            </a:r>
            <a:r>
              <a:rPr lang="en-US" sz="2000" dirty="0">
                <a:latin typeface="游ゴシック Medium" panose="020B0500000000000000" pitchFamily="50" charset="-128"/>
              </a:rPr>
              <a:t> (winner of TUSREC25)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D59660-4838-3220-50EF-C26C6960934A}"/>
              </a:ext>
            </a:extLst>
          </p:cNvPr>
          <p:cNvCxnSpPr/>
          <p:nvPr/>
        </p:nvCxnSpPr>
        <p:spPr>
          <a:xfrm>
            <a:off x="860517" y="2394208"/>
            <a:ext cx="0" cy="781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9B6D7E-EA12-9550-6086-FBEB3BA10ECB}"/>
              </a:ext>
            </a:extLst>
          </p:cNvPr>
          <p:cNvCxnSpPr>
            <a:cxnSpLocks/>
          </p:cNvCxnSpPr>
          <p:nvPr/>
        </p:nvCxnSpPr>
        <p:spPr>
          <a:xfrm>
            <a:off x="2767915" y="2175502"/>
            <a:ext cx="0" cy="176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7286690D-E53A-A173-DEA4-C46DB10A77E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2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328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F51D-1F4A-E04A-82D8-9A4283BF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B685D2-3F37-9201-C050-35C8C663A4F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What did I do?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933E20B-BB1C-95A6-267B-BCA6EEE361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Set up </a:t>
            </a:r>
            <a:r>
              <a:rPr lang="en-US" sz="2000" b="0" dirty="0" err="1"/>
              <a:t>DualTrack</a:t>
            </a:r>
            <a:r>
              <a:rPr lang="en-US" sz="2000" b="0" dirty="0"/>
              <a:t> code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Set up TUSREC24/25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Implement PGO using GTSAM library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Implement LC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Implement IR using </a:t>
            </a:r>
            <a:r>
              <a:rPr lang="en-US" sz="2000" b="0" dirty="0" err="1"/>
              <a:t>SimpleITK</a:t>
            </a: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Evaluations on </a:t>
            </a:r>
            <a:r>
              <a:rPr lang="en-US" sz="2000" b="0" dirty="0" err="1"/>
              <a:t>DualTrack</a:t>
            </a:r>
            <a:r>
              <a:rPr lang="en-US" sz="2000" b="0" dirty="0"/>
              <a:t> and TUSREC2/25 data with base PGO, LC,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3EE220-6A3A-B3F0-3A80-F744F769768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3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7902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B051-0EF6-8F7B-56A4-C014AFF6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2CB50-C8A5-0856-D78D-E98286EBC0A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Pose Graph Optimization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00107EA1-420E-69FE-51CB-AEE3F527306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8E78D97E-74FD-2C66-7EBF-94EB233ED3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528" y="707816"/>
                <a:ext cx="8218099" cy="4305013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2000" dirty="0">
                    <a:ea typeface="游ゴシック Medium"/>
                    <a:cs typeface="Times New Roman"/>
                  </a:rPr>
                  <a:t>Optimization formula: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𝑒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 </m:t>
                    </m:r>
                    <m:r>
                      <a:rPr lang="pt-BR" sz="2000" b="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𝑙𝑜𝑔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𝑇</m:t>
                                </m:r>
                                <m:r>
                                  <a:rPr lang="en-US" sz="2000" b="0" i="1" baseline="-25000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𝑖𝑗</m:t>
                                </m:r>
                              </m:e>
                              <m:sup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游ゴシック Medium"/>
                                    <a:cs typeface="Times New Roman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𝑇</m:t>
                                    </m:r>
                                    <m:r>
                                      <a:rPr lang="en-US" sz="2000" b="0" i="1" baseline="-25000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游ゴシック Medium"/>
                                        <a:cs typeface="Times New Roman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sz="2000" b="0" dirty="0"/>
                  <a:t> (no weights for simplicity)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𝑒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(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𝑥</m:t>
                    </m:r>
                    <m:r>
                      <a:rPr lang="pt-BR" sz="2000" b="0" i="1" dirty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)</m:t>
                    </m:r>
                    <m:r>
                      <a:rPr lang="en-US" sz="2000" b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 </m:t>
                    </m:r>
                    <m:r>
                      <a:rPr lang="pt-BR" sz="2000" b="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</m:oMath>
                </a14:m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b="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≙</m:t>
                    </m:r>
                  </m:oMath>
                </a14:m>
                <a:r>
                  <a:rPr lang="en-US" sz="2000" b="0" dirty="0"/>
                  <a:t> set of variables to optimize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i="1" dirty="0"/>
                  <a:t>  </a:t>
                </a:r>
                <a:r>
                  <a:rPr lang="en-US" sz="2000" b="0" dirty="0"/>
                  <a:t>, Jacobi matrix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b="0" i="1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b="0" i="1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:r>
                  <a:rPr lang="en-US" sz="2000" b="0" dirty="0"/>
                  <a:t>Linear optimization problem</a:t>
                </a:r>
                <a:endParaRPr lang="en-US" sz="2000" b="0" i="1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,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for minimum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update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redo until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converges</a:t>
                </a:r>
              </a:p>
            </p:txBody>
          </p:sp>
        </mc:Choice>
        <mc:Fallback xmlns="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8E78D97E-74FD-2C66-7EBF-94EB233E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07816"/>
                <a:ext cx="8218099" cy="4305013"/>
              </a:xfrm>
              <a:prstGeom prst="rect">
                <a:avLst/>
              </a:prstGeom>
              <a:blipFill>
                <a:blip r:embed="rId3"/>
                <a:stretch>
                  <a:fillRect l="-742" t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AB01D8D-8608-E5C2-BC25-E92EDC8B4C7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41138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5188-AC12-5131-F7FF-6D49FBFE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BCAAD9-795A-2AD0-C5D9-51F3F5B1A17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Pose Graph Optimization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0F75490B-E251-B322-BF97-C648B701DD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9B934E0-2433-E3F5-7163-424CA4ADB1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725" y="860216"/>
                <a:ext cx="8218099" cy="398686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rm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r>
                  <a:rPr lang="en-US" sz="2000" dirty="0"/>
                  <a:t>Optimizer:</a:t>
                </a:r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Levenberg-Marquardt: Additional factor to Jacobi-matrices for more control of optimization</a:t>
                </a:r>
              </a:p>
              <a:p>
                <a:pPr>
                  <a:buClr>
                    <a:srgbClr val="9E361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l-GR" sz="2000" b="0" dirty="0"/>
                  <a:t>λ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/>
                  <a:t>Weights:</a:t>
                </a:r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Prior (first node): 6*10</a:t>
                </a:r>
                <a:r>
                  <a:rPr lang="en-US" sz="2000" b="0" baseline="30000" dirty="0"/>
                  <a:t>5</a:t>
                </a:r>
                <a:endParaRPr lang="en-US" sz="2000" b="0" dirty="0"/>
              </a:p>
              <a:p>
                <a:pPr>
                  <a:buClr>
                    <a:srgbClr val="9E3611"/>
                  </a:buClr>
                </a:pPr>
                <a:r>
                  <a:rPr lang="en-US" sz="2000" b="0" dirty="0"/>
                  <a:t>Rest: 6*10</a:t>
                </a:r>
                <a:r>
                  <a:rPr lang="en-US" sz="2000" b="0" baseline="30000" dirty="0"/>
                  <a:t>2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endParaRPr lang="en-US" sz="2000" b="0" baseline="3000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➔ </a:t>
                </a:r>
                <a:r>
                  <a:rPr lang="en-US" sz="2000" b="0" dirty="0"/>
                  <a:t>Base line PGO, no individual weighting nor additional edges yet</a:t>
                </a:r>
              </a:p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Font typeface="Arial" panose="020B0604020202020204" pitchFamily="34" charset="0"/>
                  <a:buNone/>
                </a:pPr>
                <a:endParaRPr lang="en-US" sz="2000" b="0" dirty="0"/>
              </a:p>
            </p:txBody>
          </p:sp>
        </mc:Choice>
        <mc:Fallback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9B934E0-2433-E3F5-7163-424CA4ADB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25" y="860216"/>
                <a:ext cx="8218099" cy="3986866"/>
              </a:xfrm>
              <a:prstGeom prst="rect">
                <a:avLst/>
              </a:prstGeom>
              <a:blipFill>
                <a:blip r:embed="rId3"/>
                <a:stretch>
                  <a:fillRect l="-816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5B8A643-C935-B6B1-E575-4A607094E99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5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3867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DC80-F47F-5CED-CEDC-A595987B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19BBB6-5E9E-51D6-4C94-92AD8CB7E79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Loop Closure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CF17FA8-1638-6B83-6EA1-DD9C48D5B9D7}"/>
              </a:ext>
            </a:extLst>
          </p:cNvPr>
          <p:cNvSpPr txBox="1">
            <a:spLocks/>
          </p:cNvSpPr>
          <p:nvPr/>
        </p:nvSpPr>
        <p:spPr>
          <a:xfrm>
            <a:off x="322725" y="860216"/>
            <a:ext cx="8218099" cy="398686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05E612A-F63C-8A5F-C50D-8AA5EFEF2D0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6</a:t>
            </a:fld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14F27B-96C2-634E-DE7B-B09FBED6A8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33749" y="707816"/>
            <a:ext cx="8832299" cy="4270616"/>
          </a:xfrm>
        </p:spPr>
        <p:txBody>
          <a:bodyPr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loop_closure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feature_vectors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find_nearest_neighbors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feature_vectors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transforms = []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confidences = []</a:t>
            </a:r>
          </a:p>
          <a:p>
            <a:pPr marL="205740" lvl="1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5740" lvl="1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el.distance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threshold: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continue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valid, confidence, transform = register(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[0].image,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			   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[1].image,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			   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el.ref_transform_dl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if !valid: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continue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transforms.append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(transform)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confidences.append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confidence+distance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5740" lvl="1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return transforms, confidences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80700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95661-FA98-72C2-86B0-5D452445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ABE2EE-69A7-0060-DFAA-FBCB82BE8F1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 1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92F7762E-7093-6ACA-FE52-F572121D61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7642D7F-747E-4EB6-B6C6-3CB2EF8D188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7</a:t>
            </a:fld>
            <a:endParaRPr lang="en-JP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15ED151-5C25-B066-4A8E-C6FF1F27E1FD}"/>
              </a:ext>
            </a:extLst>
          </p:cNvPr>
          <p:cNvSpPr txBox="1">
            <a:spLocks/>
          </p:cNvSpPr>
          <p:nvPr/>
        </p:nvSpPr>
        <p:spPr>
          <a:xfrm>
            <a:off x="133749" y="707816"/>
            <a:ext cx="8832299" cy="41392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image_registration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(frames):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transforms = []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confidences = []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frame_pairs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sample_pairs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(frames,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step_size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=100)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for pair in pairs: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valid, confidence, transform = register(pair[0].image,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						  pair[1].image,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						 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pair.ref_transform_dl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if valid: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transforms.append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(transform)</a:t>
            </a: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confidences.append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(confidence)</a:t>
            </a:r>
          </a:p>
          <a:p>
            <a:pPr marL="205740" lvl="1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5740" lvl="1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transforms, confidences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6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2A12-7F48-90A2-2F87-DB4AA31A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0C06BC-6B4E-6E5F-1C22-62CAF390645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 2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FB8B1CB4-7D0E-010F-BAF6-4EF2F4F5D53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AAAFD1C-18DB-8AC4-8A75-F04EC19D69C7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8</a:t>
            </a:fld>
            <a:endParaRPr lang="en-JP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9251978-244C-2B83-D559-A614ED3DA776}"/>
              </a:ext>
            </a:extLst>
          </p:cNvPr>
          <p:cNvSpPr txBox="1">
            <a:spLocks/>
          </p:cNvSpPr>
          <p:nvPr/>
        </p:nvSpPr>
        <p:spPr>
          <a:xfrm>
            <a:off x="133749" y="707816"/>
            <a:ext cx="8832299" cy="41392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def register(image_1, image_2,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ref_transform_dl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reg =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simpleItk.registration</a:t>
            </a: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reg.init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(image_1, image_2,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ref_transform_dl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reg.metric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0" indent="0">
              <a:buClr>
                <a:srgbClr val="9E3611"/>
              </a:buClr>
              <a:buNone/>
            </a:pP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metric_before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reg.get_metric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transform =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reg.register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metric_after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reg.get_metric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valid = true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confidence =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metric_before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metric_after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if confidence &gt; threshold: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	valid = false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	return valid, confidence, transform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45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467B4-4366-71E3-6C7E-C4BCE485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646B7-A5D8-595B-0F03-312E5BC494D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Pose graph optimization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55987044-46B4-692B-A16A-1F749D2169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E206345-64F4-7FA0-51E4-DCBF6AB70517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9</a:t>
            </a:fld>
            <a:endParaRPr lang="en-JP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788ED4B-F0B0-3396-19FA-46C2FF427B36}"/>
              </a:ext>
            </a:extLst>
          </p:cNvPr>
          <p:cNvSpPr txBox="1">
            <a:spLocks/>
          </p:cNvSpPr>
          <p:nvPr/>
        </p:nvSpPr>
        <p:spPr>
          <a:xfrm>
            <a:off x="133749" y="707816"/>
            <a:ext cx="8832299" cy="41392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graph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gtsam.graph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graph.add_nodes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absolute_poses_dl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graph.add_constraints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relative_transforms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lc_confidences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loop_closure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feature_vectors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ir_confidences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image_registration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(images,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ref_transforms_dl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graph.add_constraints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lc_confidences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ir_constraints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ir_confidences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new_absolute_poses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graph.optimize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compare_metrics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absolute_poses_dl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new_absolute_poses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absolute_poses_gt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01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E898-3847-5199-A981-96EB4793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9F46F-398B-DA77-FEFD-96572E6FC22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Error metrics in </a:t>
            </a:r>
            <a:r>
              <a:rPr lang="en-US" sz="2400" dirty="0" err="1">
                <a:ea typeface="游ゴシック Medium"/>
                <a:cs typeface="Times New Roman"/>
              </a:rPr>
              <a:t>DualTrack</a:t>
            </a:r>
            <a:endParaRPr lang="en-US" sz="2400" dirty="0">
              <a:ea typeface="游ゴシック Medium"/>
              <a:cs typeface="Times New Roman"/>
            </a:endParaRP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19338026-CEA2-F87C-B29B-233EA84072A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Final Drift Rate (FDR):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Error between pose prediction and GT of final frame (translation only)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Common error metric in 3D US reconstruction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Global Point Error (GPE):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“Average point error between the true position and the fully reconstructed trajectory estimate at each timestep”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Mentioned in </a:t>
            </a:r>
            <a:r>
              <a:rPr lang="en-US" sz="2000" b="0" dirty="0" err="1"/>
              <a:t>DualTrack</a:t>
            </a:r>
            <a:r>
              <a:rPr lang="en-US" sz="2000" b="0" dirty="0"/>
              <a:t> paper and TUSREC challenge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(Error equals Euclidian distance between estimated and GT point, </a:t>
            </a:r>
            <a:r>
              <a:rPr lang="en-US" sz="2000" b="0" dirty="0"/>
              <a:t>regarding center and four corners</a:t>
            </a:r>
            <a:r>
              <a:rPr lang="en-US" sz="2000" b="0" dirty="0">
                <a:ea typeface="游ゴシック Medium"/>
                <a:cs typeface="Times New Roman"/>
              </a:rPr>
              <a:t>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C86DD8B-6BC7-7005-07B2-F5897B1374D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10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90625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9FB23-112C-C3CC-60E3-814F59C2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A1BC3B-7A58-B3E7-FD59-81B570C17FE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Evaluations base </a:t>
            </a:r>
            <a:r>
              <a:rPr lang="en-US" sz="2400" dirty="0" err="1">
                <a:ea typeface="游ゴシック Medium"/>
                <a:cs typeface="Times New Roman"/>
              </a:rPr>
              <a:t>pgo</a:t>
            </a:r>
            <a:endParaRPr lang="en-US" sz="2400" dirty="0">
              <a:ea typeface="游ゴシック Medium"/>
              <a:cs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488DBE-65F8-9075-1223-32B9D6440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313006"/>
              </p:ext>
            </p:extLst>
          </p:nvPr>
        </p:nvGraphicFramePr>
        <p:xfrm>
          <a:off x="229947" y="699542"/>
          <a:ext cx="8684105" cy="3888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821">
                  <a:extLst>
                    <a:ext uri="{9D8B030D-6E8A-4147-A177-3AD203B41FA5}">
                      <a16:colId xmlns:a16="http://schemas.microsoft.com/office/drawing/2014/main" val="3561139603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2620945309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2297008438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3047944005"/>
                    </a:ext>
                  </a:extLst>
                </a:gridCol>
                <a:gridCol w="1736821">
                  <a:extLst>
                    <a:ext uri="{9D8B030D-6E8A-4147-A177-3AD203B41FA5}">
                      <a16:colId xmlns:a16="http://schemas.microsoft.com/office/drawing/2014/main" val="3613463515"/>
                    </a:ext>
                  </a:extLst>
                </a:gridCol>
              </a:tblGrid>
              <a:tr h="12094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DualTrack24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DualTrack25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DualTrack24 with PGO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DualTrack25 with PGO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68740"/>
                  </a:ext>
                </a:extLst>
              </a:tr>
              <a:tr h="120949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TUSREC24 Validation Data</a:t>
                      </a:r>
                    </a:p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(72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5.1%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4.9mm</a:t>
                      </a:r>
                    </a:p>
                    <a:p>
                      <a:r>
                        <a:rPr lang="en-US" dirty="0"/>
                        <a:t>(also stated in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28.6%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24.6mm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052863"/>
                  </a:ext>
                </a:extLst>
              </a:tr>
              <a:tr h="146943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TUSREC25 Validation Data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(six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FDR: 488.8%</a:t>
                      </a:r>
                    </a:p>
                    <a:p>
                      <a:endParaRPr kumimoji="1" lang="en-US" sz="13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GPE: 56.5mm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72.9%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9.1mm</a:t>
                      </a:r>
                    </a:p>
                    <a:p>
                      <a:r>
                        <a:rPr lang="en-US" dirty="0"/>
                        <a:t>(9.2mm stated in paper)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72.5%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GPE: 9.4mm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30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A594B44-DBCF-6B17-6075-4E33289543B8}"/>
              </a:ext>
            </a:extLst>
          </p:cNvPr>
          <p:cNvSpPr txBox="1"/>
          <p:nvPr/>
        </p:nvSpPr>
        <p:spPr>
          <a:xfrm>
            <a:off x="179512" y="4704588"/>
            <a:ext cx="2901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*FDR and GPE averaged over all scans</a:t>
            </a:r>
          </a:p>
          <a:p>
            <a:endParaRPr lang="en-US" sz="120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88CC64F-AB4B-B3DB-7F56-91CD7CBFDA3A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11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7387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C997-7EF8-EE76-0021-86C30FDE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ADBED3-8EE1-A9E8-F7D3-D14A9F91EE9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Evaluations LC and IR (DT25)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7CE54F-C65C-EAF4-CC4E-08DA29C42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19809"/>
              </p:ext>
            </p:extLst>
          </p:nvPr>
        </p:nvGraphicFramePr>
        <p:xfrm>
          <a:off x="229947" y="699542"/>
          <a:ext cx="8684105" cy="3888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821">
                  <a:extLst>
                    <a:ext uri="{9D8B030D-6E8A-4147-A177-3AD203B41FA5}">
                      <a16:colId xmlns:a16="http://schemas.microsoft.com/office/drawing/2014/main" val="3561139603"/>
                    </a:ext>
                  </a:extLst>
                </a:gridCol>
                <a:gridCol w="2317200">
                  <a:extLst>
                    <a:ext uri="{9D8B030D-6E8A-4147-A177-3AD203B41FA5}">
                      <a16:colId xmlns:a16="http://schemas.microsoft.com/office/drawing/2014/main" val="2620945309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047944005"/>
                    </a:ext>
                  </a:extLst>
                </a:gridCol>
                <a:gridCol w="2325828">
                  <a:extLst>
                    <a:ext uri="{9D8B030D-6E8A-4147-A177-3AD203B41FA5}">
                      <a16:colId xmlns:a16="http://schemas.microsoft.com/office/drawing/2014/main" val="3613463515"/>
                    </a:ext>
                  </a:extLst>
                </a:gridCol>
              </a:tblGrid>
              <a:tr h="12094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DualTrack25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IR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68740"/>
                  </a:ext>
                </a:extLst>
              </a:tr>
              <a:tr h="120949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TUSREC24 Validation Data</a:t>
                      </a:r>
                    </a:p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(72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24.6mm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70.1%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60.1mm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052863"/>
                  </a:ext>
                </a:extLst>
              </a:tr>
              <a:tr h="146943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TUSREC25 Validation Data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(six scans)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72.9%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</a:t>
                      </a:r>
                      <a:r>
                        <a:rPr lang="en-US"/>
                        <a:t>: 9.1mm</a:t>
                      </a:r>
                      <a:endParaRPr lang="en-US" dirty="0"/>
                    </a:p>
                    <a:p>
                      <a:r>
                        <a:rPr lang="en-US" dirty="0"/>
                        <a:t>(9.2mm stated in paper)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249.5%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GPE: </a:t>
                      </a:r>
                      <a:r>
                        <a:rPr kumimoji="1"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FDR: 517.5%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GPE: 80.8mm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30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3C3478-5897-9756-0CD7-1DEEE70CD6AA}"/>
              </a:ext>
            </a:extLst>
          </p:cNvPr>
          <p:cNvSpPr txBox="1"/>
          <p:nvPr/>
        </p:nvSpPr>
        <p:spPr>
          <a:xfrm>
            <a:off x="179512" y="4704588"/>
            <a:ext cx="2901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*FDR and GPE averaged over all scans</a:t>
            </a:r>
          </a:p>
          <a:p>
            <a:endParaRPr lang="en-US" sz="120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5B53639-A022-D385-D5CE-8CA42FFF805A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12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15384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F519-8376-2B6A-7D4A-60EF9FD8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938D2-9B91-85D5-F8A9-CBD94205859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Explanations of Results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2180C5A-8996-2F87-052C-AFEBE599B8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42401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1200" dirty="0"/>
              <a:t>Bad FDR for 25/25: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Complex scanning motion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TUSREC challenge rating does not evaluate FDR</a:t>
            </a:r>
          </a:p>
          <a:p>
            <a:pPr>
              <a:buClr>
                <a:srgbClr val="9E3611"/>
              </a:buClr>
            </a:pPr>
            <a:endParaRPr lang="en-US" sz="12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1200" dirty="0"/>
              <a:t>Low performance for cross-evaluation: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Different TUSREC24 and TUSREC25 data sets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No calibration or retraining of models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1200" dirty="0"/>
              <a:t>Near-zero dis-/improvement from base PGO: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Base line, perfect consistency of graph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2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1200" dirty="0"/>
              <a:t>Very low performance for LC and IR: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Many parameters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Complex scanning motion</a:t>
            </a:r>
          </a:p>
          <a:p>
            <a:pPr>
              <a:buClr>
                <a:srgbClr val="9E3611"/>
              </a:buClr>
            </a:pPr>
            <a:r>
              <a:rPr lang="en-US" sz="1200" b="0" dirty="0"/>
              <a:t>US domain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200" dirty="0">
                <a:solidFill>
                  <a:schemeClr val="accent1"/>
                </a:solidFill>
              </a:rPr>
              <a:t>➔ </a:t>
            </a:r>
            <a:r>
              <a:rPr lang="en-US" sz="1200" b="0" dirty="0"/>
              <a:t>So far any new constraint from LC or IR worsens results, the more extra constraints the worse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2245063-E226-CC1B-6F00-A4FA83A243C8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13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19376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665E-ABBA-75F0-DDD0-2300F8B1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180094-856D-1CD3-DE71-FC505B21C9A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Next steps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E29D1C51-7DEF-2EA1-2A56-4E230D7F9E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Improve LC and IR: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Other libraries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Parameters + logic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Evaluate data: Where do biggest errors happen? What is </a:t>
            </a:r>
            <a:r>
              <a:rPr lang="en-US" sz="1850" b="0" dirty="0" err="1"/>
              <a:t>DualTrack</a:t>
            </a:r>
            <a:r>
              <a:rPr lang="en-US" sz="1850" b="0" dirty="0"/>
              <a:t> bad at?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Consider translation and rotation separately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Implement trajectory smoothing: find outliers in trajectory and smoothen, average multiple smoothed trajectories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If time: Evaluate on TUSREC training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FE72020-ED4A-43E5-D50F-64BDDD3FDBD4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14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155058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C825-EA20-2DF9-0CC1-759E20FB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6613E-BA4C-F197-DEDA-9CD69CC962E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Sources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BD762D5-1AB2-3853-4553-76D09EEE97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3"/>
              </a:rPr>
              <a:t>https://github-pages.ucl.ac.uk/tus-rec-challenge/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4"/>
              </a:rPr>
              <a:t>https://arxiv.org/pdf/2509.09530/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5"/>
              </a:rPr>
              <a:t>https://borglab.github.io/gtsam/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6"/>
              </a:rPr>
              <a:t>https://borglab.github.io/gtsam/nonlinearoptimizer/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hlinkClick r:id="rId7"/>
              </a:rPr>
              <a:t>https://borglab.github.io/gtsam/betweenfactor/</a:t>
            </a:r>
            <a:endParaRPr lang="en-US" sz="200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6ACB501-D4E0-7E04-F9F4-1609F874B511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15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729830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2369</TotalTime>
  <Words>1351</Words>
  <Application>Microsoft Office PowerPoint</Application>
  <PresentationFormat>On-screen Show (16:9)</PresentationFormat>
  <Paragraphs>264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Yu Gothic Medium</vt:lpstr>
      <vt:lpstr>Yu Gothic Medium</vt:lpstr>
      <vt:lpstr>Abadi</vt:lpstr>
      <vt:lpstr>Arial</vt:lpstr>
      <vt:lpstr>Cambria</vt:lpstr>
      <vt:lpstr>Cambria Math</vt:lpstr>
      <vt:lpstr>Courier New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   Reminder</vt:lpstr>
      <vt:lpstr>   What did I do?</vt:lpstr>
      <vt:lpstr>   Pose Graph Optimization</vt:lpstr>
      <vt:lpstr>   Pose Graph Optimization</vt:lpstr>
      <vt:lpstr>   Loop Closure</vt:lpstr>
      <vt:lpstr>   Image registration 1</vt:lpstr>
      <vt:lpstr>   Image registration 2</vt:lpstr>
      <vt:lpstr>   Pose graph optimization</vt:lpstr>
      <vt:lpstr>   Error metrics in DualTrack</vt:lpstr>
      <vt:lpstr>   Evaluations base pgo</vt:lpstr>
      <vt:lpstr>   Evaluations LC and IR (DT25)</vt:lpstr>
      <vt:lpstr>   Explanations of Results</vt:lpstr>
      <vt:lpstr>   Next steps</vt:lpstr>
      <vt:lpstr>   Sources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957</cp:revision>
  <dcterms:created xsi:type="dcterms:W3CDTF">2020-07-20T06:28:23Z</dcterms:created>
  <dcterms:modified xsi:type="dcterms:W3CDTF">2026-06-17T06:35:29Z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