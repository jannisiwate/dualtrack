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11"/>
  </p:notesMasterIdLst>
  <p:sldIdLst>
    <p:sldId id="256" r:id="rId5"/>
    <p:sldId id="281" r:id="rId6"/>
    <p:sldId id="282" r:id="rId7"/>
    <p:sldId id="284" r:id="rId8"/>
    <p:sldId id="283" r:id="rId9"/>
    <p:sldId id="285" r:id="rId10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>
      <p:cViewPr varScale="1">
        <p:scale>
          <a:sx n="89" d="100"/>
          <a:sy n="89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1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7875-7413-35C4-E4D8-CAE05FE1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8419C-47A3-0F7B-5F8C-9B16F981D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E642B-A82A-2789-9F2E-4A6894837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4821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2EDE-AC15-F05A-2039-AFB22CC1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D10634-757B-0EEC-42A2-ED2F3291E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0E073-A190-09F1-13DC-C18CB1873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7616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B08A-898A-9B44-C8EE-BF2DD1E27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2579-6B1F-5D2C-A379-F561083AB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4A4E82-3690-05D1-6342-3F5F6AA12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550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3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5/31/2026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09.09530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-pages.ucl.ac.uk/tus-rec-challenge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-pages.ucl.ac.uk/tus-rec-challenge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Update 01.06.2026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30DFBB-19A4-2282-034A-6CE91DBC205C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2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</a:t>
            </a:r>
            <a:r>
              <a:rPr lang="en-US" sz="2400" dirty="0">
                <a:ea typeface="游ゴシック Medium"/>
                <a:cs typeface="Times New Roman"/>
              </a:rPr>
              <a:t>Reminder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4272908" y="1203598"/>
            <a:ext cx="1597743" cy="136246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i→i+1</a:t>
            </a:r>
            <a:endParaRPr lang="en-US" sz="12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US Frames</a:t>
            </a: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FVs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165" y="1098249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54" y="118606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77654" y="1946536"/>
            <a:ext cx="1426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US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1479956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3608184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899CF8DD-D518-6519-0BF3-90E79377EFE5}"/>
              </a:ext>
            </a:extLst>
          </p:cNvPr>
          <p:cNvSpPr/>
          <p:nvPr/>
        </p:nvSpPr>
        <p:spPr>
          <a:xfrm rot="16200000">
            <a:off x="6175562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852DD2-5EBF-65FF-42FB-077362A1B68C}"/>
              </a:ext>
            </a:extLst>
          </p:cNvPr>
          <p:cNvSpPr txBox="1"/>
          <p:nvPr/>
        </p:nvSpPr>
        <p:spPr>
          <a:xfrm>
            <a:off x="7587427" y="3267737"/>
            <a:ext cx="728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PGO</a:t>
            </a: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C7970EA-8AE1-E8A1-4DE9-9C1788ECE086}"/>
              </a:ext>
            </a:extLst>
          </p:cNvPr>
          <p:cNvSpPr/>
          <p:nvPr/>
        </p:nvSpPr>
        <p:spPr>
          <a:xfrm rot="16200000">
            <a:off x="7027938" y="1438538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F63D1321-4540-8119-8100-22E26CC8652C}"/>
              </a:ext>
            </a:extLst>
          </p:cNvPr>
          <p:cNvSpPr/>
          <p:nvPr/>
        </p:nvSpPr>
        <p:spPr>
          <a:xfrm rot="5977851">
            <a:off x="7524923" y="2244875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9" name="Picture 8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D1FC3349-935F-5102-A191-58293386D9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580" y="764353"/>
            <a:ext cx="1690432" cy="2485929"/>
          </a:xfrm>
          <a:prstGeom prst="rect">
            <a:avLst/>
          </a:prstGeom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1A7327C-4E48-9F58-B0CA-69692AC23B84}"/>
              </a:ext>
            </a:extLst>
          </p:cNvPr>
          <p:cNvSpPr txBox="1">
            <a:spLocks/>
          </p:cNvSpPr>
          <p:nvPr/>
        </p:nvSpPr>
        <p:spPr>
          <a:xfrm>
            <a:off x="8190896" y="288672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78A6980-F96A-47EB-084A-A3779CE28AEA}"/>
              </a:ext>
            </a:extLst>
          </p:cNvPr>
          <p:cNvSpPr txBox="1">
            <a:spLocks/>
          </p:cNvSpPr>
          <p:nvPr/>
        </p:nvSpPr>
        <p:spPr>
          <a:xfrm>
            <a:off x="8495696" y="16402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DCD0817-23CC-04F3-6F72-258C15173100}"/>
              </a:ext>
            </a:extLst>
          </p:cNvPr>
          <p:cNvSpPr txBox="1">
            <a:spLocks/>
          </p:cNvSpPr>
          <p:nvPr/>
        </p:nvSpPr>
        <p:spPr>
          <a:xfrm>
            <a:off x="7254792" y="79136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1BBB9FC-ACBC-A492-0A33-9AD0399E58D6}"/>
              </a:ext>
            </a:extLst>
          </p:cNvPr>
          <p:cNvSpPr txBox="1">
            <a:spLocks/>
          </p:cNvSpPr>
          <p:nvPr/>
        </p:nvSpPr>
        <p:spPr>
          <a:xfrm>
            <a:off x="7038767" y="2144343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362F1643-042B-2FCF-B6D6-83BE3DD0A1D8}"/>
              </a:ext>
            </a:extLst>
          </p:cNvPr>
          <p:cNvSpPr txBox="1">
            <a:spLocks/>
          </p:cNvSpPr>
          <p:nvPr/>
        </p:nvSpPr>
        <p:spPr>
          <a:xfrm>
            <a:off x="7985013" y="111392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9E126BA-2189-EB85-AB52-27025F2799E8}"/>
              </a:ext>
            </a:extLst>
          </p:cNvPr>
          <p:cNvSpPr txBox="1">
            <a:spLocks/>
          </p:cNvSpPr>
          <p:nvPr/>
        </p:nvSpPr>
        <p:spPr>
          <a:xfrm>
            <a:off x="7541356" y="170457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806D87BE-23DE-89B5-6149-A7F15AC02EC1}"/>
              </a:ext>
            </a:extLst>
          </p:cNvPr>
          <p:cNvSpPr txBox="1">
            <a:spLocks/>
          </p:cNvSpPr>
          <p:nvPr/>
        </p:nvSpPr>
        <p:spPr>
          <a:xfrm>
            <a:off x="7797525" y="238059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CB68EDF-3109-994D-4595-E6EA8C7CD883}"/>
              </a:ext>
            </a:extLst>
          </p:cNvPr>
          <p:cNvSpPr txBox="1">
            <a:spLocks/>
          </p:cNvSpPr>
          <p:nvPr/>
        </p:nvSpPr>
        <p:spPr>
          <a:xfrm>
            <a:off x="8301914" y="2237670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44BA2E4-B944-7695-EC4A-F08982A8804C}"/>
              </a:ext>
            </a:extLst>
          </p:cNvPr>
          <p:cNvSpPr txBox="1">
            <a:spLocks/>
          </p:cNvSpPr>
          <p:nvPr/>
        </p:nvSpPr>
        <p:spPr>
          <a:xfrm>
            <a:off x="6844017" y="1388914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BAE590-B02D-CF71-BC90-FCC56F7B0C45}"/>
              </a:ext>
            </a:extLst>
          </p:cNvPr>
          <p:cNvSpPr txBox="1"/>
          <p:nvPr/>
        </p:nvSpPr>
        <p:spPr>
          <a:xfrm>
            <a:off x="0" y="3250282"/>
            <a:ext cx="1893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TUSREC24/25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212099-DF53-981E-058E-FB824415EB3E}"/>
              </a:ext>
            </a:extLst>
          </p:cNvPr>
          <p:cNvSpPr txBox="1"/>
          <p:nvPr/>
        </p:nvSpPr>
        <p:spPr>
          <a:xfrm>
            <a:off x="801793" y="3994380"/>
            <a:ext cx="41520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游ゴシック Medium" panose="020B0500000000000000" pitchFamily="50" charset="-128"/>
              </a:rPr>
              <a:t>DualTrack</a:t>
            </a:r>
            <a:r>
              <a:rPr lang="en-US" sz="2000" dirty="0">
                <a:latin typeface="游ゴシック Medium" panose="020B0500000000000000" pitchFamily="50" charset="-128"/>
              </a:rPr>
              <a:t> (winner of TUSREC25)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D59660-4838-3220-50EF-C26C6960934A}"/>
              </a:ext>
            </a:extLst>
          </p:cNvPr>
          <p:cNvCxnSpPr/>
          <p:nvPr/>
        </p:nvCxnSpPr>
        <p:spPr>
          <a:xfrm>
            <a:off x="860517" y="2394208"/>
            <a:ext cx="0" cy="781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9B6D7E-EA12-9550-6086-FBEB3BA10ECB}"/>
              </a:ext>
            </a:extLst>
          </p:cNvPr>
          <p:cNvCxnSpPr>
            <a:cxnSpLocks/>
          </p:cNvCxnSpPr>
          <p:nvPr/>
        </p:nvCxnSpPr>
        <p:spPr>
          <a:xfrm>
            <a:off x="2767915" y="2175502"/>
            <a:ext cx="0" cy="176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F51D-1F4A-E04A-82D8-9A4283BF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AC1740-F43A-8CCC-C433-33416806F13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3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B685D2-3F37-9201-C050-35C8C663A4F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did I do?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4933E20B-BB1C-95A6-267B-BCA6EEE361A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Set up </a:t>
            </a:r>
            <a:r>
              <a:rPr lang="en-US" sz="2000" b="0" dirty="0" err="1"/>
              <a:t>DualTrack</a:t>
            </a:r>
            <a:r>
              <a:rPr lang="en-US" sz="2000" b="0" dirty="0"/>
              <a:t> code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Set up TUSREC24/25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Evaluations on </a:t>
            </a:r>
            <a:r>
              <a:rPr lang="en-US" sz="2000" b="0" dirty="0" err="1"/>
              <a:t>DualTrack</a:t>
            </a:r>
            <a:r>
              <a:rPr lang="en-US" sz="2000" b="0" dirty="0"/>
              <a:t> and TUSREC2/25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</p:txBody>
      </p:sp>
    </p:spTree>
    <p:extLst>
      <p:ext uri="{BB962C8B-B14F-4D97-AF65-F5344CB8AC3E}">
        <p14:creationId xmlns:p14="http://schemas.microsoft.com/office/powerpoint/2010/main" val="3279021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EE898-3847-5199-A981-96EB4793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D1E657-A4ED-8F0C-5AAF-219B01A8DD0B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4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59F46F-398B-DA77-FEFD-96572E6FC22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metrics in </a:t>
            </a:r>
            <a:r>
              <a:rPr lang="en-US" sz="2400" dirty="0" err="1">
                <a:ea typeface="游ゴシック Medium"/>
                <a:cs typeface="Times New Roman"/>
              </a:rPr>
              <a:t>DualTrack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19338026-CEA2-F87C-B29B-233EA84072A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Final Drift Rate (FDR):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Error between estimated position and GT of final frame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Common error metric in 3D US reconstruction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Global Point Error (GPE):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“Average point error between the true position and the fully reconstructed trajectory estimate at each timestep”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Used in TUSREC challenge to evaluate model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(Error equals Euclidian distance between estimated and GT point, </a:t>
            </a:r>
            <a:r>
              <a:rPr lang="en-US" sz="2000" b="0" dirty="0"/>
              <a:t>regarding center and four corners</a:t>
            </a:r>
            <a:r>
              <a:rPr lang="en-US" sz="2000" b="0" dirty="0">
                <a:ea typeface="游ゴシック Medium"/>
                <a:cs typeface="Times New Roman"/>
              </a:rPr>
              <a:t>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F2A635-F014-3979-5089-35526A4D575B}"/>
              </a:ext>
            </a:extLst>
          </p:cNvPr>
          <p:cNvSpPr txBox="1"/>
          <p:nvPr/>
        </p:nvSpPr>
        <p:spPr>
          <a:xfrm>
            <a:off x="179512" y="4704588"/>
            <a:ext cx="6182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https://arxiv.org/pdf/2509.09530</a:t>
            </a:r>
            <a:r>
              <a:rPr lang="en-US" sz="1200" dirty="0"/>
              <a:t>, </a:t>
            </a:r>
            <a:r>
              <a:rPr lang="en-US" sz="1200" dirty="0">
                <a:hlinkClick r:id="rId4"/>
              </a:rPr>
              <a:t>https://github-pages.ucl.ac.uk/tus-rec-challenge/</a:t>
            </a:r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06251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9FB23-112C-C3CC-60E3-814F59C28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E1202D-E333-3B9D-F54E-CC38ABA8E521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5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A1BC3B-7A58-B3E7-FD59-81B570C17FE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Evaluations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1488DBE-65F8-9075-1223-32B9D64407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6087587"/>
              </p:ext>
            </p:extLst>
          </p:nvPr>
        </p:nvGraphicFramePr>
        <p:xfrm>
          <a:off x="229947" y="699542"/>
          <a:ext cx="8684105" cy="38884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821">
                  <a:extLst>
                    <a:ext uri="{9D8B030D-6E8A-4147-A177-3AD203B41FA5}">
                      <a16:colId xmlns:a16="http://schemas.microsoft.com/office/drawing/2014/main" val="3561139603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620945309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297008438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047944005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613463515"/>
                    </a:ext>
                  </a:extLst>
                </a:gridCol>
              </a:tblGrid>
              <a:tr h="12094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DualTrack24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DualTrack24 with PGO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DualTrack25 with PGO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468740"/>
                  </a:ext>
                </a:extLst>
              </a:tr>
              <a:tr h="120949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TUSREC24 Validation Data</a:t>
                      </a:r>
                    </a:p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(72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5.1%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4.9mm</a:t>
                      </a:r>
                    </a:p>
                    <a:p>
                      <a:r>
                        <a:rPr lang="en-US" dirty="0"/>
                        <a:t>(also stated in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28.54%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AVG GPE: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24.79mm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5052863"/>
                  </a:ext>
                </a:extLst>
              </a:tr>
              <a:tr h="1469439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TUSREC25 Validation Data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en-US" b="1">
                          <a:solidFill>
                            <a:schemeClr val="bg1"/>
                          </a:solidFill>
                        </a:rPr>
                        <a:t>six scans)</a:t>
                      </a:r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FDR: 488.77%</a:t>
                      </a:r>
                    </a:p>
                    <a:p>
                      <a:endParaRPr kumimoji="1" lang="en-US" sz="13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GPE: 56.53mm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72.9%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9.1mm</a:t>
                      </a:r>
                    </a:p>
                    <a:p>
                      <a:r>
                        <a:rPr lang="en-US" dirty="0"/>
                        <a:t>(9.2mm stated in paper)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8309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A594B44-DBCF-6B17-6075-4E33289543B8}"/>
              </a:ext>
            </a:extLst>
          </p:cNvPr>
          <p:cNvSpPr txBox="1"/>
          <p:nvPr/>
        </p:nvSpPr>
        <p:spPr>
          <a:xfrm>
            <a:off x="179512" y="4704588"/>
            <a:ext cx="2901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*FDR and GPE averaged over all scans</a:t>
            </a: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73871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F519-8376-2B6A-7D4A-60EF9FD8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609723-C70E-1320-4521-B0D32D043EF8}"/>
              </a:ext>
            </a:extLst>
          </p:cNvPr>
          <p:cNvSpPr>
            <a:spLocks noGrp="1"/>
          </p:cNvSpPr>
          <p:nvPr>
            <p:ph type="sldNum" idx="1"/>
          </p:nvPr>
        </p:nvSpPr>
        <p:spPr>
          <a:xfrm>
            <a:off x="9093107" y="4704588"/>
            <a:ext cx="480060" cy="273844"/>
          </a:xfrm>
        </p:spPr>
        <p:txBody>
          <a:bodyPr/>
          <a:lstStyle/>
          <a:p>
            <a:fld id="{7475F232-FFFE-5E6C-5554-2F165DAD28C0}" type="slidenum">
              <a:rPr lang="en-JP" smtClean="0"/>
              <a:t>6</a:t>
            </a:fld>
            <a:endParaRPr lang="en-JP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4938D2-9B91-85D5-F8A9-CBD942058598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Explanations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2180C5A-8996-2F87-052C-AFEBE599B8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Bad FDR for 25/25: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Euclidean distance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Complex scanning motion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TUSREC challenge rating does not evaluate FDR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No cross-evaluation: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Different data structure TUSREC24 and TUSREC25 data sets (frame number, 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CD821A-763B-5C8A-3CE4-BFFA3D0DEB63}"/>
              </a:ext>
            </a:extLst>
          </p:cNvPr>
          <p:cNvSpPr txBox="1"/>
          <p:nvPr/>
        </p:nvSpPr>
        <p:spPr>
          <a:xfrm>
            <a:off x="182430" y="4694682"/>
            <a:ext cx="37936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https://github-pages.ucl.ac.uk/tus-rec-challenge/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1937618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Props1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1548</TotalTime>
  <Words>304</Words>
  <Application>Microsoft Office PowerPoint</Application>
  <PresentationFormat>On-screen Show (16:9)</PresentationFormat>
  <Paragraphs>83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Yu Gothic Medium</vt:lpstr>
      <vt:lpstr>Yu Gothic Medium</vt:lpstr>
      <vt:lpstr>Abadi</vt:lpstr>
      <vt:lpstr>Arial</vt:lpstr>
      <vt:lpstr>Cambria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   Reminder</vt:lpstr>
      <vt:lpstr>   What did I do?</vt:lpstr>
      <vt:lpstr>   Error metrics in DualTrack</vt:lpstr>
      <vt:lpstr>   Evaluations</vt:lpstr>
      <vt:lpstr>   Explanations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634</cp:revision>
  <dcterms:created xsi:type="dcterms:W3CDTF">2020-07-20T06:28:23Z</dcterms:created>
  <dcterms:modified xsi:type="dcterms:W3CDTF">2026-05-31T05:52:21Z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