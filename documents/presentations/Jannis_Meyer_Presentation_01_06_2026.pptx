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284242785" r:id="rId4"/>
  </p:sldMasterIdLst>
  <p:notesMasterIdLst>
    <p:notesMasterId r:id="rId15"/>
  </p:notesMasterIdLst>
  <p:sldIdLst>
    <p:sldId id="256" r:id="rId5"/>
    <p:sldId id="281" r:id="rId6"/>
    <p:sldId id="282" r:id="rId7"/>
    <p:sldId id="286" r:id="rId8"/>
    <p:sldId id="290" r:id="rId9"/>
    <p:sldId id="284" r:id="rId10"/>
    <p:sldId id="283" r:id="rId11"/>
    <p:sldId id="285" r:id="rId12"/>
    <p:sldId id="288" r:id="rId13"/>
    <p:sldId id="289" r:id="rId14"/>
  </p:sldIdLst>
  <p:sldSz cx="9144000" cy="5143500" type="screen16x9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278694-1E1C-66CA-0E75-1DD917A87028}" v="16" dt="2026-04-20T05:11:42.250"/>
    <p1510:client id="{090E6414-710A-A14B-BA3F-16AC7C122D1A}" v="3" dt="2026-04-19T13:11:33.3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6150" autoAdjust="0"/>
  </p:normalViewPr>
  <p:slideViewPr>
    <p:cSldViewPr>
      <p:cViewPr varScale="1">
        <p:scale>
          <a:sx n="111" d="100"/>
          <a:sy n="111" d="100"/>
        </p:scale>
        <p:origin x="16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898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857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2857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2857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2857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2857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2857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2857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2857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2857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>
          <a:xfrm>
            <a:off x="0" y="0"/>
            <a:ext cx="7315200" cy="2700338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endParaRPr dirty="0">
              <a:latin typeface="Abadi" panose="020B0604020104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Reminder</a:t>
            </a:r>
          </a:p>
          <a:p>
            <a:pPr marL="171450" indent="-171450">
              <a:buFontTx/>
              <a:buChar char="-"/>
            </a:pPr>
            <a:r>
              <a:rPr lang="en-US" dirty="0"/>
              <a:t>US frames from TUSREC data for now</a:t>
            </a:r>
          </a:p>
          <a:p>
            <a:pPr marL="171450" indent="-171450">
              <a:buFontTx/>
              <a:buChar char="-"/>
            </a:pPr>
            <a:r>
              <a:rPr lang="en-US" dirty="0"/>
              <a:t>DT model for now</a:t>
            </a:r>
          </a:p>
          <a:p>
            <a:pPr marL="171450" indent="-171450">
              <a:buFontTx/>
              <a:buChar char="-"/>
            </a:pPr>
            <a:r>
              <a:rPr lang="en-US" dirty="0"/>
              <a:t>Get pose predictions and more from that</a:t>
            </a:r>
          </a:p>
          <a:p>
            <a:pPr marL="171450" indent="-171450">
              <a:buFontTx/>
              <a:buChar char="-"/>
            </a:pPr>
            <a:r>
              <a:rPr lang="en-US" dirty="0"/>
              <a:t>Build pose graph and optimize using extra constraints and weights</a:t>
            </a:r>
          </a:p>
        </p:txBody>
      </p:sp>
    </p:spTree>
    <p:extLst>
      <p:ext uri="{BB962C8B-B14F-4D97-AF65-F5344CB8AC3E}">
        <p14:creationId xmlns:p14="http://schemas.microsoft.com/office/powerpoint/2010/main" val="25470254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6183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16842-0B0E-91C8-7F35-B356EFFB7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7FB22F-F84F-D3D2-EF9C-3CF06ED162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D00DD1-C3C9-F066-CCEC-C1128C44AC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More mathematical insights into PGO</a:t>
            </a:r>
          </a:p>
          <a:p>
            <a:pPr marL="171450" indent="-171450">
              <a:buFontTx/>
              <a:buChar char="-"/>
            </a:pPr>
            <a:r>
              <a:rPr lang="en-US" dirty="0"/>
              <a:t>Base optimization formula from last time</a:t>
            </a:r>
          </a:p>
          <a:p>
            <a:pPr marL="171450" indent="-171450">
              <a:buFontTx/>
              <a:buChar char="-"/>
            </a:pPr>
            <a:r>
              <a:rPr lang="en-US" dirty="0"/>
              <a:t>More general formulation</a:t>
            </a:r>
          </a:p>
          <a:p>
            <a:pPr marL="171450" indent="-171450">
              <a:buFontTx/>
              <a:buChar char="-"/>
            </a:pPr>
            <a:r>
              <a:rPr lang="en-US" dirty="0"/>
              <a:t>Linear optimization problem</a:t>
            </a:r>
          </a:p>
          <a:p>
            <a:pPr marL="171450" indent="-171450">
              <a:buFontTx/>
              <a:buChar char="-"/>
            </a:pPr>
            <a:r>
              <a:rPr lang="en-US" dirty="0"/>
              <a:t>Internal functionality of GTSAM</a:t>
            </a:r>
          </a:p>
        </p:txBody>
      </p:sp>
    </p:spTree>
    <p:extLst>
      <p:ext uri="{BB962C8B-B14F-4D97-AF65-F5344CB8AC3E}">
        <p14:creationId xmlns:p14="http://schemas.microsoft.com/office/powerpoint/2010/main" val="22946651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B0974-D706-4BBC-A7D3-B951CF056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532BCB-1F7B-BA26-1E06-5AB010BA39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B18E18-9526-3196-870C-4FEEBE7E3A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Parameters for PGO right now</a:t>
            </a:r>
          </a:p>
          <a:p>
            <a:pPr marL="171450" indent="-171450">
              <a:buFontTx/>
              <a:buChar char="-"/>
            </a:pPr>
            <a:r>
              <a:rPr lang="en-US" dirty="0"/>
              <a:t>No extra edges or weights</a:t>
            </a:r>
          </a:p>
        </p:txBody>
      </p:sp>
    </p:spTree>
    <p:extLst>
      <p:ext uri="{BB962C8B-B14F-4D97-AF65-F5344CB8AC3E}">
        <p14:creationId xmlns:p14="http://schemas.microsoft.com/office/powerpoint/2010/main" val="30578632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67875-7413-35C4-E4D8-CAE05FE1F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08419C-47A3-0F7B-5F8C-9B16F981DA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6E642B-A82A-2789-9F2E-4A6894837D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4821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82EDE-AC15-F05A-2039-AFB22CC1A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D10634-757B-0EEC-42A2-ED2F3291E3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90E073-A190-09F1-13DC-C18CB1873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See results</a:t>
            </a:r>
          </a:p>
          <a:p>
            <a:pPr marL="171450" indent="-171450">
              <a:buFontTx/>
              <a:buChar char="-"/>
            </a:pPr>
            <a:r>
              <a:rPr lang="en-US" dirty="0"/>
              <a:t>PGO on DT24 currently not possible as DT24 code doesn’t provide individual results for a single frame, just overall</a:t>
            </a:r>
          </a:p>
          <a:p>
            <a:pPr marL="171450" indent="-171450">
              <a:buFontTx/>
              <a:buChar char="-"/>
            </a:pPr>
            <a:r>
              <a:rPr lang="en-US" dirty="0"/>
              <a:t>No GPE for PGO results as I didn’t have the time yet to implement that</a:t>
            </a:r>
          </a:p>
        </p:txBody>
      </p:sp>
    </p:spTree>
    <p:extLst>
      <p:ext uri="{BB962C8B-B14F-4D97-AF65-F5344CB8AC3E}">
        <p14:creationId xmlns:p14="http://schemas.microsoft.com/office/powerpoint/2010/main" val="14297616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5B08A-898A-9B44-C8EE-BF2DD1E27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9D2579-6B1F-5D2C-A379-F561083ABA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4A4E82-3690-05D1-6342-3F5F6AA120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5507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B1C46-4E65-E93E-2442-6E4ED72D9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3AE776-D8E7-8B49-4B82-41D2C9B13B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68AC5B-B7E6-3B4E-1AEA-7F35DF4B11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3437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6F6D0-3100-79C4-7AA9-879773F7A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721FE9-E15C-3631-B457-B85439BDB3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E508A6-9778-0A51-71DE-079E8F4C6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915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for title"/>
          <p:cNvSpPr>
            <a:spLocks noGrp="1"/>
          </p:cNvSpPr>
          <p:nvPr>
            <p:ph type="title"/>
          </p:nvPr>
        </p:nvSpPr>
        <p:spPr>
          <a:xfrm>
            <a:off x="333375" y="1714500"/>
            <a:ext cx="8477250" cy="857250"/>
          </a:xfrm>
          <a:prstGeom prst="rect">
            <a:avLst/>
          </a:prstGeom>
          <a:noFill/>
        </p:spPr>
        <p:txBody>
          <a:bodyPr lIns="91440" tIns="45720" rIns="91440" bIns="45720" rtlCol="0" anchor="b">
            <a:normAutofit/>
          </a:bodyPr>
          <a:lstStyle>
            <a:lvl1pPr algn="ctr">
              <a:defRPr sz="320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2" name="Placeholder for subTitle"/>
          <p:cNvSpPr>
            <a:spLocks noGrp="1"/>
          </p:cNvSpPr>
          <p:nvPr>
            <p:ph type="subTitle" idx="1"/>
          </p:nvPr>
        </p:nvSpPr>
        <p:spPr>
          <a:xfrm>
            <a:off x="333375" y="2667000"/>
            <a:ext cx="8477250" cy="476250"/>
          </a:xfrm>
          <a:prstGeom prst="rect">
            <a:avLst/>
          </a:prstGeom>
          <a:noFill/>
        </p:spPr>
        <p:txBody>
          <a:bodyPr lIns="91440" tIns="45720" rIns="91440" bIns="45720" rtlCol="0">
            <a:normAutofit/>
          </a:bodyPr>
          <a:lstStyle>
            <a:lvl1pPr algn="ctr">
              <a:buNone/>
              <a:defRPr sz="240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</a:lstStyle>
          <a:p>
            <a:r>
              <a:rPr dirty="0"/>
              <a:t>Click to edit master subtitle style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F2F130D-C690-83C2-6924-37FD2AB42E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794" y="21252"/>
            <a:ext cx="857250" cy="857250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D33E7D0-000F-827E-D967-EB3DD67E4F07}"/>
              </a:ext>
            </a:extLst>
          </p:cNvPr>
          <p:cNvSpPr/>
          <p:nvPr userDrawn="1"/>
        </p:nvSpPr>
        <p:spPr>
          <a:xfrm>
            <a:off x="8532440" y="4659982"/>
            <a:ext cx="432048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フリーフォーム: 図形 7">
            <a:extLst>
              <a:ext uri="{FF2B5EF4-FFF2-40B4-BE49-F238E27FC236}">
                <a16:creationId xmlns:a16="http://schemas.microsoft.com/office/drawing/2014/main" id="{52C3BEFA-417A-1441-26BB-00A8491D7FF5}"/>
              </a:ext>
            </a:extLst>
          </p:cNvPr>
          <p:cNvSpPr/>
          <p:nvPr userDrawn="1"/>
        </p:nvSpPr>
        <p:spPr>
          <a:xfrm>
            <a:off x="539553" y="0"/>
            <a:ext cx="8604448" cy="937052"/>
          </a:xfrm>
          <a:custGeom>
            <a:avLst/>
            <a:gdLst>
              <a:gd name="connsiteX0" fmla="*/ 54054 w 8153211"/>
              <a:gd name="connsiteY0" fmla="*/ 0 h 936104"/>
              <a:gd name="connsiteX1" fmla="*/ 8153211 w 8153211"/>
              <a:gd name="connsiteY1" fmla="*/ 0 h 936104"/>
              <a:gd name="connsiteX2" fmla="*/ 8153211 w 8153211"/>
              <a:gd name="connsiteY2" fmla="*/ 936104 h 936104"/>
              <a:gd name="connsiteX3" fmla="*/ 0 w 8153211"/>
              <a:gd name="connsiteY3" fmla="*/ 936104 h 936104"/>
              <a:gd name="connsiteX4" fmla="*/ 42843 w 8153211"/>
              <a:gd name="connsiteY4" fmla="*/ 922805 h 936104"/>
              <a:gd name="connsiteX5" fmla="*/ 350698 w 8153211"/>
              <a:gd name="connsiteY5" fmla="*/ 458360 h 936104"/>
              <a:gd name="connsiteX6" fmla="*/ 128465 w 8153211"/>
              <a:gd name="connsiteY6" fmla="*/ 40389 h 936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153211" h="936104">
                <a:moveTo>
                  <a:pt x="54054" y="0"/>
                </a:moveTo>
                <a:lnTo>
                  <a:pt x="8153211" y="0"/>
                </a:lnTo>
                <a:lnTo>
                  <a:pt x="8153211" y="936104"/>
                </a:lnTo>
                <a:lnTo>
                  <a:pt x="0" y="936104"/>
                </a:lnTo>
                <a:lnTo>
                  <a:pt x="42843" y="922805"/>
                </a:lnTo>
                <a:cubicBezTo>
                  <a:pt x="223757" y="846285"/>
                  <a:pt x="350698" y="667147"/>
                  <a:pt x="350698" y="458360"/>
                </a:cubicBezTo>
                <a:cubicBezTo>
                  <a:pt x="350698" y="284371"/>
                  <a:pt x="262544" y="130972"/>
                  <a:pt x="128465" y="40389"/>
                </a:cubicBezTo>
                <a:close/>
              </a:path>
            </a:pathLst>
          </a:custGeom>
          <a:gradFill flip="none" rotWithShape="1">
            <a:gsLst>
              <a:gs pos="0">
                <a:srgbClr val="00B0F0"/>
              </a:gs>
              <a:gs pos="100000">
                <a:srgbClr val="00B0F0">
                  <a:alpha val="0"/>
                </a:srgbClr>
              </a:gs>
              <a:gs pos="36000">
                <a:srgbClr val="00B0F0">
                  <a:alpha val="67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446088" indent="0" algn="just">
              <a:tabLst/>
            </a:pPr>
            <a:endParaRPr kumimoji="1" lang="ja-JP" altLang="en-US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57365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for body"/>
          <p:cNvSpPr>
            <a:spLocks noGrp="1"/>
          </p:cNvSpPr>
          <p:nvPr>
            <p:ph type="body" hasCustomPrompt="1"/>
          </p:nvPr>
        </p:nvSpPr>
        <p:spPr>
          <a:xfrm>
            <a:off x="133749" y="707816"/>
            <a:ext cx="8832299" cy="3959434"/>
          </a:xfrm>
          <a:prstGeom prst="rect">
            <a:avLst/>
          </a:prstGeom>
          <a:noFill/>
        </p:spPr>
        <p:txBody>
          <a:bodyPr lIns="91440" tIns="45720" rIns="91440" bIns="45720" rtlCol="0">
            <a:normAutofit/>
          </a:bodyPr>
          <a:lstStyle>
            <a:lvl1pPr>
              <a:buSzPct val="100000"/>
              <a:buFont typeface="Arial" panose="020B0604020202020204" pitchFamily="34" charset="0"/>
              <a:buChar char="•"/>
              <a:defRPr/>
            </a:lvl1pPr>
            <a:lvl2pPr>
              <a:buSzPct val="100000"/>
              <a:buFont typeface="Arial" panose="020B0604020202020204" pitchFamily="34" charset="0"/>
              <a:buChar char="•"/>
              <a:defRPr/>
            </a:lvl2pPr>
            <a:lvl3pPr>
              <a:buSzPct val="100000"/>
              <a:buFont typeface="Arial" panose="020B0604020202020204" pitchFamily="34" charset="0"/>
              <a:buChar char="•"/>
              <a:defRPr/>
            </a:lvl3pPr>
            <a:lvl4pPr>
              <a:buSzPct val="100000"/>
              <a:buFont typeface="Arial" panose="020B0604020202020204" pitchFamily="34" charset="0"/>
              <a:buChar char="•"/>
              <a:defRPr/>
            </a:lvl4pPr>
            <a:lvl5pPr>
              <a:buSzPct val="100000"/>
              <a:buFont typeface="Arial" panose="020B0604020202020204" pitchFamily="34" charset="0"/>
              <a:buChar char="•"/>
              <a:defRPr/>
            </a:lvl5pPr>
            <a:lvl6pPr>
              <a:buSzPct val="100000"/>
              <a:buFont typeface="Arial" panose="020B0604020202020204" pitchFamily="34" charset="0"/>
              <a:buChar char="•"/>
              <a:defRPr/>
            </a:lvl6pPr>
            <a:lvl7pPr>
              <a:buSzPct val="100000"/>
              <a:buFont typeface="Arial" panose="020B0604020202020204" pitchFamily="34" charset="0"/>
              <a:buChar char="•"/>
              <a:defRPr/>
            </a:lvl7pPr>
            <a:lvl8pPr>
              <a:buSzPct val="100000"/>
              <a:buFont typeface="Arial" panose="020B0604020202020204" pitchFamily="34" charset="0"/>
              <a:buChar char="•"/>
              <a:defRPr/>
            </a:lvl8pPr>
            <a:lvl9pPr>
              <a:buSzPct val="100000"/>
              <a:buFont typeface="Arial" panose="020B0604020202020204" pitchFamily="34" charset="0"/>
              <a:buChar char="•"/>
              <a:defRPr/>
            </a:lvl9pPr>
          </a:lstStyle>
          <a:p>
            <a:r>
              <a:rPr dirty="0"/>
              <a:t>First level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  <a:p>
            <a:pPr lvl="5"/>
            <a:r>
              <a:rPr dirty="0"/>
              <a:t>Sixth level</a:t>
            </a:r>
          </a:p>
          <a:p>
            <a:pPr lvl="6"/>
            <a:r>
              <a:rPr dirty="0"/>
              <a:t>Seventh level</a:t>
            </a:r>
          </a:p>
          <a:p>
            <a:pPr lvl="7"/>
            <a:r>
              <a:rPr dirty="0"/>
              <a:t>Eighth level</a:t>
            </a:r>
          </a:p>
          <a:p>
            <a:pPr lvl="8"/>
            <a:r>
              <a:rPr dirty="0"/>
              <a:t>Ninth level</a:t>
            </a:r>
          </a:p>
        </p:txBody>
      </p:sp>
      <p:sp>
        <p:nvSpPr>
          <p:cNvPr id="11" name="Placeholder for sldNum"/>
          <p:cNvSpPr>
            <a:spLocks noGrp="1"/>
          </p:cNvSpPr>
          <p:nvPr>
            <p:ph type="sldNum" idx="1"/>
          </p:nvPr>
        </p:nvSpPr>
        <p:spPr>
          <a:prstGeom prst="rect">
            <a:avLst/>
          </a:prstGeom>
          <a:noFill/>
        </p:spPr>
        <p:txBody>
          <a:bodyPr lIns="91440" tIns="45720" rIns="91440" bIns="45720" rtlCol="0">
            <a:normAutofit/>
          </a:bodyPr>
          <a:lstStyle>
            <a:lvl1pPr>
              <a:defRPr/>
            </a:lvl1pPr>
          </a:lstStyle>
          <a:p>
            <a:fld id="{7475F232-FFFE-5E6C-5554-2F165DAD28C0}" type="slidenum">
              <a:t>‹#›</a:t>
            </a:fld>
            <a:endParaRPr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3EB3908-8FC6-6D84-5753-FED228058B1E}"/>
              </a:ext>
            </a:extLst>
          </p:cNvPr>
          <p:cNvSpPr txBox="1"/>
          <p:nvPr userDrawn="1"/>
        </p:nvSpPr>
        <p:spPr>
          <a:xfrm>
            <a:off x="0" y="0"/>
            <a:ext cx="8733692" cy="523220"/>
          </a:xfrm>
          <a:custGeom>
            <a:avLst/>
            <a:gdLst>
              <a:gd name="connsiteX0" fmla="*/ 0 w 8949956"/>
              <a:gd name="connsiteY0" fmla="*/ 0 h 523220"/>
              <a:gd name="connsiteX1" fmla="*/ 8949956 w 8949956"/>
              <a:gd name="connsiteY1" fmla="*/ 0 h 523220"/>
              <a:gd name="connsiteX2" fmla="*/ 8894599 w 8949956"/>
              <a:gd name="connsiteY2" fmla="*/ 5580 h 523220"/>
              <a:gd name="connsiteX3" fmla="*/ 8617703 w 8949956"/>
              <a:gd name="connsiteY3" fmla="*/ 345320 h 523220"/>
              <a:gd name="connsiteX4" fmla="*/ 8644955 w 8949956"/>
              <a:gd name="connsiteY4" fmla="*/ 480304 h 523220"/>
              <a:gd name="connsiteX5" fmla="*/ 8668249 w 8949956"/>
              <a:gd name="connsiteY5" fmla="*/ 523220 h 523220"/>
              <a:gd name="connsiteX6" fmla="*/ 0 w 8949956"/>
              <a:gd name="connsiteY6" fmla="*/ 523220 h 523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9956" h="523220">
                <a:moveTo>
                  <a:pt x="0" y="0"/>
                </a:moveTo>
                <a:lnTo>
                  <a:pt x="8949956" y="0"/>
                </a:lnTo>
                <a:lnTo>
                  <a:pt x="8894599" y="5580"/>
                </a:lnTo>
                <a:cubicBezTo>
                  <a:pt x="8736575" y="37917"/>
                  <a:pt x="8617703" y="177737"/>
                  <a:pt x="8617703" y="345320"/>
                </a:cubicBezTo>
                <a:cubicBezTo>
                  <a:pt x="8617703" y="393201"/>
                  <a:pt x="8627407" y="438816"/>
                  <a:pt x="8644955" y="480304"/>
                </a:cubicBezTo>
                <a:lnTo>
                  <a:pt x="8668249" y="523220"/>
                </a:lnTo>
                <a:lnTo>
                  <a:pt x="0" y="523220"/>
                </a:lnTo>
                <a:close/>
              </a:path>
            </a:pathLst>
          </a:custGeom>
          <a:gradFill flip="none" rotWithShape="1">
            <a:gsLst>
              <a:gs pos="56000">
                <a:srgbClr val="0070C0">
                  <a:alpha val="47000"/>
                </a:srgbClr>
              </a:gs>
              <a:gs pos="100000">
                <a:srgbClr val="0070C0"/>
              </a:gs>
            </a:gsLst>
            <a:lin ang="10800000" scaled="1"/>
            <a:tileRect/>
          </a:gradFill>
        </p:spPr>
        <p:txBody>
          <a:bodyPr wrap="square" lIns="91440" tIns="45720" rIns="91440" bIns="45720" rtlCol="0">
            <a:noAutofit/>
          </a:bodyPr>
          <a:lstStyle>
            <a:lvl1pPr>
              <a:lnSpc>
                <a:spcPct val="100000"/>
              </a:lnSpc>
              <a:defRPr sz="280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■ </a:t>
            </a:r>
            <a:endParaRPr dirty="0"/>
          </a:p>
        </p:txBody>
      </p:sp>
      <p:sp>
        <p:nvSpPr>
          <p:cNvPr id="14" name="Placeholder for title"/>
          <p:cNvSpPr>
            <a:spLocks noGrp="1"/>
          </p:cNvSpPr>
          <p:nvPr>
            <p:ph type="title" idx="2" hasCustomPrompt="1"/>
          </p:nvPr>
        </p:nvSpPr>
        <p:spPr>
          <a:xfrm>
            <a:off x="179512" y="15525"/>
            <a:ext cx="8136904" cy="571500"/>
          </a:xfrm>
          <a:prstGeom prst="rect">
            <a:avLst/>
          </a:prstGeom>
          <a:noFill/>
        </p:spPr>
        <p:txBody>
          <a:bodyPr lIns="91440" tIns="45720" rIns="91440" bIns="45720" rtlCol="0">
            <a:normAutofit/>
          </a:bodyPr>
          <a:lstStyle>
            <a:lvl1pPr marL="180975" indent="0">
              <a:defRPr sz="2200" cap="small" baseline="0">
                <a:solidFill>
                  <a:srgbClr val="FFFFFF">
                    <a:alpha val="100000"/>
                  </a:srgbClr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游ゴシック Medium" panose="020B0500000000000000" pitchFamily="50" charset="-128"/>
              </a:defRPr>
            </a:lvl1pPr>
          </a:lstStyle>
          <a:p>
            <a:r>
              <a:rPr dirty="0"/>
              <a:t>Click to edit master title style</a:t>
            </a: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821EDD68-0082-E9D5-9873-C1A9C91A42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67539" y="26245"/>
            <a:ext cx="648072" cy="64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939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2386" y="363474"/>
            <a:ext cx="7543800" cy="12070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2386" y="1591056"/>
            <a:ext cx="7543800" cy="30380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3318" y="4704588"/>
            <a:ext cx="245516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6102" y="4704588"/>
            <a:ext cx="474573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8551294" y="4672261"/>
            <a:ext cx="342900" cy="3429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JP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JP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4704588"/>
            <a:ext cx="48006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rgbClr val="FFFFFF"/>
                </a:solidFill>
                <a:latin typeface="+mj-lt"/>
              </a:defRPr>
            </a:lvl1pPr>
          </a:lstStyle>
          <a:p>
            <a:fld id="{D8EC5374-57E1-C524-E947-346F474B0D38}" type="slidenum">
              <a:rPr lang="en-US" altLang="ja-JP" smtClean="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18789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284242797" r:id="rId1"/>
    <p:sldLayoutId id="2284242798" r:id="rId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4050" b="1" kern="1200" cap="all" baseline="0"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游ゴシック Medium" panose="020B0500000000000000" pitchFamily="50" charset="-128"/>
          <a:ea typeface="游ゴシック Medium" panose="020B0500000000000000" pitchFamily="50" charset="-128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0000"/>
        </a:lnSpc>
        <a:spcBef>
          <a:spcPts val="9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kumimoji="1" sz="1500" b="1" kern="1200">
          <a:solidFill>
            <a:schemeClr val="tx1"/>
          </a:solidFill>
          <a:latin typeface="游ゴシック Medium" panose="020B0500000000000000" pitchFamily="50" charset="-128"/>
          <a:ea typeface="游ゴシック Medium" panose="020B0500000000000000" pitchFamily="50" charset="-128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kumimoji="1" sz="1350" b="1" kern="1200">
          <a:solidFill>
            <a:schemeClr val="tx1"/>
          </a:solidFill>
          <a:latin typeface="游ゴシック Medium" panose="020B0500000000000000" pitchFamily="50" charset="-128"/>
          <a:ea typeface="游ゴシック Medium" panose="020B0500000000000000" pitchFamily="50" charset="-128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kumimoji="1" sz="1200" b="1" kern="1200">
          <a:solidFill>
            <a:schemeClr val="tx1"/>
          </a:solidFill>
          <a:latin typeface="游ゴシック Medium" panose="020B0500000000000000" pitchFamily="50" charset="-128"/>
          <a:ea typeface="游ゴシック Medium" panose="020B0500000000000000" pitchFamily="50" charset="-128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kumimoji="1" sz="1200" b="1" kern="1200">
          <a:solidFill>
            <a:schemeClr val="tx1"/>
          </a:solidFill>
          <a:latin typeface="游ゴシック Medium" panose="020B0500000000000000" pitchFamily="50" charset="-128"/>
          <a:ea typeface="游ゴシック Medium" panose="020B0500000000000000" pitchFamily="50" charset="-128"/>
          <a:cs typeface="+mn-cs"/>
        </a:defRPr>
      </a:lvl4pPr>
      <a:lvl5pPr marL="96012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kumimoji="1" sz="1200" b="1" kern="1200">
          <a:solidFill>
            <a:schemeClr val="tx1"/>
          </a:solidFill>
          <a:latin typeface="游ゴシック Medium" panose="020B0500000000000000" pitchFamily="50" charset="-128"/>
          <a:ea typeface="游ゴシック Medium" panose="020B0500000000000000" pitchFamily="50" charset="-128"/>
          <a:cs typeface="+mn-cs"/>
        </a:defRPr>
      </a:lvl5pPr>
      <a:lvl6pPr marL="1200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-pages.ucl.ac.uk/tus-rec-challenge/" TargetMode="External"/><Relationship Id="rId7" Type="http://schemas.openxmlformats.org/officeDocument/2006/relationships/hyperlink" Target="https://borglab.github.io/gtsam/betweenfactor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orglab.github.io/gtsam/nonlinearoptimizer/" TargetMode="External"/><Relationship Id="rId5" Type="http://schemas.openxmlformats.org/officeDocument/2006/relationships/hyperlink" Target="https://borglab.github.io/gtsam/" TargetMode="External"/><Relationship Id="rId4" Type="http://schemas.openxmlformats.org/officeDocument/2006/relationships/hyperlink" Target="https://arxiv.org/pdf/2509.0953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4617107"/>
          <a:chOff x="0" y="0"/>
          <a:chExt cx="9144000" cy="4617107"/>
        </a:xfrm>
      </p:grpSpPr>
      <p:sp>
        <p:nvSpPr>
          <p:cNvPr id="2" name="Placeholder for title"/>
          <p:cNvSpPr>
            <a:spLocks noGrp="1"/>
          </p:cNvSpPr>
          <p:nvPr>
            <p:ph type="title"/>
          </p:nvPr>
        </p:nvSpPr>
        <p:spPr>
          <a:xfrm>
            <a:off x="0" y="1943299"/>
            <a:ext cx="9144000" cy="628451"/>
          </a:xfrm>
          <a:prstGeom prst="rect">
            <a:avLst/>
          </a:prstGeom>
          <a:noFill/>
        </p:spPr>
        <p:txBody>
          <a:bodyPr lIns="91440" tIns="45720" rIns="91440" bIns="45720" rtlCol="0">
            <a:noAutofit/>
          </a:bodyPr>
          <a:lstStyle/>
          <a:p>
            <a:r>
              <a:rPr lang="en-US" dirty="0"/>
              <a:t>Pose Graph Optimization for Vision-Only Freehand 3D Ultrasound Reconstruction</a:t>
            </a:r>
            <a:endParaRPr lang="ja-JP" sz="3200" b="0" dirty="0">
              <a:latin typeface="Yu Gothic Medium" panose="020B0400000000000000" pitchFamily="34" charset="-128"/>
              <a:ea typeface="Yu Gothic Medium" panose="020B0400000000000000" pitchFamily="34" charset="-128"/>
            </a:endParaRPr>
          </a:p>
        </p:txBody>
      </p:sp>
      <p:sp>
        <p:nvSpPr>
          <p:cNvPr id="3" name="Placeholder for subTitle"/>
          <p:cNvSpPr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</p:spPr>
        <p:txBody>
          <a:bodyPr lIns="91440" tIns="45720" rIns="91440" bIns="45720" rtlCol="0">
            <a:normAutofit/>
          </a:bodyPr>
          <a:lstStyle/>
          <a:p>
            <a:pPr>
              <a:buNone/>
            </a:pPr>
            <a:r>
              <a:rPr lang="en-US" b="0" dirty="0">
                <a:latin typeface="Yu Gothic Medium" panose="020B0400000000000000" pitchFamily="34" charset="-128"/>
                <a:ea typeface="Yu Gothic Medium" panose="020B0400000000000000" pitchFamily="34" charset="-128"/>
              </a:rPr>
              <a:t>Update 01.06.2026</a:t>
            </a:r>
            <a:endParaRPr b="0" dirty="0">
              <a:latin typeface="Yu Gothic Medium" panose="020B0400000000000000" pitchFamily="34" charset="-128"/>
              <a:ea typeface="Yu Gothic Medium" panose="020B0400000000000000" pitchFamily="34" charset="-128"/>
            </a:endParaRPr>
          </a:p>
        </p:txBody>
      </p:sp>
      <p:cxnSp>
        <p:nvCxnSpPr>
          <p:cNvPr id="4" name="直線コネクタ 3"/>
          <p:cNvCxnSpPr>
            <a:cxnSpLocks/>
          </p:cNvCxnSpPr>
          <p:nvPr/>
        </p:nvCxnSpPr>
        <p:spPr>
          <a:xfrm>
            <a:off x="1475656" y="2581608"/>
            <a:ext cx="6264696" cy="0"/>
          </a:xfrm>
          <a:prstGeom prst="line">
            <a:avLst/>
          </a:prstGeom>
          <a:ln w="34925" cap="flat" cmpd="sng" algn="ctr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47000">
                  <a:srgbClr val="00B0F0">
                    <a:alpha val="15000"/>
                  </a:srgbClr>
                </a:gs>
                <a:gs pos="83000">
                  <a:srgbClr val="00B0F0"/>
                </a:gs>
                <a:gs pos="100000">
                  <a:srgbClr val="00B0F0"/>
                </a:gs>
              </a:gsLst>
              <a:lin ang="10800000" scaled="1"/>
              <a:tileRect/>
            </a:gradFill>
            <a:prstDash val="solid"/>
            <a:round/>
          </a:ln>
        </p:spPr>
      </p:cxnSp>
      <p:sp>
        <p:nvSpPr>
          <p:cNvPr id="5" name="テキスト ボックス 8">
            <a:extLst>
              <a:ext uri="{FF2B5EF4-FFF2-40B4-BE49-F238E27FC236}">
                <a16:creationId xmlns:a16="http://schemas.microsoft.com/office/drawing/2014/main" id="{0E8696AE-8609-3F5A-E2EA-9118C2D7BB63}"/>
              </a:ext>
            </a:extLst>
          </p:cNvPr>
          <p:cNvSpPr txBox="1"/>
          <p:nvPr/>
        </p:nvSpPr>
        <p:spPr>
          <a:xfrm>
            <a:off x="0" y="3867894"/>
            <a:ext cx="9143999" cy="338554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>
              <a:buNone/>
            </a:pPr>
            <a:r>
              <a:rPr lang="en-US" altLang="ja-JP" sz="1600" b="1" dirty="0">
                <a:latin typeface="游ゴシック Medium" panose="020B0500000000000000" pitchFamily="50" charset="-128"/>
                <a:ea typeface="游ゴシック Medium" panose="020B0500000000000000" pitchFamily="50" charset="-128"/>
              </a:rPr>
              <a:t>Jannis Meyer</a:t>
            </a:r>
            <a:endParaRPr sz="1600" b="1" dirty="0">
              <a:latin typeface="游ゴシック Medium" panose="020B0500000000000000" pitchFamily="50" charset="-128"/>
              <a:ea typeface="游ゴシック Medium" panose="020B0500000000000000" pitchFamily="50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E40A7-1564-9640-AF68-893759E63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33F0C07-ADF2-FDB0-FF3C-8059041238D1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b="0" dirty="0">
                <a:ea typeface="游ゴシック Medium"/>
                <a:cs typeface="Times New Roman"/>
              </a:rPr>
              <a:t>   </a:t>
            </a:r>
            <a:r>
              <a:rPr lang="en-US" sz="2400" dirty="0">
                <a:ea typeface="游ゴシック Medium"/>
                <a:cs typeface="Times New Roman"/>
              </a:rPr>
              <a:t>Reminder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3BBB3F1-2966-E583-73CE-E7D6D97CF542}"/>
              </a:ext>
            </a:extLst>
          </p:cNvPr>
          <p:cNvSpPr txBox="1">
            <a:spLocks/>
          </p:cNvSpPr>
          <p:nvPr/>
        </p:nvSpPr>
        <p:spPr>
          <a:xfrm>
            <a:off x="4272908" y="1203598"/>
            <a:ext cx="1597743" cy="1362469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9E3611"/>
              </a:buClr>
            </a:pPr>
            <a:r>
              <a:rPr lang="en-US" sz="1200" b="0" dirty="0">
                <a:ea typeface="游ゴシック Medium"/>
                <a:cs typeface="Times New Roman"/>
              </a:rPr>
              <a:t>Pose predictions</a:t>
            </a:r>
          </a:p>
          <a:p>
            <a:pPr lvl="1">
              <a:buClr>
                <a:srgbClr val="9E3611"/>
              </a:buClr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i</a:t>
            </a:r>
          </a:p>
          <a:p>
            <a:pPr lvl="1">
              <a:buClr>
                <a:srgbClr val="9E3611"/>
              </a:buClr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i→i+1</a:t>
            </a:r>
            <a:endParaRPr lang="en-US" sz="1200" b="0" dirty="0">
              <a:ea typeface="游ゴシック Medium"/>
              <a:cs typeface="Times New Roman"/>
            </a:endParaRPr>
          </a:p>
          <a:p>
            <a:pPr>
              <a:buClr>
                <a:srgbClr val="9E3611"/>
              </a:buClr>
            </a:pPr>
            <a:r>
              <a:rPr lang="en-US" sz="1200" b="0" dirty="0">
                <a:ea typeface="游ゴシック Medium"/>
                <a:cs typeface="Times New Roman"/>
              </a:rPr>
              <a:t>US Frames</a:t>
            </a:r>
          </a:p>
          <a:p>
            <a:pPr>
              <a:buClr>
                <a:srgbClr val="9E3611"/>
              </a:buClr>
            </a:pPr>
            <a:r>
              <a:rPr lang="en-US" sz="1200" b="0" dirty="0">
                <a:ea typeface="游ゴシック Medium"/>
                <a:cs typeface="Times New Roman"/>
              </a:rPr>
              <a:t>FVs</a:t>
            </a:r>
          </a:p>
          <a:p>
            <a:pPr marL="0" indent="0">
              <a:buClr>
                <a:srgbClr val="9E3611"/>
              </a:buClr>
              <a:buNone/>
            </a:pPr>
            <a:endParaRPr lang="en-US" sz="200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endParaRPr lang="en-US" sz="2000" b="0" dirty="0">
              <a:ea typeface="游ゴシック Medium"/>
              <a:cs typeface="Times New Roman"/>
            </a:endParaRPr>
          </a:p>
        </p:txBody>
      </p:sp>
      <p:pic>
        <p:nvPicPr>
          <p:cNvPr id="17" name="Picture 8" descr="Artificial Intelligence AI Icon SVG Vector &amp; PNG Free Download | UXWing">
            <a:extLst>
              <a:ext uri="{FF2B5EF4-FFF2-40B4-BE49-F238E27FC236}">
                <a16:creationId xmlns:a16="http://schemas.microsoft.com/office/drawing/2014/main" id="{4027E8FD-6D1B-1ABD-9CF7-EB91539082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8165" y="1098249"/>
            <a:ext cx="936105" cy="936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2848509-CB3D-883E-B19B-7C1BEAE4112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654" y="1186068"/>
            <a:ext cx="1140702" cy="76046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3496AC3-8CCA-9F75-CF1A-446C0B14E973}"/>
              </a:ext>
            </a:extLst>
          </p:cNvPr>
          <p:cNvSpPr txBox="1"/>
          <p:nvPr/>
        </p:nvSpPr>
        <p:spPr>
          <a:xfrm>
            <a:off x="177654" y="1946536"/>
            <a:ext cx="14269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游ゴシック Medium" panose="020B0500000000000000" pitchFamily="50" charset="-128"/>
              </a:rPr>
              <a:t>US frames</a:t>
            </a:r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85C89568-EFE9-1405-E238-0ABA4D260AFD}"/>
              </a:ext>
            </a:extLst>
          </p:cNvPr>
          <p:cNvSpPr/>
          <p:nvPr/>
        </p:nvSpPr>
        <p:spPr>
          <a:xfrm rot="16200000">
            <a:off x="1479956" y="1203994"/>
            <a:ext cx="475131" cy="623681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8F7BFAA8-55FB-8F9B-2D9F-6DB62AB868E0}"/>
              </a:ext>
            </a:extLst>
          </p:cNvPr>
          <p:cNvSpPr/>
          <p:nvPr/>
        </p:nvSpPr>
        <p:spPr>
          <a:xfrm rot="16200000">
            <a:off x="3608184" y="1203994"/>
            <a:ext cx="475131" cy="623681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899CF8DD-D518-6519-0BF3-90E79377EFE5}"/>
              </a:ext>
            </a:extLst>
          </p:cNvPr>
          <p:cNvSpPr/>
          <p:nvPr/>
        </p:nvSpPr>
        <p:spPr>
          <a:xfrm rot="16200000">
            <a:off x="6175562" y="1203994"/>
            <a:ext cx="475131" cy="623681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852DD2-5EBF-65FF-42FB-077362A1B68C}"/>
              </a:ext>
            </a:extLst>
          </p:cNvPr>
          <p:cNvSpPr txBox="1"/>
          <p:nvPr/>
        </p:nvSpPr>
        <p:spPr>
          <a:xfrm>
            <a:off x="7587427" y="3267737"/>
            <a:ext cx="7280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游ゴシック Medium" panose="020B0500000000000000" pitchFamily="50" charset="-128"/>
              </a:rPr>
              <a:t>PGO</a:t>
            </a:r>
          </a:p>
        </p:txBody>
      </p:sp>
      <p:sp>
        <p:nvSpPr>
          <p:cNvPr id="7" name="Block Arc 6">
            <a:extLst>
              <a:ext uri="{FF2B5EF4-FFF2-40B4-BE49-F238E27FC236}">
                <a16:creationId xmlns:a16="http://schemas.microsoft.com/office/drawing/2014/main" id="{CC7970EA-8AE1-E8A1-4DE9-9C1788ECE086}"/>
              </a:ext>
            </a:extLst>
          </p:cNvPr>
          <p:cNvSpPr/>
          <p:nvPr/>
        </p:nvSpPr>
        <p:spPr>
          <a:xfrm rot="16200000">
            <a:off x="7027938" y="1438538"/>
            <a:ext cx="1289512" cy="330308"/>
          </a:xfrm>
          <a:prstGeom prst="blockArc">
            <a:avLst>
              <a:gd name="adj1" fmla="val 11144466"/>
              <a:gd name="adj2" fmla="val 144548"/>
              <a:gd name="adj3" fmla="val 2127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Block Arc 7">
            <a:extLst>
              <a:ext uri="{FF2B5EF4-FFF2-40B4-BE49-F238E27FC236}">
                <a16:creationId xmlns:a16="http://schemas.microsoft.com/office/drawing/2014/main" id="{F63D1321-4540-8119-8100-22E26CC8652C}"/>
              </a:ext>
            </a:extLst>
          </p:cNvPr>
          <p:cNvSpPr/>
          <p:nvPr/>
        </p:nvSpPr>
        <p:spPr>
          <a:xfrm rot="5977851">
            <a:off x="7524923" y="2244875"/>
            <a:ext cx="1289512" cy="330308"/>
          </a:xfrm>
          <a:prstGeom prst="blockArc">
            <a:avLst>
              <a:gd name="adj1" fmla="val 11144466"/>
              <a:gd name="adj2" fmla="val 144548"/>
              <a:gd name="adj3" fmla="val 2127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9" name="Picture 8" descr="A black and white image of a molecule&#10;&#10;AI-generated content may be incorrect.">
            <a:extLst>
              <a:ext uri="{FF2B5EF4-FFF2-40B4-BE49-F238E27FC236}">
                <a16:creationId xmlns:a16="http://schemas.microsoft.com/office/drawing/2014/main" id="{D1FC3349-935F-5102-A191-58293386D94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9580" y="764353"/>
            <a:ext cx="1690432" cy="2485929"/>
          </a:xfrm>
          <a:prstGeom prst="rect">
            <a:avLst/>
          </a:prstGeom>
        </p:spPr>
      </p:pic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1A7327C-4E48-9F58-B0CA-69692AC23B84}"/>
              </a:ext>
            </a:extLst>
          </p:cNvPr>
          <p:cNvSpPr txBox="1">
            <a:spLocks/>
          </p:cNvSpPr>
          <p:nvPr/>
        </p:nvSpPr>
        <p:spPr>
          <a:xfrm>
            <a:off x="8190896" y="2886726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0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178A6980-F96A-47EB-084A-A3779CE28AEA}"/>
              </a:ext>
            </a:extLst>
          </p:cNvPr>
          <p:cNvSpPr txBox="1">
            <a:spLocks/>
          </p:cNvSpPr>
          <p:nvPr/>
        </p:nvSpPr>
        <p:spPr>
          <a:xfrm>
            <a:off x="8495696" y="1640287"/>
            <a:ext cx="360040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2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6DCD0817-23CC-04F3-6F72-258C15173100}"/>
              </a:ext>
            </a:extLst>
          </p:cNvPr>
          <p:cNvSpPr txBox="1">
            <a:spLocks/>
          </p:cNvSpPr>
          <p:nvPr/>
        </p:nvSpPr>
        <p:spPr>
          <a:xfrm>
            <a:off x="7254792" y="791360"/>
            <a:ext cx="360040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3</a:t>
            </a:r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31BBB9FC-ACBC-A492-0A33-9AD0399E58D6}"/>
              </a:ext>
            </a:extLst>
          </p:cNvPr>
          <p:cNvSpPr txBox="1">
            <a:spLocks/>
          </p:cNvSpPr>
          <p:nvPr/>
        </p:nvSpPr>
        <p:spPr>
          <a:xfrm>
            <a:off x="7038767" y="2144343"/>
            <a:ext cx="360040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1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362F1643-042B-2FCF-B6D6-83BE3DD0A1D8}"/>
              </a:ext>
            </a:extLst>
          </p:cNvPr>
          <p:cNvSpPr txBox="1">
            <a:spLocks/>
          </p:cNvSpPr>
          <p:nvPr/>
        </p:nvSpPr>
        <p:spPr>
          <a:xfrm>
            <a:off x="7985013" y="1113928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2→3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9E126BA-2189-EB85-AB52-27025F2799E8}"/>
              </a:ext>
            </a:extLst>
          </p:cNvPr>
          <p:cNvSpPr txBox="1">
            <a:spLocks/>
          </p:cNvSpPr>
          <p:nvPr/>
        </p:nvSpPr>
        <p:spPr>
          <a:xfrm>
            <a:off x="7541356" y="1704577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1→2</a:t>
            </a:r>
          </a:p>
        </p:txBody>
      </p:sp>
      <p:sp>
        <p:nvSpPr>
          <p:cNvPr id="18" name="Text Placeholder 1">
            <a:extLst>
              <a:ext uri="{FF2B5EF4-FFF2-40B4-BE49-F238E27FC236}">
                <a16:creationId xmlns:a16="http://schemas.microsoft.com/office/drawing/2014/main" id="{806D87BE-23DE-89B5-6149-A7F15AC02EC1}"/>
              </a:ext>
            </a:extLst>
          </p:cNvPr>
          <p:cNvSpPr txBox="1">
            <a:spLocks/>
          </p:cNvSpPr>
          <p:nvPr/>
        </p:nvSpPr>
        <p:spPr>
          <a:xfrm>
            <a:off x="7797525" y="2380595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0→1</a:t>
            </a:r>
          </a:p>
        </p:txBody>
      </p:sp>
      <p:sp>
        <p:nvSpPr>
          <p:cNvPr id="20" name="Text Placeholder 1">
            <a:extLst>
              <a:ext uri="{FF2B5EF4-FFF2-40B4-BE49-F238E27FC236}">
                <a16:creationId xmlns:a16="http://schemas.microsoft.com/office/drawing/2014/main" id="{5CB68EDF-3109-994D-4595-E6EA8C7CD883}"/>
              </a:ext>
            </a:extLst>
          </p:cNvPr>
          <p:cNvSpPr txBox="1">
            <a:spLocks/>
          </p:cNvSpPr>
          <p:nvPr/>
        </p:nvSpPr>
        <p:spPr>
          <a:xfrm>
            <a:off x="8301914" y="2237670"/>
            <a:ext cx="825658" cy="373595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solidFill>
                  <a:schemeClr val="accent1"/>
                </a:solidFill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solidFill>
                  <a:schemeClr val="accent1"/>
                </a:solidFill>
                <a:ea typeface="游ゴシック Medium"/>
                <a:cs typeface="Times New Roman"/>
              </a:rPr>
              <a:t>0→2</a:t>
            </a:r>
          </a:p>
        </p:txBody>
      </p:sp>
      <p:sp>
        <p:nvSpPr>
          <p:cNvPr id="21" name="Text Placeholder 1">
            <a:extLst>
              <a:ext uri="{FF2B5EF4-FFF2-40B4-BE49-F238E27FC236}">
                <a16:creationId xmlns:a16="http://schemas.microsoft.com/office/drawing/2014/main" id="{844BA2E4-B944-7695-EC4A-F08982A8804C}"/>
              </a:ext>
            </a:extLst>
          </p:cNvPr>
          <p:cNvSpPr txBox="1">
            <a:spLocks/>
          </p:cNvSpPr>
          <p:nvPr/>
        </p:nvSpPr>
        <p:spPr>
          <a:xfrm>
            <a:off x="6844017" y="1388914"/>
            <a:ext cx="746625" cy="42955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solidFill>
                  <a:schemeClr val="accent1"/>
                </a:solidFill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solidFill>
                  <a:schemeClr val="accent1"/>
                </a:solidFill>
                <a:ea typeface="游ゴシック Medium"/>
                <a:cs typeface="Times New Roman"/>
              </a:rPr>
              <a:t>1→3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5BAE590-B02D-CF71-BC90-FCC56F7B0C45}"/>
              </a:ext>
            </a:extLst>
          </p:cNvPr>
          <p:cNvSpPr txBox="1"/>
          <p:nvPr/>
        </p:nvSpPr>
        <p:spPr>
          <a:xfrm>
            <a:off x="0" y="3250282"/>
            <a:ext cx="18934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游ゴシック Medium" panose="020B0500000000000000" pitchFamily="50" charset="-128"/>
              </a:rPr>
              <a:t>TUSREC24/25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1212099-DF53-981E-058E-FB824415EB3E}"/>
              </a:ext>
            </a:extLst>
          </p:cNvPr>
          <p:cNvSpPr txBox="1"/>
          <p:nvPr/>
        </p:nvSpPr>
        <p:spPr>
          <a:xfrm>
            <a:off x="801793" y="3994380"/>
            <a:ext cx="41520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游ゴシック Medium" panose="020B0500000000000000" pitchFamily="50" charset="-128"/>
              </a:rPr>
              <a:t>DualTrack</a:t>
            </a:r>
            <a:r>
              <a:rPr lang="en-US" sz="2000" dirty="0">
                <a:latin typeface="游ゴシック Medium" panose="020B0500000000000000" pitchFamily="50" charset="-128"/>
              </a:rPr>
              <a:t> (winner of TUSREC25)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3D59660-4838-3220-50EF-C26C6960934A}"/>
              </a:ext>
            </a:extLst>
          </p:cNvPr>
          <p:cNvCxnSpPr/>
          <p:nvPr/>
        </p:nvCxnSpPr>
        <p:spPr>
          <a:xfrm>
            <a:off x="860517" y="2394208"/>
            <a:ext cx="0" cy="781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D9B6D7E-EA12-9550-6086-FBEB3BA10ECB}"/>
              </a:ext>
            </a:extLst>
          </p:cNvPr>
          <p:cNvCxnSpPr>
            <a:cxnSpLocks/>
          </p:cNvCxnSpPr>
          <p:nvPr/>
        </p:nvCxnSpPr>
        <p:spPr>
          <a:xfrm>
            <a:off x="2767915" y="2175502"/>
            <a:ext cx="0" cy="176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7286690D-E53A-A173-DEA4-C46DB10A77E2}"/>
              </a:ext>
            </a:extLst>
          </p:cNvPr>
          <p:cNvSpPr txBox="1">
            <a:spLocks/>
          </p:cNvSpPr>
          <p:nvPr/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050" b="1" kern="1200">
                <a:solidFill>
                  <a:srgbClr val="FFFFFF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475F232-FFFE-5E6C-5554-2F165DAD28C0}" type="slidenum">
              <a:rPr lang="en-JP" smtClean="0"/>
              <a:pPr/>
              <a:t>2</a:t>
            </a:fld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23281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5F51D-1F4A-E04A-82D8-9A4283BFC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B685D2-3F37-9201-C050-35C8C663A4F7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dirty="0">
                <a:ea typeface="游ゴシック Medium"/>
                <a:cs typeface="Times New Roman"/>
              </a:rPr>
              <a:t>   What did I do?</a:t>
            </a:r>
          </a:p>
        </p:txBody>
      </p:sp>
      <p:sp>
        <p:nvSpPr>
          <p:cNvPr id="16" name="Text Placeholder 1">
            <a:extLst>
              <a:ext uri="{FF2B5EF4-FFF2-40B4-BE49-F238E27FC236}">
                <a16:creationId xmlns:a16="http://schemas.microsoft.com/office/drawing/2014/main" id="{4933E20B-BB1C-95A6-267B-BCA6EEE361A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70325" y="707816"/>
            <a:ext cx="8218099" cy="398686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rgbClr val="9E3611"/>
              </a:buClr>
            </a:pPr>
            <a:r>
              <a:rPr lang="en-US" sz="2000" b="0" dirty="0"/>
              <a:t>Set up </a:t>
            </a:r>
            <a:r>
              <a:rPr lang="en-US" sz="2000" b="0" dirty="0" err="1"/>
              <a:t>DualTrack</a:t>
            </a:r>
            <a:r>
              <a:rPr lang="en-US" sz="2000" b="0" dirty="0"/>
              <a:t> code (+PGO) using GTSAM library</a:t>
            </a:r>
          </a:p>
          <a:p>
            <a:pPr marL="0" indent="0">
              <a:buClr>
                <a:srgbClr val="9E3611"/>
              </a:buClr>
              <a:buNone/>
            </a:pPr>
            <a:endParaRPr lang="en-US" sz="2000" b="0" dirty="0"/>
          </a:p>
          <a:p>
            <a:pPr>
              <a:buClr>
                <a:srgbClr val="9E3611"/>
              </a:buClr>
            </a:pPr>
            <a:r>
              <a:rPr lang="en-US" sz="2000" b="0" dirty="0"/>
              <a:t>Set up TUSREC24/25 data</a:t>
            </a:r>
          </a:p>
          <a:p>
            <a:pPr marL="0" indent="0">
              <a:buClr>
                <a:srgbClr val="9E3611"/>
              </a:buClr>
              <a:buNone/>
            </a:pPr>
            <a:endParaRPr lang="en-US" sz="2000" b="0" dirty="0"/>
          </a:p>
          <a:p>
            <a:pPr>
              <a:buClr>
                <a:srgbClr val="9E3611"/>
              </a:buClr>
            </a:pPr>
            <a:r>
              <a:rPr lang="en-US" sz="2000" b="0" dirty="0"/>
              <a:t>Evaluations on </a:t>
            </a:r>
            <a:r>
              <a:rPr lang="en-US" sz="2000" b="0" dirty="0" err="1"/>
              <a:t>DualTrack</a:t>
            </a:r>
            <a:r>
              <a:rPr lang="en-US" sz="2000" b="0" dirty="0"/>
              <a:t> and TUSREC2/25 data</a:t>
            </a:r>
          </a:p>
          <a:p>
            <a:pPr marL="0" indent="0">
              <a:buClr>
                <a:srgbClr val="9E3611"/>
              </a:buClr>
              <a:buNone/>
            </a:pPr>
            <a:endParaRPr lang="en-US" sz="2000" b="0" dirty="0"/>
          </a:p>
          <a:p>
            <a:pPr>
              <a:buClr>
                <a:srgbClr val="9E3611"/>
              </a:buClr>
            </a:pPr>
            <a:r>
              <a:rPr lang="en-US" sz="2000" b="0" dirty="0"/>
              <a:t>Writing Master Thesis</a:t>
            </a: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463EE220-6A3A-B3F0-3A80-F744F7697689}"/>
              </a:ext>
            </a:extLst>
          </p:cNvPr>
          <p:cNvSpPr txBox="1">
            <a:spLocks/>
          </p:cNvSpPr>
          <p:nvPr/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050" b="1" kern="1200">
                <a:solidFill>
                  <a:srgbClr val="FFFFFF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475F232-FFFE-5E6C-5554-2F165DAD28C0}" type="slidenum">
              <a:rPr lang="en-JP" smtClean="0"/>
              <a:pPr/>
              <a:t>3</a:t>
            </a:fld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3279021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7B051-0EF6-8F7B-56A4-C014AFF65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B2CB50-C8A5-0856-D78D-E98286EBC0A2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dirty="0">
                <a:ea typeface="游ゴシック Medium"/>
                <a:cs typeface="Times New Roman"/>
              </a:rPr>
              <a:t>   Pose Graph Optimization</a:t>
            </a:r>
          </a:p>
        </p:txBody>
      </p:sp>
      <p:sp>
        <p:nvSpPr>
          <p:cNvPr id="16" name="Text Placeholder 1">
            <a:extLst>
              <a:ext uri="{FF2B5EF4-FFF2-40B4-BE49-F238E27FC236}">
                <a16:creationId xmlns:a16="http://schemas.microsoft.com/office/drawing/2014/main" id="{00107EA1-420E-69FE-51CB-AEE3F527306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70325" y="707816"/>
            <a:ext cx="8218099" cy="398686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Clr>
                <a:srgbClr val="9E3611"/>
              </a:buClr>
              <a:buNone/>
            </a:pPr>
            <a:endParaRPr lang="en-US" sz="2000" b="0" dirty="0"/>
          </a:p>
          <a:p>
            <a:pPr marL="0" indent="0">
              <a:buClr>
                <a:srgbClr val="9E3611"/>
              </a:buClr>
              <a:buNone/>
            </a:pPr>
            <a:endParaRPr lang="en-US" sz="20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1">
                <a:extLst>
                  <a:ext uri="{FF2B5EF4-FFF2-40B4-BE49-F238E27FC236}">
                    <a16:creationId xmlns:a16="http://schemas.microsoft.com/office/drawing/2014/main" id="{8E78D97E-74FD-2C66-7EBF-94EB233ED3E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3528" y="707816"/>
                <a:ext cx="8218099" cy="4305013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t">
                <a:noAutofit/>
              </a:bodyPr>
              <a:lstStyle>
                <a:lvl1pPr marL="137160" indent="-137160" algn="l" defTabSz="685800" rtl="0" eaLnBrk="1" latinLnBrk="0" hangingPunct="1">
                  <a:lnSpc>
                    <a:spcPct val="90000"/>
                  </a:lnSpc>
                  <a:spcBef>
                    <a:spcPts val="900"/>
                  </a:spcBef>
                  <a:buClr>
                    <a:schemeClr val="accent1">
                      <a:lumMod val="75000"/>
                    </a:schemeClr>
                  </a:buClr>
                  <a:buSzPct val="100000"/>
                  <a:buFont typeface="Arial" panose="020B0604020202020204" pitchFamily="34" charset="0"/>
                  <a:buChar char="•"/>
                  <a:defRPr kumimoji="1" sz="1500" b="1" kern="1200">
                    <a:solidFill>
                      <a:schemeClr val="tx1"/>
                    </a:solidFill>
                    <a:latin typeface="游ゴシック Medium" panose="020B0500000000000000" pitchFamily="50" charset="-128"/>
                    <a:ea typeface="游ゴシック Medium" panose="020B0500000000000000" pitchFamily="50" charset="-128"/>
                    <a:cs typeface="+mn-cs"/>
                  </a:defRPr>
                </a:lvl1pPr>
                <a:lvl2pPr marL="342900" indent="-137160" algn="l" defTabSz="6858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150"/>
                  </a:spcAft>
                  <a:buClr>
                    <a:schemeClr val="accent1">
                      <a:lumMod val="75000"/>
                    </a:schemeClr>
                  </a:buClr>
                  <a:buSzPct val="100000"/>
                  <a:buFont typeface="Arial" panose="020B0604020202020204" pitchFamily="34" charset="0"/>
                  <a:buChar char="•"/>
                  <a:defRPr kumimoji="1" sz="1350" b="1" kern="1200">
                    <a:solidFill>
                      <a:schemeClr val="tx1"/>
                    </a:solidFill>
                    <a:latin typeface="游ゴシック Medium" panose="020B0500000000000000" pitchFamily="50" charset="-128"/>
                    <a:ea typeface="游ゴシック Medium" panose="020B0500000000000000" pitchFamily="50" charset="-128"/>
                    <a:cs typeface="+mn-cs"/>
                  </a:defRPr>
                </a:lvl2pPr>
                <a:lvl3pPr marL="548640" indent="-137160" algn="l" defTabSz="6858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150"/>
                  </a:spcAft>
                  <a:buClr>
                    <a:schemeClr val="accent1">
                      <a:lumMod val="75000"/>
                    </a:schemeClr>
                  </a:buClr>
                  <a:buSzPct val="100000"/>
                  <a:buFont typeface="Arial" panose="020B0604020202020204" pitchFamily="34" charset="0"/>
                  <a:buChar char="•"/>
                  <a:defRPr kumimoji="1" sz="1200" b="1" kern="1200">
                    <a:solidFill>
                      <a:schemeClr val="tx1"/>
                    </a:solidFill>
                    <a:latin typeface="游ゴシック Medium" panose="020B0500000000000000" pitchFamily="50" charset="-128"/>
                    <a:ea typeface="游ゴシック Medium" panose="020B0500000000000000" pitchFamily="50" charset="-128"/>
                    <a:cs typeface="+mn-cs"/>
                  </a:defRPr>
                </a:lvl3pPr>
                <a:lvl4pPr marL="754380" indent="-137160" algn="l" defTabSz="6858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150"/>
                  </a:spcAft>
                  <a:buClr>
                    <a:schemeClr val="accent1">
                      <a:lumMod val="75000"/>
                    </a:schemeClr>
                  </a:buClr>
                  <a:buSzPct val="100000"/>
                  <a:buFont typeface="Arial" panose="020B0604020202020204" pitchFamily="34" charset="0"/>
                  <a:buChar char="•"/>
                  <a:defRPr kumimoji="1" sz="1200" b="1" kern="1200">
                    <a:solidFill>
                      <a:schemeClr val="tx1"/>
                    </a:solidFill>
                    <a:latin typeface="游ゴシック Medium" panose="020B0500000000000000" pitchFamily="50" charset="-128"/>
                    <a:ea typeface="游ゴシック Medium" panose="020B0500000000000000" pitchFamily="50" charset="-128"/>
                    <a:cs typeface="+mn-cs"/>
                  </a:defRPr>
                </a:lvl4pPr>
                <a:lvl5pPr marL="960120" indent="-137160" algn="l" defTabSz="6858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150"/>
                  </a:spcAft>
                  <a:buClr>
                    <a:schemeClr val="accent1">
                      <a:lumMod val="75000"/>
                    </a:schemeClr>
                  </a:buClr>
                  <a:buSzPct val="100000"/>
                  <a:buFont typeface="Arial" panose="020B0604020202020204" pitchFamily="34" charset="0"/>
                  <a:buChar char="•"/>
                  <a:defRPr kumimoji="1" sz="1200" b="1" kern="1200">
                    <a:solidFill>
                      <a:schemeClr val="tx1"/>
                    </a:solidFill>
                    <a:latin typeface="游ゴシック Medium" panose="020B0500000000000000" pitchFamily="50" charset="-128"/>
                    <a:ea typeface="游ゴシック Medium" panose="020B0500000000000000" pitchFamily="50" charset="-128"/>
                    <a:cs typeface="+mn-cs"/>
                  </a:defRPr>
                </a:lvl5pPr>
                <a:lvl6pPr marL="1200000" indent="-171450" algn="l" defTabSz="6858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150"/>
                  </a:spcAft>
                  <a:buClr>
                    <a:schemeClr val="accent1">
                      <a:lumMod val="75000"/>
                    </a:schemeClr>
                  </a:buClr>
                  <a:buSzPct val="100000"/>
                  <a:buFont typeface="Arial" panose="020B0604020202020204" pitchFamily="34" charset="0"/>
                  <a:buChar char="•"/>
                  <a:defRPr kumimoji="1"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425000" indent="-171450" algn="l" defTabSz="6858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150"/>
                  </a:spcAft>
                  <a:buClr>
                    <a:schemeClr val="accent1">
                      <a:lumMod val="75000"/>
                    </a:schemeClr>
                  </a:buClr>
                  <a:buSzPct val="100000"/>
                  <a:buFont typeface="Arial" panose="020B0604020202020204" pitchFamily="34" charset="0"/>
                  <a:buChar char="•"/>
                  <a:defRPr kumimoji="1"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650000" indent="-171450" algn="l" defTabSz="6858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150"/>
                  </a:spcAft>
                  <a:buClr>
                    <a:schemeClr val="accent1">
                      <a:lumMod val="75000"/>
                    </a:schemeClr>
                  </a:buClr>
                  <a:buSzPct val="100000"/>
                  <a:buFont typeface="Arial" panose="020B0604020202020204" pitchFamily="34" charset="0"/>
                  <a:buChar char="•"/>
                  <a:defRPr kumimoji="1"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875000" indent="-171450" algn="l" defTabSz="6858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150"/>
                  </a:spcAft>
                  <a:buClr>
                    <a:schemeClr val="accent1">
                      <a:lumMod val="75000"/>
                    </a:schemeClr>
                  </a:buClr>
                  <a:buSzPct val="100000"/>
                  <a:buFont typeface="Arial" panose="020B0604020202020204" pitchFamily="34" charset="0"/>
                  <a:buChar char="•"/>
                  <a:defRPr kumimoji="1"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Clr>
                    <a:srgbClr val="9E3611"/>
                  </a:buClr>
                  <a:buNone/>
                </a:pPr>
                <a:r>
                  <a:rPr lang="pt-BR" sz="2000" dirty="0">
                    <a:ea typeface="游ゴシック Medium"/>
                    <a:cs typeface="Times New Roman"/>
                  </a:rPr>
                  <a:t>Optimization formula:</a:t>
                </a:r>
              </a:p>
              <a:p>
                <a:pPr marL="0" indent="0">
                  <a:buClr>
                    <a:srgbClr val="9E3611"/>
                  </a:buClr>
                  <a:buNone/>
                </a:pPr>
                <a14:m>
                  <m:oMath xmlns:m="http://schemas.openxmlformats.org/officeDocument/2006/math">
                    <m:r>
                      <a:rPr lang="pt-BR" sz="2000" b="0" i="1" dirty="0" smtClean="0">
                        <a:latin typeface="Cambria Math" panose="02040503050406030204" pitchFamily="18" charset="0"/>
                        <a:ea typeface="游ゴシック Medium"/>
                        <a:cs typeface="Times New Roman"/>
                      </a:rPr>
                      <m:t>𝑒</m:t>
                    </m:r>
                    <m:r>
                      <a:rPr lang="en-US" sz="2000" b="0" i="0" smtClean="0">
                        <a:latin typeface="Cambria Math" panose="02040503050406030204" pitchFamily="18" charset="0"/>
                        <a:ea typeface="游ゴシック Medium"/>
                        <a:cs typeface="Times New Roman"/>
                      </a:rPr>
                      <m:t> </m:t>
                    </m:r>
                    <m:r>
                      <a:rPr lang="pt-BR" sz="2000" b="0" i="1">
                        <a:latin typeface="Cambria Math" panose="02040503050406030204" pitchFamily="18" charset="0"/>
                        <a:ea typeface="游ゴシック Medium"/>
                        <a:cs typeface="Times New Roman"/>
                      </a:rPr>
                      <m:t>=</m:t>
                    </m:r>
                    <m:nary>
                      <m:naryPr>
                        <m:chr m:val="∑"/>
                        <m:ctrlPr>
                          <a:rPr lang="pt-BR" sz="2000" b="0" i="1">
                            <a:latin typeface="Cambria Math" panose="02040503050406030204" pitchFamily="18" charset="0"/>
                            <a:ea typeface="游ゴシック Medium"/>
                            <a:cs typeface="Times New Roman"/>
                          </a:rPr>
                        </m:ctrlPr>
                      </m:naryPr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游ゴシック Medium"/>
                            <a:cs typeface="Times New Roman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游ゴシック Medium"/>
                            <a:cs typeface="Times New Roman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游ゴシック Medium"/>
                            <a:cs typeface="Times New Roman"/>
                          </a:rPr>
                          <m:t>𝑗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游ゴシック Medium"/>
                            <a:cs typeface="Times New Roman"/>
                          </a:rPr>
                          <m:t>=0</m:t>
                        </m:r>
                      </m:sub>
                      <m:sup>
                        <m:r>
                          <a:rPr lang="pt-BR" sz="2000" b="0" i="1">
                            <a:latin typeface="Cambria Math" panose="02040503050406030204" pitchFamily="18" charset="0"/>
                            <a:ea typeface="游ゴシック Medium"/>
                            <a:cs typeface="Times New Roman"/>
                          </a:rPr>
                          <m:t>𝑛</m:t>
                        </m:r>
                      </m:sup>
                      <m:e>
                        <m:r>
                          <a:rPr lang="en-US" sz="2000" b="0" i="1">
                            <a:latin typeface="Cambria Math" panose="02040503050406030204" pitchFamily="18" charset="0"/>
                            <a:ea typeface="游ゴシック Medium"/>
                            <a:cs typeface="Times New Roman"/>
                          </a:rPr>
                          <m:t>𝑙𝑜𝑔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游ゴシック Medium"/>
                                <a:cs typeface="Times New Roman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b="0" i="1">
                                    <a:latin typeface="Cambria Math" panose="02040503050406030204" pitchFamily="18" charset="0"/>
                                    <a:ea typeface="游ゴシック Medium"/>
                                    <a:cs typeface="Times New Roman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>
                                    <a:latin typeface="Cambria Math" panose="02040503050406030204" pitchFamily="18" charset="0"/>
                                    <a:ea typeface="游ゴシック Medium"/>
                                    <a:cs typeface="Times New Roman"/>
                                  </a:rPr>
                                  <m:t>𝑇</m:t>
                                </m:r>
                                <m:r>
                                  <a:rPr lang="en-US" sz="2000" b="0" i="1" baseline="-25000">
                                    <a:latin typeface="Cambria Math" panose="02040503050406030204" pitchFamily="18" charset="0"/>
                                    <a:ea typeface="游ゴシック Medium"/>
                                    <a:cs typeface="Times New Roman"/>
                                  </a:rPr>
                                  <m:t>𝑖𝑗</m:t>
                                </m:r>
                              </m:e>
                              <m:sup>
                                <m:r>
                                  <a:rPr lang="en-US" sz="2000" b="0" i="1">
                                    <a:latin typeface="Cambria Math" panose="02040503050406030204" pitchFamily="18" charset="0"/>
                                    <a:ea typeface="游ゴシック Medium"/>
                                    <a:cs typeface="Times New Roman"/>
                                  </a:rPr>
                                  <m:t>−1</m:t>
                                </m:r>
                              </m:sup>
                            </m:sSup>
                            <m:r>
                              <a:rPr lang="en-US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∙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000" b="0" i="1">
                                        <a:latin typeface="Cambria Math" panose="02040503050406030204" pitchFamily="18" charset="0"/>
                                        <a:ea typeface="游ゴシック Medium"/>
                                        <a:cs typeface="Times New Roman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>
                                        <a:latin typeface="Cambria Math" panose="02040503050406030204" pitchFamily="18" charset="0"/>
                                        <a:ea typeface="游ゴシック Medium"/>
                                        <a:cs typeface="Times New Roman"/>
                                      </a:rPr>
                                      <m:t>𝑇</m:t>
                                    </m:r>
                                    <m:r>
                                      <a:rPr lang="en-US" sz="2000" b="0" i="1" baseline="-25000">
                                        <a:latin typeface="Cambria Math" panose="02040503050406030204" pitchFamily="18" charset="0"/>
                                        <a:ea typeface="游ゴシック Medium"/>
                                        <a:cs typeface="Times New Roman"/>
                                      </a:rPr>
                                      <m:t>𝑖</m:t>
                                    </m:r>
                                  </m:e>
                                  <m:sup>
                                    <m:r>
                                      <a:rPr lang="en-US" sz="2000" b="0" i="1">
                                        <a:latin typeface="Cambria Math" panose="02040503050406030204" pitchFamily="18" charset="0"/>
                                        <a:ea typeface="游ゴシック Medium"/>
                                        <a:cs typeface="Times New Roman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en-US" sz="20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nary>
                  </m:oMath>
                </a14:m>
                <a:r>
                  <a:rPr lang="en-US" sz="2000" b="0" dirty="0"/>
                  <a:t> (no weights for simplicity)</a:t>
                </a:r>
              </a:p>
              <a:p>
                <a:pPr marL="0" indent="0">
                  <a:buClr>
                    <a:srgbClr val="9E3611"/>
                  </a:buClr>
                  <a:buNone/>
                </a:pPr>
                <a:endParaRPr lang="en-US" sz="2000" b="0" dirty="0"/>
              </a:p>
              <a:p>
                <a:pPr marL="0" indent="0">
                  <a:buClr>
                    <a:srgbClr val="9E3611"/>
                  </a:buClr>
                  <a:buNone/>
                </a:pPr>
                <a:r>
                  <a:rPr lang="en-US" sz="2000" dirty="0">
                    <a:solidFill>
                      <a:schemeClr val="accent1"/>
                    </a:solidFill>
                  </a:rPr>
                  <a:t>➔ </a:t>
                </a:r>
                <a14:m>
                  <m:oMath xmlns:m="http://schemas.openxmlformats.org/officeDocument/2006/math">
                    <m:r>
                      <a:rPr lang="pt-BR" sz="2000" b="0" i="1" dirty="0">
                        <a:latin typeface="Cambria Math" panose="02040503050406030204" pitchFamily="18" charset="0"/>
                        <a:ea typeface="游ゴシック Medium"/>
                        <a:cs typeface="Times New Roman"/>
                      </a:rPr>
                      <m:t>𝑒</m:t>
                    </m:r>
                    <m:r>
                      <a:rPr lang="pt-BR" sz="2000" b="0" i="1" dirty="0">
                        <a:latin typeface="Cambria Math" panose="02040503050406030204" pitchFamily="18" charset="0"/>
                        <a:ea typeface="游ゴシック Medium"/>
                        <a:cs typeface="Times New Roman"/>
                      </a:rPr>
                      <m:t>(</m:t>
                    </m:r>
                    <m:r>
                      <a:rPr lang="pt-BR" sz="2000" b="0" i="1" dirty="0">
                        <a:latin typeface="Cambria Math" panose="02040503050406030204" pitchFamily="18" charset="0"/>
                        <a:ea typeface="游ゴシック Medium"/>
                        <a:cs typeface="Times New Roman"/>
                      </a:rPr>
                      <m:t>𝑥</m:t>
                    </m:r>
                    <m:r>
                      <a:rPr lang="pt-BR" sz="2000" b="0" i="1" dirty="0">
                        <a:latin typeface="Cambria Math" panose="02040503050406030204" pitchFamily="18" charset="0"/>
                        <a:ea typeface="游ゴシック Medium"/>
                        <a:cs typeface="Times New Roman"/>
                      </a:rPr>
                      <m:t>)</m:t>
                    </m:r>
                    <m:r>
                      <a:rPr lang="en-US" sz="2000" b="0">
                        <a:latin typeface="Cambria Math" panose="02040503050406030204" pitchFamily="18" charset="0"/>
                        <a:ea typeface="游ゴシック Medium"/>
                        <a:cs typeface="Times New Roman"/>
                      </a:rPr>
                      <m:t> </m:t>
                    </m:r>
                    <m:r>
                      <a:rPr lang="pt-BR" sz="2000" b="0" i="1">
                        <a:latin typeface="Cambria Math" panose="02040503050406030204" pitchFamily="18" charset="0"/>
                        <a:ea typeface="游ゴシック Medium"/>
                        <a:cs typeface="Times New Roman"/>
                      </a:rPr>
                      <m:t>=</m:t>
                    </m:r>
                  </m:oMath>
                </a14:m>
                <a:r>
                  <a:rPr lang="en-US" sz="2000" b="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sz="2000" b="0" i="1" baseline="30000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000" b="0" dirty="0"/>
                  <a:t>, </a:t>
                </a:r>
                <a14:m>
                  <m:oMath xmlns:m="http://schemas.openxmlformats.org/officeDocument/2006/math">
                    <m:r>
                      <a:rPr lang="en-US" sz="2000" b="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b="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dirty="0">
                        <a:latin typeface="Cambria Math" panose="02040503050406030204" pitchFamily="18" charset="0"/>
                      </a:rPr>
                      <m:t>≙</m:t>
                    </m:r>
                  </m:oMath>
                </a14:m>
                <a:r>
                  <a:rPr lang="en-US" sz="2000" b="0" dirty="0"/>
                  <a:t> set of variables </a:t>
                </a:r>
                <a:r>
                  <a:rPr lang="en-US" sz="2000" b="0"/>
                  <a:t>to optimize</a:t>
                </a:r>
                <a:endParaRPr lang="en-US" sz="2000" b="0" dirty="0"/>
              </a:p>
              <a:p>
                <a:pPr marL="0" indent="0">
                  <a:buClr>
                    <a:srgbClr val="9E3611"/>
                  </a:buClr>
                  <a:buNone/>
                </a:pPr>
                <a:r>
                  <a:rPr lang="en-US" sz="2000" dirty="0">
                    <a:solidFill>
                      <a:schemeClr val="accent1"/>
                    </a:solidFill>
                  </a:rPr>
                  <a:t>➔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sz="20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+∆</m:t>
                        </m:r>
                        <m:r>
                          <a:rPr lang="en-US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b="0" i="1" dirty="0"/>
                  <a:t>  </a:t>
                </a:r>
                <a:r>
                  <a:rPr lang="en-US" sz="2000" b="0" dirty="0"/>
                  <a:t>, Jacobi matrix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sz="2000" b="0" i="1" dirty="0"/>
                  <a:t>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sz="2000" b="0" i="1" dirty="0"/>
              </a:p>
              <a:p>
                <a:pPr marL="0" indent="0">
                  <a:buClr>
                    <a:srgbClr val="9E3611"/>
                  </a:buClr>
                  <a:buNone/>
                </a:pPr>
                <a:r>
                  <a:rPr lang="en-US" sz="2000" dirty="0">
                    <a:solidFill>
                      <a:schemeClr val="accent1"/>
                    </a:solidFill>
                  </a:rPr>
                  <a:t>➔ </a:t>
                </a:r>
                <a:r>
                  <a:rPr lang="en-US" sz="2000" b="0" dirty="0"/>
                  <a:t>Linear optimization problem</a:t>
                </a:r>
                <a:endParaRPr lang="en-US" sz="2000" b="0" i="1" dirty="0"/>
              </a:p>
              <a:p>
                <a:pPr marL="0" indent="0">
                  <a:buClr>
                    <a:srgbClr val="9E3611"/>
                  </a:buClr>
                  <a:buNone/>
                </a:pPr>
                <a:r>
                  <a:rPr lang="en-US" sz="2000" dirty="0">
                    <a:solidFill>
                      <a:schemeClr val="accent1"/>
                    </a:solidFill>
                  </a:rPr>
                  <a:t>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000" b="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 , compute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b="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for minimum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000" b="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, update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b="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, redo until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sz="2000" b="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     converges</a:t>
                </a:r>
              </a:p>
            </p:txBody>
          </p:sp>
        </mc:Choice>
        <mc:Fallback xmlns="">
          <p:sp>
            <p:nvSpPr>
              <p:cNvPr id="5" name="Text Placeholder 1">
                <a:extLst>
                  <a:ext uri="{FF2B5EF4-FFF2-40B4-BE49-F238E27FC236}">
                    <a16:creationId xmlns:a16="http://schemas.microsoft.com/office/drawing/2014/main" id="{8E78D97E-74FD-2C66-7EBF-94EB233ED3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707816"/>
                <a:ext cx="8218099" cy="4305013"/>
              </a:xfrm>
              <a:prstGeom prst="rect">
                <a:avLst/>
              </a:prstGeom>
              <a:blipFill>
                <a:blip r:embed="rId3"/>
                <a:stretch>
                  <a:fillRect l="-742" t="-14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0AB01D8D-8608-E5C2-BC25-E92EDC8B4C75}"/>
              </a:ext>
            </a:extLst>
          </p:cNvPr>
          <p:cNvSpPr txBox="1">
            <a:spLocks/>
          </p:cNvSpPr>
          <p:nvPr/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050" b="1" kern="1200">
                <a:solidFill>
                  <a:srgbClr val="FFFFFF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475F232-FFFE-5E6C-5554-2F165DAD28C0}" type="slidenum">
              <a:rPr lang="en-JP" smtClean="0"/>
              <a:pPr/>
              <a:t>4</a:t>
            </a:fld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1411381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15188-AC12-5131-F7FF-6D49FBFEF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8BCAAD9-795A-2AD0-C5D9-51F3F5B1A173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dirty="0">
                <a:ea typeface="游ゴシック Medium"/>
                <a:cs typeface="Times New Roman"/>
              </a:rPr>
              <a:t>   Pose Graph Optimization</a:t>
            </a:r>
          </a:p>
        </p:txBody>
      </p:sp>
      <p:sp>
        <p:nvSpPr>
          <p:cNvPr id="16" name="Text Placeholder 1">
            <a:extLst>
              <a:ext uri="{FF2B5EF4-FFF2-40B4-BE49-F238E27FC236}">
                <a16:creationId xmlns:a16="http://schemas.microsoft.com/office/drawing/2014/main" id="{0F75490B-E251-B322-BF97-C648B701DD8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70325" y="707816"/>
            <a:ext cx="8218099" cy="398686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Clr>
                <a:srgbClr val="9E3611"/>
              </a:buClr>
              <a:buNone/>
            </a:pPr>
            <a:endParaRPr lang="en-US" sz="2000" b="0" dirty="0"/>
          </a:p>
          <a:p>
            <a:pPr marL="0" indent="0">
              <a:buClr>
                <a:srgbClr val="9E3611"/>
              </a:buClr>
              <a:buNone/>
            </a:pPr>
            <a:endParaRPr lang="en-US" sz="20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1">
                <a:extLst>
                  <a:ext uri="{FF2B5EF4-FFF2-40B4-BE49-F238E27FC236}">
                    <a16:creationId xmlns:a16="http://schemas.microsoft.com/office/drawing/2014/main" id="{B9B934E0-2433-E3F5-7163-424CA4ADB1F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2725" y="860216"/>
                <a:ext cx="8218099" cy="3986866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t">
                <a:normAutofit/>
              </a:bodyPr>
              <a:lstStyle>
                <a:lvl1pPr marL="137160" indent="-137160" algn="l" defTabSz="685800" rtl="0" eaLnBrk="1" latinLnBrk="0" hangingPunct="1">
                  <a:lnSpc>
                    <a:spcPct val="90000"/>
                  </a:lnSpc>
                  <a:spcBef>
                    <a:spcPts val="900"/>
                  </a:spcBef>
                  <a:buClr>
                    <a:schemeClr val="accent1">
                      <a:lumMod val="75000"/>
                    </a:schemeClr>
                  </a:buClr>
                  <a:buSzPct val="100000"/>
                  <a:buFont typeface="Arial" panose="020B0604020202020204" pitchFamily="34" charset="0"/>
                  <a:buChar char="•"/>
                  <a:defRPr kumimoji="1" sz="1500" b="1" kern="1200">
                    <a:solidFill>
                      <a:schemeClr val="tx1"/>
                    </a:solidFill>
                    <a:latin typeface="游ゴシック Medium" panose="020B0500000000000000" pitchFamily="50" charset="-128"/>
                    <a:ea typeface="游ゴシック Medium" panose="020B0500000000000000" pitchFamily="50" charset="-128"/>
                    <a:cs typeface="+mn-cs"/>
                  </a:defRPr>
                </a:lvl1pPr>
                <a:lvl2pPr marL="342900" indent="-137160" algn="l" defTabSz="6858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150"/>
                  </a:spcAft>
                  <a:buClr>
                    <a:schemeClr val="accent1">
                      <a:lumMod val="75000"/>
                    </a:schemeClr>
                  </a:buClr>
                  <a:buSzPct val="100000"/>
                  <a:buFont typeface="Arial" panose="020B0604020202020204" pitchFamily="34" charset="0"/>
                  <a:buChar char="•"/>
                  <a:defRPr kumimoji="1" sz="1350" b="1" kern="1200">
                    <a:solidFill>
                      <a:schemeClr val="tx1"/>
                    </a:solidFill>
                    <a:latin typeface="游ゴシック Medium" panose="020B0500000000000000" pitchFamily="50" charset="-128"/>
                    <a:ea typeface="游ゴシック Medium" panose="020B0500000000000000" pitchFamily="50" charset="-128"/>
                    <a:cs typeface="+mn-cs"/>
                  </a:defRPr>
                </a:lvl2pPr>
                <a:lvl3pPr marL="548640" indent="-137160" algn="l" defTabSz="6858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150"/>
                  </a:spcAft>
                  <a:buClr>
                    <a:schemeClr val="accent1">
                      <a:lumMod val="75000"/>
                    </a:schemeClr>
                  </a:buClr>
                  <a:buSzPct val="100000"/>
                  <a:buFont typeface="Arial" panose="020B0604020202020204" pitchFamily="34" charset="0"/>
                  <a:buChar char="•"/>
                  <a:defRPr kumimoji="1" sz="1200" b="1" kern="1200">
                    <a:solidFill>
                      <a:schemeClr val="tx1"/>
                    </a:solidFill>
                    <a:latin typeface="游ゴシック Medium" panose="020B0500000000000000" pitchFamily="50" charset="-128"/>
                    <a:ea typeface="游ゴシック Medium" panose="020B0500000000000000" pitchFamily="50" charset="-128"/>
                    <a:cs typeface="+mn-cs"/>
                  </a:defRPr>
                </a:lvl3pPr>
                <a:lvl4pPr marL="754380" indent="-137160" algn="l" defTabSz="6858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150"/>
                  </a:spcAft>
                  <a:buClr>
                    <a:schemeClr val="accent1">
                      <a:lumMod val="75000"/>
                    </a:schemeClr>
                  </a:buClr>
                  <a:buSzPct val="100000"/>
                  <a:buFont typeface="Arial" panose="020B0604020202020204" pitchFamily="34" charset="0"/>
                  <a:buChar char="•"/>
                  <a:defRPr kumimoji="1" sz="1200" b="1" kern="1200">
                    <a:solidFill>
                      <a:schemeClr val="tx1"/>
                    </a:solidFill>
                    <a:latin typeface="游ゴシック Medium" panose="020B0500000000000000" pitchFamily="50" charset="-128"/>
                    <a:ea typeface="游ゴシック Medium" panose="020B0500000000000000" pitchFamily="50" charset="-128"/>
                    <a:cs typeface="+mn-cs"/>
                  </a:defRPr>
                </a:lvl4pPr>
                <a:lvl5pPr marL="960120" indent="-137160" algn="l" defTabSz="6858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150"/>
                  </a:spcAft>
                  <a:buClr>
                    <a:schemeClr val="accent1">
                      <a:lumMod val="75000"/>
                    </a:schemeClr>
                  </a:buClr>
                  <a:buSzPct val="100000"/>
                  <a:buFont typeface="Arial" panose="020B0604020202020204" pitchFamily="34" charset="0"/>
                  <a:buChar char="•"/>
                  <a:defRPr kumimoji="1" sz="1200" b="1" kern="1200">
                    <a:solidFill>
                      <a:schemeClr val="tx1"/>
                    </a:solidFill>
                    <a:latin typeface="游ゴシック Medium" panose="020B0500000000000000" pitchFamily="50" charset="-128"/>
                    <a:ea typeface="游ゴシック Medium" panose="020B0500000000000000" pitchFamily="50" charset="-128"/>
                    <a:cs typeface="+mn-cs"/>
                  </a:defRPr>
                </a:lvl5pPr>
                <a:lvl6pPr marL="1200000" indent="-171450" algn="l" defTabSz="6858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150"/>
                  </a:spcAft>
                  <a:buClr>
                    <a:schemeClr val="accent1">
                      <a:lumMod val="75000"/>
                    </a:schemeClr>
                  </a:buClr>
                  <a:buSzPct val="100000"/>
                  <a:buFont typeface="Arial" panose="020B0604020202020204" pitchFamily="34" charset="0"/>
                  <a:buChar char="•"/>
                  <a:defRPr kumimoji="1"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425000" indent="-171450" algn="l" defTabSz="6858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150"/>
                  </a:spcAft>
                  <a:buClr>
                    <a:schemeClr val="accent1">
                      <a:lumMod val="75000"/>
                    </a:schemeClr>
                  </a:buClr>
                  <a:buSzPct val="100000"/>
                  <a:buFont typeface="Arial" panose="020B0604020202020204" pitchFamily="34" charset="0"/>
                  <a:buChar char="•"/>
                  <a:defRPr kumimoji="1"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650000" indent="-171450" algn="l" defTabSz="6858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150"/>
                  </a:spcAft>
                  <a:buClr>
                    <a:schemeClr val="accent1">
                      <a:lumMod val="75000"/>
                    </a:schemeClr>
                  </a:buClr>
                  <a:buSzPct val="100000"/>
                  <a:buFont typeface="Arial" panose="020B0604020202020204" pitchFamily="34" charset="0"/>
                  <a:buChar char="•"/>
                  <a:defRPr kumimoji="1"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875000" indent="-171450" algn="l" defTabSz="6858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150"/>
                  </a:spcAft>
                  <a:buClr>
                    <a:schemeClr val="accent1">
                      <a:lumMod val="75000"/>
                    </a:schemeClr>
                  </a:buClr>
                  <a:buSzPct val="100000"/>
                  <a:buFont typeface="Arial" panose="020B0604020202020204" pitchFamily="34" charset="0"/>
                  <a:buChar char="•"/>
                  <a:defRPr kumimoji="1"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Clr>
                    <a:srgbClr val="9E3611"/>
                  </a:buClr>
                  <a:buFont typeface="Arial" panose="020B0604020202020204" pitchFamily="34" charset="0"/>
                  <a:buNone/>
                </a:pPr>
                <a:r>
                  <a:rPr lang="en-US" sz="2000" dirty="0"/>
                  <a:t>Optimizer:</a:t>
                </a:r>
              </a:p>
              <a:p>
                <a:pPr>
                  <a:buClr>
                    <a:srgbClr val="9E3611"/>
                  </a:buClr>
                </a:pPr>
                <a:r>
                  <a:rPr lang="en-US" sz="2000" b="0" dirty="0"/>
                  <a:t>Levenberg-Marquardt: Additional factor to Jacobi-matrices for more control of optimization</a:t>
                </a:r>
              </a:p>
              <a:p>
                <a:pPr>
                  <a:buClr>
                    <a:srgbClr val="9E3611"/>
                  </a:buClr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000" b="0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l-GR" sz="2000" b="0" dirty="0"/>
                  <a:t>λ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en-US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endParaRPr lang="en-US" sz="20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Clr>
                    <a:srgbClr val="9E3611"/>
                  </a:buClr>
                  <a:buNone/>
                </a:pPr>
                <a:endParaRPr lang="en-US" sz="20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Clr>
                    <a:srgbClr val="9E3611"/>
                  </a:buClr>
                  <a:buNone/>
                </a:pPr>
                <a:r>
                  <a:rPr lang="en-US" sz="2000" dirty="0"/>
                  <a:t>Weights:</a:t>
                </a:r>
              </a:p>
              <a:p>
                <a:pPr>
                  <a:buClr>
                    <a:srgbClr val="9E3611"/>
                  </a:buClr>
                </a:pPr>
                <a:r>
                  <a:rPr lang="en-US" sz="2000" b="0" dirty="0"/>
                  <a:t>Prior (first node): 6*10</a:t>
                </a:r>
                <a:r>
                  <a:rPr lang="en-US" sz="2000" b="0" baseline="30000" dirty="0"/>
                  <a:t>5</a:t>
                </a:r>
                <a:endParaRPr lang="en-US" sz="2000" b="0" dirty="0"/>
              </a:p>
              <a:p>
                <a:pPr>
                  <a:buClr>
                    <a:srgbClr val="9E3611"/>
                  </a:buClr>
                </a:pPr>
                <a:r>
                  <a:rPr lang="en-US" sz="2000" b="0" dirty="0"/>
                  <a:t>Rest: 6*10</a:t>
                </a:r>
                <a:r>
                  <a:rPr lang="en-US" sz="2000" b="0" baseline="30000" dirty="0"/>
                  <a:t>2</a:t>
                </a:r>
              </a:p>
              <a:p>
                <a:pPr marL="0" indent="0">
                  <a:buClr>
                    <a:srgbClr val="9E3611"/>
                  </a:buClr>
                  <a:buNone/>
                </a:pPr>
                <a:endParaRPr lang="en-US" sz="2000" b="0" baseline="30000" dirty="0"/>
              </a:p>
              <a:p>
                <a:pPr marL="0" indent="0">
                  <a:buClr>
                    <a:srgbClr val="9E3611"/>
                  </a:buClr>
                  <a:buNone/>
                </a:pPr>
                <a:r>
                  <a:rPr lang="en-US" sz="2000" dirty="0">
                    <a:solidFill>
                      <a:schemeClr val="accent1"/>
                    </a:solidFill>
                  </a:rPr>
                  <a:t>➔ </a:t>
                </a:r>
                <a:r>
                  <a:rPr lang="en-US" sz="2000" b="0" dirty="0"/>
                  <a:t>Base line PGO, no individual weighting nor additional edges yet</a:t>
                </a:r>
              </a:p>
              <a:p>
                <a:pPr marL="0" indent="0">
                  <a:buClr>
                    <a:srgbClr val="9E3611"/>
                  </a:buClr>
                  <a:buFont typeface="Arial" panose="020B0604020202020204" pitchFamily="34" charset="0"/>
                  <a:buNone/>
                </a:pPr>
                <a:endParaRPr lang="en-US" sz="2000" b="0" dirty="0"/>
              </a:p>
              <a:p>
                <a:pPr marL="0" indent="0">
                  <a:buClr>
                    <a:srgbClr val="9E3611"/>
                  </a:buClr>
                  <a:buFont typeface="Arial" panose="020B0604020202020204" pitchFamily="34" charset="0"/>
                  <a:buNone/>
                </a:pPr>
                <a:endParaRPr lang="en-US" sz="2000" b="0" dirty="0"/>
              </a:p>
            </p:txBody>
          </p:sp>
        </mc:Choice>
        <mc:Fallback xmlns="">
          <p:sp>
            <p:nvSpPr>
              <p:cNvPr id="5" name="Text Placeholder 1">
                <a:extLst>
                  <a:ext uri="{FF2B5EF4-FFF2-40B4-BE49-F238E27FC236}">
                    <a16:creationId xmlns:a16="http://schemas.microsoft.com/office/drawing/2014/main" id="{B9B934E0-2433-E3F5-7163-424CA4ADB1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725" y="860216"/>
                <a:ext cx="8218099" cy="3986866"/>
              </a:xfrm>
              <a:prstGeom prst="rect">
                <a:avLst/>
              </a:prstGeom>
              <a:blipFill>
                <a:blip r:embed="rId3"/>
                <a:stretch>
                  <a:fillRect l="-816" t="-1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15B8A643-C935-B6B1-E575-4A607094E999}"/>
              </a:ext>
            </a:extLst>
          </p:cNvPr>
          <p:cNvSpPr txBox="1">
            <a:spLocks/>
          </p:cNvSpPr>
          <p:nvPr/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050" b="1" kern="1200">
                <a:solidFill>
                  <a:srgbClr val="FFFFFF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475F232-FFFE-5E6C-5554-2F165DAD28C0}" type="slidenum">
              <a:rPr lang="en-JP" smtClean="0"/>
              <a:pPr/>
              <a:t>5</a:t>
            </a:fld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838674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EE898-3847-5199-A981-96EB47932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459F46F-398B-DA77-FEFD-96572E6FC220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dirty="0">
                <a:ea typeface="游ゴシック Medium"/>
                <a:cs typeface="Times New Roman"/>
              </a:rPr>
              <a:t>   Error metrics in </a:t>
            </a:r>
            <a:r>
              <a:rPr lang="en-US" sz="2400" dirty="0" err="1">
                <a:ea typeface="游ゴシック Medium"/>
                <a:cs typeface="Times New Roman"/>
              </a:rPr>
              <a:t>DualTrack</a:t>
            </a:r>
            <a:endParaRPr lang="en-US" sz="2400" dirty="0">
              <a:ea typeface="游ゴシック Medium"/>
              <a:cs typeface="Times New Roman"/>
            </a:endParaRPr>
          </a:p>
        </p:txBody>
      </p:sp>
      <p:sp>
        <p:nvSpPr>
          <p:cNvPr id="16" name="Text Placeholder 1">
            <a:extLst>
              <a:ext uri="{FF2B5EF4-FFF2-40B4-BE49-F238E27FC236}">
                <a16:creationId xmlns:a16="http://schemas.microsoft.com/office/drawing/2014/main" id="{19338026-CEA2-F87C-B29B-233EA84072A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70325" y="707816"/>
            <a:ext cx="8218099" cy="398686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Clr>
                <a:srgbClr val="9E3611"/>
              </a:buClr>
              <a:buNone/>
            </a:pPr>
            <a:r>
              <a:rPr lang="en-US" sz="2000" dirty="0"/>
              <a:t>Final Drift Rate (FDR):</a:t>
            </a:r>
          </a:p>
          <a:p>
            <a:pPr>
              <a:buClr>
                <a:srgbClr val="9E3611"/>
              </a:buClr>
            </a:pPr>
            <a:r>
              <a:rPr lang="en-US" sz="2000" b="0" dirty="0"/>
              <a:t>Error between pose prediction and GT of final frame (translation only)</a:t>
            </a:r>
          </a:p>
          <a:p>
            <a:pPr>
              <a:buClr>
                <a:srgbClr val="9E3611"/>
              </a:buClr>
            </a:pPr>
            <a:r>
              <a:rPr lang="en-US" sz="2000" b="0" dirty="0"/>
              <a:t>Common error metric in 3D US reconstruction</a:t>
            </a:r>
          </a:p>
          <a:p>
            <a:pPr marL="0" indent="0">
              <a:buClr>
                <a:srgbClr val="9E3611"/>
              </a:buClr>
              <a:buNone/>
            </a:pPr>
            <a:endParaRPr lang="en-US" sz="2000" b="0" dirty="0"/>
          </a:p>
          <a:p>
            <a:pPr marL="0" indent="0">
              <a:buClr>
                <a:srgbClr val="9E3611"/>
              </a:buClr>
              <a:buNone/>
            </a:pPr>
            <a:r>
              <a:rPr lang="en-US" sz="2000" dirty="0"/>
              <a:t>Global Point Error (GPE):</a:t>
            </a:r>
          </a:p>
          <a:p>
            <a:pPr>
              <a:buClr>
                <a:srgbClr val="9E3611"/>
              </a:buClr>
            </a:pPr>
            <a:r>
              <a:rPr lang="en-US" sz="2000" b="0" i="1" dirty="0"/>
              <a:t>“Average point error between the true position and the fully reconstructed trajectory estimate at each timestep”</a:t>
            </a:r>
          </a:p>
          <a:p>
            <a:pPr>
              <a:buClr>
                <a:srgbClr val="9E3611"/>
              </a:buClr>
            </a:pPr>
            <a:r>
              <a:rPr lang="en-US" sz="2000" b="0" dirty="0"/>
              <a:t>Mentioned in </a:t>
            </a:r>
            <a:r>
              <a:rPr lang="en-US" sz="2000" b="0" dirty="0" err="1"/>
              <a:t>DualTrack</a:t>
            </a:r>
            <a:r>
              <a:rPr lang="en-US" sz="2000" b="0" dirty="0"/>
              <a:t> paper and TUSREC challenge</a:t>
            </a:r>
          </a:p>
          <a:p>
            <a:pPr marL="0" indent="0">
              <a:buClr>
                <a:srgbClr val="9E3611"/>
              </a:buClr>
              <a:buNone/>
            </a:pPr>
            <a:endParaRPr lang="en-US" sz="2000" b="0" dirty="0"/>
          </a:p>
          <a:p>
            <a:pPr marL="0" indent="0">
              <a:buClr>
                <a:srgbClr val="9E3611"/>
              </a:buClr>
              <a:buNone/>
            </a:pPr>
            <a:r>
              <a:rPr lang="en-US" sz="2000" b="0" dirty="0">
                <a:ea typeface="游ゴシック Medium"/>
                <a:cs typeface="Times New Roman"/>
              </a:rPr>
              <a:t>(Error equals Euclidian distance between estimated and GT point, </a:t>
            </a:r>
            <a:r>
              <a:rPr lang="en-US" sz="2000" b="0" dirty="0"/>
              <a:t>regarding center and four corners</a:t>
            </a:r>
            <a:r>
              <a:rPr lang="en-US" sz="2000" b="0" dirty="0">
                <a:ea typeface="游ゴシック Medium"/>
                <a:cs typeface="Times New Roman"/>
              </a:rPr>
              <a:t>)</a:t>
            </a:r>
          </a:p>
          <a:p>
            <a:pPr marL="0" indent="0">
              <a:buClr>
                <a:srgbClr val="9E3611"/>
              </a:buClr>
              <a:buNone/>
            </a:pPr>
            <a:endParaRPr lang="en-US" sz="2000" b="0" dirty="0"/>
          </a:p>
          <a:p>
            <a:pPr marL="0" indent="0">
              <a:buClr>
                <a:srgbClr val="9E3611"/>
              </a:buClr>
              <a:buNone/>
            </a:pPr>
            <a:endParaRPr lang="en-US" sz="2000" b="0" dirty="0"/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7C86DD8B-6BC7-7005-07B2-F5897B1374DC}"/>
              </a:ext>
            </a:extLst>
          </p:cNvPr>
          <p:cNvSpPr txBox="1">
            <a:spLocks/>
          </p:cNvSpPr>
          <p:nvPr/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050" b="1" kern="1200">
                <a:solidFill>
                  <a:srgbClr val="FFFFFF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475F232-FFFE-5E6C-5554-2F165DAD28C0}" type="slidenum">
              <a:rPr lang="en-JP" smtClean="0"/>
              <a:pPr/>
              <a:t>6</a:t>
            </a:fld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1906251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9FB23-112C-C3CC-60E3-814F59C28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DA1BC3B-7A58-B3E7-FD59-81B570C17FE2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dirty="0">
                <a:ea typeface="游ゴシック Medium"/>
                <a:cs typeface="Times New Roman"/>
              </a:rPr>
              <a:t>   Evaluations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1488DBE-65F8-9075-1223-32B9D64407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1014242"/>
              </p:ext>
            </p:extLst>
          </p:nvPr>
        </p:nvGraphicFramePr>
        <p:xfrm>
          <a:off x="229947" y="699542"/>
          <a:ext cx="8684105" cy="38884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6821">
                  <a:extLst>
                    <a:ext uri="{9D8B030D-6E8A-4147-A177-3AD203B41FA5}">
                      <a16:colId xmlns:a16="http://schemas.microsoft.com/office/drawing/2014/main" val="3561139603"/>
                    </a:ext>
                  </a:extLst>
                </a:gridCol>
                <a:gridCol w="1736821">
                  <a:extLst>
                    <a:ext uri="{9D8B030D-6E8A-4147-A177-3AD203B41FA5}">
                      <a16:colId xmlns:a16="http://schemas.microsoft.com/office/drawing/2014/main" val="2620945309"/>
                    </a:ext>
                  </a:extLst>
                </a:gridCol>
                <a:gridCol w="1736821">
                  <a:extLst>
                    <a:ext uri="{9D8B030D-6E8A-4147-A177-3AD203B41FA5}">
                      <a16:colId xmlns:a16="http://schemas.microsoft.com/office/drawing/2014/main" val="2297008438"/>
                    </a:ext>
                  </a:extLst>
                </a:gridCol>
                <a:gridCol w="1736821">
                  <a:extLst>
                    <a:ext uri="{9D8B030D-6E8A-4147-A177-3AD203B41FA5}">
                      <a16:colId xmlns:a16="http://schemas.microsoft.com/office/drawing/2014/main" val="3047944005"/>
                    </a:ext>
                  </a:extLst>
                </a:gridCol>
                <a:gridCol w="1736821">
                  <a:extLst>
                    <a:ext uri="{9D8B030D-6E8A-4147-A177-3AD203B41FA5}">
                      <a16:colId xmlns:a16="http://schemas.microsoft.com/office/drawing/2014/main" val="3613463515"/>
                    </a:ext>
                  </a:extLst>
                </a:gridCol>
              </a:tblGrid>
              <a:tr h="120949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DualTrack24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DualTrack25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DualTrack24 with PGO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DualTrack25 with PGO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468740"/>
                  </a:ext>
                </a:extLst>
              </a:tr>
              <a:tr h="1209497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TUSREC24 Validation Data</a:t>
                      </a:r>
                    </a:p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(72 scans)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FDR: 5.1%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GPE: 4.92mm</a:t>
                      </a:r>
                    </a:p>
                    <a:p>
                      <a:r>
                        <a:rPr lang="en-US" dirty="0"/>
                        <a:t>(also stated in paper)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FDR: </a:t>
                      </a:r>
                      <a:r>
                        <a:rPr kumimoji="1" lang="en-US" sz="13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28.5%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GPE: </a:t>
                      </a:r>
                      <a:r>
                        <a:rPr kumimoji="1" lang="en-US" sz="13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24.51mm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FDR: 28.6%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GPE: 24.64mm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5052863"/>
                  </a:ext>
                </a:extLst>
              </a:tr>
              <a:tr h="1469439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TUSREC25 Validation Data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(six scans)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sz="13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FDR: 488.8%</a:t>
                      </a:r>
                    </a:p>
                    <a:p>
                      <a:endParaRPr kumimoji="1" lang="en-US" sz="135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kumimoji="1" lang="en-US" sz="13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GPE: 56.53mm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FDR: 72.9%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GPE: 9.45mm</a:t>
                      </a:r>
                    </a:p>
                    <a:p>
                      <a:r>
                        <a:rPr lang="en-US" dirty="0"/>
                        <a:t>(9.2mm stated in paper)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FDR: 72.5%</a:t>
                      </a:r>
                    </a:p>
                    <a:p>
                      <a:endParaRPr lang="en-US" dirty="0"/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GPE: 9.43mm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883092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A594B44-DBCF-6B17-6075-4E33289543B8}"/>
              </a:ext>
            </a:extLst>
          </p:cNvPr>
          <p:cNvSpPr txBox="1"/>
          <p:nvPr/>
        </p:nvSpPr>
        <p:spPr>
          <a:xfrm>
            <a:off x="179512" y="4704588"/>
            <a:ext cx="29019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*FDR and GPE averaged over all scans</a:t>
            </a:r>
          </a:p>
          <a:p>
            <a:endParaRPr lang="en-US" sz="1200" dirty="0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D88CC64F-AB4B-B3DB-7F56-91CD7CBFDA3A}"/>
              </a:ext>
            </a:extLst>
          </p:cNvPr>
          <p:cNvSpPr txBox="1">
            <a:spLocks/>
          </p:cNvSpPr>
          <p:nvPr/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050" b="1" kern="1200">
                <a:solidFill>
                  <a:srgbClr val="FFFFFF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475F232-FFFE-5E6C-5554-2F165DAD28C0}" type="slidenum">
              <a:rPr lang="en-JP" smtClean="0"/>
              <a:pPr/>
              <a:t>7</a:t>
            </a:fld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2673871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EF519-8376-2B6A-7D4A-60EF9FD8D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D4938D2-9B91-85D5-F8A9-CBD942058598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dirty="0">
                <a:ea typeface="游ゴシック Medium"/>
                <a:cs typeface="Times New Roman"/>
              </a:rPr>
              <a:t>   Explanations of Results</a:t>
            </a:r>
          </a:p>
        </p:txBody>
      </p:sp>
      <p:sp>
        <p:nvSpPr>
          <p:cNvPr id="16" name="Text Placeholder 1">
            <a:extLst>
              <a:ext uri="{FF2B5EF4-FFF2-40B4-BE49-F238E27FC236}">
                <a16:creationId xmlns:a16="http://schemas.microsoft.com/office/drawing/2014/main" id="{D2180C5A-8996-2F87-052C-AFEBE599B81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70325" y="707816"/>
            <a:ext cx="8218099" cy="398686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Clr>
                <a:srgbClr val="9E3611"/>
              </a:buClr>
              <a:buNone/>
            </a:pPr>
            <a:r>
              <a:rPr lang="en-US" sz="2000" dirty="0"/>
              <a:t>Bad FDR for 25/25:</a:t>
            </a:r>
          </a:p>
          <a:p>
            <a:pPr>
              <a:buClr>
                <a:srgbClr val="9E3611"/>
              </a:buClr>
            </a:pPr>
            <a:r>
              <a:rPr lang="en-US" sz="2000" b="0" dirty="0"/>
              <a:t>Euclidean distance</a:t>
            </a:r>
          </a:p>
          <a:p>
            <a:pPr>
              <a:buClr>
                <a:srgbClr val="9E3611"/>
              </a:buClr>
            </a:pPr>
            <a:r>
              <a:rPr lang="en-US" sz="2000" b="0" dirty="0"/>
              <a:t>Complex scanning motion</a:t>
            </a:r>
          </a:p>
          <a:p>
            <a:pPr>
              <a:buClr>
                <a:srgbClr val="9E3611"/>
              </a:buClr>
            </a:pPr>
            <a:r>
              <a:rPr lang="en-US" sz="2000" b="0" dirty="0"/>
              <a:t>TUSREC challenge rating does not evaluate FDR</a:t>
            </a:r>
          </a:p>
          <a:p>
            <a:pPr>
              <a:buClr>
                <a:srgbClr val="9E3611"/>
              </a:buClr>
            </a:pPr>
            <a:endParaRPr lang="en-US" sz="2000" b="0" dirty="0"/>
          </a:p>
          <a:p>
            <a:pPr marL="0" indent="0">
              <a:buClr>
                <a:srgbClr val="9E3611"/>
              </a:buClr>
              <a:buNone/>
            </a:pPr>
            <a:r>
              <a:rPr lang="en-US" sz="2000" dirty="0"/>
              <a:t>Low performance for cross-evaluation:</a:t>
            </a:r>
          </a:p>
          <a:p>
            <a:pPr>
              <a:buClr>
                <a:srgbClr val="9E3611"/>
              </a:buClr>
            </a:pPr>
            <a:r>
              <a:rPr lang="en-US" sz="2000" b="0" dirty="0"/>
              <a:t>Different TUSREC24 and TUSREC25 data sets</a:t>
            </a:r>
          </a:p>
          <a:p>
            <a:pPr>
              <a:buClr>
                <a:srgbClr val="9E3611"/>
              </a:buClr>
            </a:pPr>
            <a:r>
              <a:rPr lang="en-US" sz="2000" b="0" dirty="0"/>
              <a:t>No calibration or retraining of models</a:t>
            </a:r>
          </a:p>
          <a:p>
            <a:pPr marL="0" indent="0">
              <a:buClr>
                <a:srgbClr val="9E3611"/>
              </a:buClr>
              <a:buNone/>
            </a:pPr>
            <a:endParaRPr lang="en-US" sz="2000" b="0" dirty="0"/>
          </a:p>
          <a:p>
            <a:pPr marL="0" indent="0">
              <a:buClr>
                <a:srgbClr val="9E3611"/>
              </a:buClr>
              <a:buNone/>
            </a:pPr>
            <a:r>
              <a:rPr lang="en-US" sz="2000"/>
              <a:t>Near-zero dis-/improvement </a:t>
            </a:r>
            <a:r>
              <a:rPr lang="en-US" sz="2000" dirty="0"/>
              <a:t>from PGO:</a:t>
            </a:r>
          </a:p>
          <a:p>
            <a:pPr>
              <a:buClr>
                <a:srgbClr val="9E3611"/>
              </a:buClr>
            </a:pPr>
            <a:r>
              <a:rPr lang="en-US" sz="2000" b="0" dirty="0"/>
              <a:t>Base line, perfect consistency of graph</a:t>
            </a:r>
          </a:p>
          <a:p>
            <a:pPr marL="0" indent="0">
              <a:buClr>
                <a:srgbClr val="9E3611"/>
              </a:buClr>
              <a:buNone/>
            </a:pPr>
            <a:endParaRPr lang="en-US" sz="2000" b="0" dirty="0"/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32245063-E226-CC1B-6F00-A4FA83A243C8}"/>
              </a:ext>
            </a:extLst>
          </p:cNvPr>
          <p:cNvSpPr txBox="1">
            <a:spLocks/>
          </p:cNvSpPr>
          <p:nvPr/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050" b="1" kern="1200">
                <a:solidFill>
                  <a:srgbClr val="FFFFFF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475F232-FFFE-5E6C-5554-2F165DAD28C0}" type="slidenum">
              <a:rPr lang="en-JP" smtClean="0"/>
              <a:pPr/>
              <a:t>8</a:t>
            </a:fld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4193761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B665E-ABBA-75F0-DDD0-2300F8B17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6180094-856D-1CD3-DE71-FC505B21C9A1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dirty="0">
                <a:ea typeface="游ゴシック Medium"/>
                <a:cs typeface="Times New Roman"/>
              </a:rPr>
              <a:t>   Next steps</a:t>
            </a:r>
          </a:p>
        </p:txBody>
      </p:sp>
      <p:sp>
        <p:nvSpPr>
          <p:cNvPr id="16" name="Text Placeholder 1">
            <a:extLst>
              <a:ext uri="{FF2B5EF4-FFF2-40B4-BE49-F238E27FC236}">
                <a16:creationId xmlns:a16="http://schemas.microsoft.com/office/drawing/2014/main" id="{E29D1C51-7DEF-2EA1-2A56-4E230D7F9E1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70325" y="707816"/>
            <a:ext cx="8218099" cy="398686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rgbClr val="9E3611"/>
              </a:buClr>
            </a:pPr>
            <a:r>
              <a:rPr lang="en-US" sz="2000" b="0" dirty="0"/>
              <a:t>Writing Master thesis</a:t>
            </a:r>
          </a:p>
          <a:p>
            <a:pPr marL="0" indent="0">
              <a:buClr>
                <a:srgbClr val="9E3611"/>
              </a:buClr>
              <a:buNone/>
            </a:pPr>
            <a:endParaRPr lang="en-US" sz="2000" b="0" dirty="0"/>
          </a:p>
          <a:p>
            <a:pPr>
              <a:buClr>
                <a:srgbClr val="9E3611"/>
              </a:buClr>
            </a:pPr>
            <a:r>
              <a:rPr lang="en-US" sz="2000" b="0" dirty="0"/>
              <a:t>Fit </a:t>
            </a:r>
            <a:r>
              <a:rPr lang="en-US" sz="2000" b="0" dirty="0" err="1"/>
              <a:t>DualTrack</a:t>
            </a:r>
            <a:r>
              <a:rPr lang="en-US" sz="2000" b="0" dirty="0"/>
              <a:t> code to my needs</a:t>
            </a:r>
          </a:p>
          <a:p>
            <a:pPr marL="0" indent="0">
              <a:buClr>
                <a:srgbClr val="9E3611"/>
              </a:buClr>
              <a:buNone/>
            </a:pPr>
            <a:endParaRPr lang="en-US" sz="2000" b="0" dirty="0"/>
          </a:p>
          <a:p>
            <a:pPr>
              <a:buClr>
                <a:srgbClr val="9E3611"/>
              </a:buClr>
            </a:pPr>
            <a:r>
              <a:rPr lang="en-US" sz="2000" b="0" dirty="0"/>
              <a:t>Improve PGO/Implement actual PGO</a:t>
            </a:r>
          </a:p>
          <a:p>
            <a:pPr>
              <a:buClr>
                <a:srgbClr val="9E3611"/>
              </a:buClr>
            </a:pPr>
            <a:endParaRPr lang="en-US" sz="2000" b="0" dirty="0"/>
          </a:p>
          <a:p>
            <a:pPr>
              <a:buClr>
                <a:srgbClr val="9E3611"/>
              </a:buClr>
            </a:pPr>
            <a:r>
              <a:rPr lang="en-US" sz="2000" b="0" dirty="0"/>
              <a:t>(Evaluate on TUSREC training data)</a:t>
            </a:r>
          </a:p>
          <a:p>
            <a:pPr marL="0" indent="0">
              <a:buClr>
                <a:srgbClr val="9E3611"/>
              </a:buClr>
              <a:buNone/>
            </a:pPr>
            <a:endParaRPr lang="en-US" sz="2000" b="0" dirty="0"/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6FE72020-ED4A-43E5-D50F-64BDDD3FDBD4}"/>
              </a:ext>
            </a:extLst>
          </p:cNvPr>
          <p:cNvSpPr txBox="1">
            <a:spLocks/>
          </p:cNvSpPr>
          <p:nvPr/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050" b="1" kern="1200">
                <a:solidFill>
                  <a:srgbClr val="FFFFFF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475F232-FFFE-5E6C-5554-2F165DAD28C0}" type="slidenum">
              <a:rPr lang="en-JP" smtClean="0"/>
              <a:pPr/>
              <a:t>9</a:t>
            </a:fld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1155058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FC825-EA20-2DF9-0CC1-759E20FBC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216613E-BA4C-F197-DEDA-9CD69CC962E1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dirty="0">
                <a:ea typeface="游ゴシック Medium"/>
                <a:cs typeface="Times New Roman"/>
              </a:rPr>
              <a:t>   Sources</a:t>
            </a:r>
          </a:p>
        </p:txBody>
      </p:sp>
      <p:sp>
        <p:nvSpPr>
          <p:cNvPr id="16" name="Text Placeholder 1">
            <a:extLst>
              <a:ext uri="{FF2B5EF4-FFF2-40B4-BE49-F238E27FC236}">
                <a16:creationId xmlns:a16="http://schemas.microsoft.com/office/drawing/2014/main" id="{DBD762D5-1AB2-3853-4553-76D09EEE979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70325" y="707816"/>
            <a:ext cx="8218099" cy="398686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Clr>
                <a:srgbClr val="9E3611"/>
              </a:buClr>
              <a:buNone/>
            </a:pPr>
            <a:r>
              <a:rPr lang="en-US" sz="2000" dirty="0">
                <a:hlinkClick r:id="rId3"/>
              </a:rPr>
              <a:t>https://github-pages.ucl.ac.uk/tus-rec-challenge/</a:t>
            </a:r>
            <a:endParaRPr lang="en-US" sz="2000" dirty="0"/>
          </a:p>
          <a:p>
            <a:pPr marL="0" indent="0">
              <a:buClr>
                <a:srgbClr val="9E3611"/>
              </a:buClr>
              <a:buNone/>
            </a:pPr>
            <a:endParaRPr lang="en-US" sz="2000" dirty="0"/>
          </a:p>
          <a:p>
            <a:pPr marL="0" indent="0">
              <a:buClr>
                <a:srgbClr val="9E3611"/>
              </a:buClr>
              <a:buNone/>
            </a:pPr>
            <a:r>
              <a:rPr lang="en-US" sz="2000" dirty="0">
                <a:hlinkClick r:id="rId4"/>
              </a:rPr>
              <a:t>https://arxiv.org/pdf/2509.09530/</a:t>
            </a:r>
            <a:endParaRPr lang="en-US" sz="2000" dirty="0"/>
          </a:p>
          <a:p>
            <a:pPr marL="0" indent="0">
              <a:buClr>
                <a:srgbClr val="9E3611"/>
              </a:buClr>
              <a:buNone/>
            </a:pPr>
            <a:endParaRPr lang="en-US" sz="2000" dirty="0"/>
          </a:p>
          <a:p>
            <a:pPr marL="0" indent="0">
              <a:buClr>
                <a:srgbClr val="9E3611"/>
              </a:buClr>
              <a:buNone/>
            </a:pPr>
            <a:r>
              <a:rPr lang="en-US" sz="2000" dirty="0">
                <a:hlinkClick r:id="rId5"/>
              </a:rPr>
              <a:t>https://borglab.github.io/gtsam/</a:t>
            </a:r>
            <a:endParaRPr lang="en-US" sz="2000" dirty="0"/>
          </a:p>
          <a:p>
            <a:pPr marL="0" indent="0">
              <a:buClr>
                <a:srgbClr val="9E3611"/>
              </a:buClr>
              <a:buNone/>
            </a:pPr>
            <a:endParaRPr lang="en-US" sz="2000" dirty="0"/>
          </a:p>
          <a:p>
            <a:pPr marL="0" indent="0">
              <a:buClr>
                <a:srgbClr val="9E3611"/>
              </a:buClr>
              <a:buNone/>
            </a:pPr>
            <a:r>
              <a:rPr lang="en-US" sz="2000" dirty="0">
                <a:hlinkClick r:id="rId6"/>
              </a:rPr>
              <a:t>https://borglab.github.io/gtsam/nonlinearoptimizer/</a:t>
            </a:r>
            <a:endParaRPr lang="en-US" sz="2000" dirty="0"/>
          </a:p>
          <a:p>
            <a:pPr marL="0" indent="0">
              <a:buClr>
                <a:srgbClr val="9E3611"/>
              </a:buClr>
              <a:buNone/>
            </a:pPr>
            <a:endParaRPr lang="en-US" sz="2000" dirty="0"/>
          </a:p>
          <a:p>
            <a:pPr marL="0" indent="0">
              <a:buClr>
                <a:srgbClr val="9E3611"/>
              </a:buClr>
              <a:buNone/>
            </a:pPr>
            <a:r>
              <a:rPr lang="en-US" sz="2000" dirty="0">
                <a:hlinkClick r:id="rId7"/>
              </a:rPr>
              <a:t>https://borglab.github.io/gtsam/betweenfactor/</a:t>
            </a:r>
            <a:endParaRPr lang="en-US" sz="2000" dirty="0"/>
          </a:p>
          <a:p>
            <a:pPr marL="0" indent="0">
              <a:buClr>
                <a:srgbClr val="9E3611"/>
              </a:buClr>
              <a:buNone/>
            </a:pPr>
            <a:endParaRPr lang="en-US" sz="2000" b="0" dirty="0"/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B6ACB501-D4E0-7E04-F9F4-1609F874B511}"/>
              </a:ext>
            </a:extLst>
          </p:cNvPr>
          <p:cNvSpPr txBox="1">
            <a:spLocks/>
          </p:cNvSpPr>
          <p:nvPr/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050" b="1" kern="1200">
                <a:solidFill>
                  <a:srgbClr val="FFFFFF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475F232-FFFE-5E6C-5554-2F165DAD28C0}" type="slidenum">
              <a:rPr lang="en-JP" smtClean="0"/>
              <a:pPr/>
              <a:t>10</a:t>
            </a:fld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7298308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木版活字">
  <a:themeElements>
    <a:clrScheme name="木版活字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木版活字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木版活字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Theme2">
  <a:themeElements>
    <a:clrScheme name="Theme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2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bdc8989-56fb-4b1d-a38b-166581c893ff" xsi:nil="true"/>
    <lcf76f155ced4ddcb4097134ff3c332f xmlns="f61654bb-b7fc-45ad-85e3-d08f7c4a7ee2">
      <Terms xmlns="http://schemas.microsoft.com/office/infopath/2007/PartnerControls"/>
    </lcf76f155ced4ddcb4097134ff3c332f>
    <Title0 xmlns="f61654bb-b7fc-45ad-85e3-d08f7c4a7ee2" xsi:nil="true"/>
    <Year xmlns="f61654bb-b7fc-45ad-85e3-d08f7c4a7ee2" xsi:nil="true"/>
    <Author0 xmlns="f61654bb-b7fc-45ad-85e3-d08f7c4a7ee2" xsi:nil="true"/>
    <Authors xmlns="f61654bb-b7fc-45ad-85e3-d08f7c4a7ee2" xsi:nil="true"/>
    <NotebookType xmlns="f61654bb-b7fc-45ad-85e3-d08f7c4a7ee2" xsi:nil="true"/>
    <Templates xmlns="f61654bb-b7fc-45ad-85e3-d08f7c4a7ee2" xsi:nil="true"/>
    <AppVersion xmlns="f61654bb-b7fc-45ad-85e3-d08f7c4a7ee2" xsi:nil="true"/>
    <IsNotebookLocked xmlns="f61654bb-b7fc-45ad-85e3-d08f7c4a7ee2" xsi:nil="true"/>
    <Self_Registration_Enabled xmlns="f61654bb-b7fc-45ad-85e3-d08f7c4a7ee2" xsi:nil="true"/>
    <Has_Leaders_Only_SectionGroup xmlns="f61654bb-b7fc-45ad-85e3-d08f7c4a7ee2" xsi:nil="true"/>
    <Invited_Members xmlns="f61654bb-b7fc-45ad-85e3-d08f7c4a7ee2" xsi:nil="true"/>
    <Is_Collaboration_Space_Locked xmlns="f61654bb-b7fc-45ad-85e3-d08f7c4a7ee2" xsi:nil="true"/>
    <LMS_Mappings xmlns="f61654bb-b7fc-45ad-85e3-d08f7c4a7ee2" xsi:nil="true"/>
    <Invited_Leaders xmlns="f61654bb-b7fc-45ad-85e3-d08f7c4a7ee2" xsi:nil="true"/>
    <Math_Settings xmlns="f61654bb-b7fc-45ad-85e3-d08f7c4a7ee2" xsi:nil="true"/>
    <Members xmlns="f61654bb-b7fc-45ad-85e3-d08f7c4a7ee2">
      <UserInfo>
        <DisplayName/>
        <AccountId xsi:nil="true"/>
        <AccountType/>
      </UserInfo>
    </Members>
    <DefaultSectionNames xmlns="f61654bb-b7fc-45ad-85e3-d08f7c4a7ee2" xsi:nil="true"/>
    <TeamsChannelId xmlns="f61654bb-b7fc-45ad-85e3-d08f7c4a7ee2" xsi:nil="true"/>
    <FolderType xmlns="f61654bb-b7fc-45ad-85e3-d08f7c4a7ee2" xsi:nil="true"/>
    <Leaders xmlns="f61654bb-b7fc-45ad-85e3-d08f7c4a7ee2">
      <UserInfo>
        <DisplayName/>
        <AccountId xsi:nil="true"/>
        <AccountType/>
      </UserInfo>
    </Leaders>
    <Distribution_Groups xmlns="f61654bb-b7fc-45ad-85e3-d08f7c4a7ee2" xsi:nil="true"/>
    <Member_Groups xmlns="f61654bb-b7fc-45ad-85e3-d08f7c4a7ee2">
      <UserInfo>
        <DisplayName/>
        <AccountId xsi:nil="true"/>
        <AccountType/>
      </UserInfo>
    </Member_Groups>
    <Teams_Channel_Section_Location xmlns="f61654bb-b7fc-45ad-85e3-d08f7c4a7ee2" xsi:nil="true"/>
    <CultureName xmlns="f61654bb-b7fc-45ad-85e3-d08f7c4a7ee2" xsi:nil="true"/>
    <Owner xmlns="f61654bb-b7fc-45ad-85e3-d08f7c4a7ee2">
      <UserInfo>
        <DisplayName/>
        <AccountId xsi:nil="true"/>
        <AccountType/>
      </UserInfo>
    </Owner>
    <_x30a2__x30c3__x30d7__x30ed__x30fc__x30c9__x65e5__x4ed8_ xmlns="f61654bb-b7fc-45ad-85e3-d08f7c4a7ee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352A53F757E5E848A18782864458E644" ma:contentTypeVersion="43" ma:contentTypeDescription="新しいドキュメントを作成します。" ma:contentTypeScope="" ma:versionID="e58177412e1512208a553d6b419372bf">
  <xsd:schema xmlns:xsd="http://www.w3.org/2001/XMLSchema" xmlns:xs="http://www.w3.org/2001/XMLSchema" xmlns:p="http://schemas.microsoft.com/office/2006/metadata/properties" xmlns:ns2="f61654bb-b7fc-45ad-85e3-d08f7c4a7ee2" xmlns:ns3="bbdc8989-56fb-4b1d-a38b-166581c893ff" targetNamespace="http://schemas.microsoft.com/office/2006/metadata/properties" ma:root="true" ma:fieldsID="41a5810d8518a876aecc1f17313a65be" ns2:_="" ns3:_="">
    <xsd:import namespace="f61654bb-b7fc-45ad-85e3-d08f7c4a7ee2"/>
    <xsd:import namespace="bbdc8989-56fb-4b1d-a38b-166581c893ff"/>
    <xsd:element name="properties">
      <xsd:complexType>
        <xsd:sequence>
          <xsd:element name="documentManagement">
            <xsd:complexType>
              <xsd:all>
                <xsd:element ref="ns2:Authors" minOccurs="0"/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Author0" minOccurs="0"/>
                <xsd:element ref="ns2:Title0" minOccurs="0"/>
                <xsd:element ref="ns2:Year" minOccurs="0"/>
                <xsd:element ref="ns2:MediaServiceObjectDetectorVersions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Leaders" minOccurs="0"/>
                <xsd:element ref="ns2:Members" minOccurs="0"/>
                <xsd:element ref="ns2:Member_Groups" minOccurs="0"/>
                <xsd:element ref="ns2:Distribution_Groups" minOccurs="0"/>
                <xsd:element ref="ns2:LMS_Mappings" minOccurs="0"/>
                <xsd:element ref="ns2:Invited_Leaders" minOccurs="0"/>
                <xsd:element ref="ns2:Invited_Members" minOccurs="0"/>
                <xsd:element ref="ns2:Self_Registration_Enabled" minOccurs="0"/>
                <xsd:element ref="ns2:Has_Leaders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SearchProperties" minOccurs="0"/>
                <xsd:element ref="ns2:_x30a2__x30c3__x30d7__x30ed__x30fc__x30c9__x65e5__x4ed8_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1654bb-b7fc-45ad-85e3-d08f7c4a7ee2" elementFormDefault="qualified">
    <xsd:import namespace="http://schemas.microsoft.com/office/2006/documentManagement/types"/>
    <xsd:import namespace="http://schemas.microsoft.com/office/infopath/2007/PartnerControls"/>
    <xsd:element name="Authors" ma:index="2" nillable="true" ma:displayName="Authors" ma:format="Dropdown" ma:internalName="Authors" ma:readOnly="false">
      <xsd:simpleType>
        <xsd:restriction base="dms:Text">
          <xsd:maxLength value="255"/>
        </xsd:restriction>
      </xsd:simple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画像タグ" ma:readOnly="false" ma:fieldId="{5cf76f15-5ced-4ddc-b409-7134ff3c332f}" ma:taxonomyMulti="true" ma:sspId="753b2be4-fe80-4689-baed-1a5cffa426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hidden="true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Author0" ma:index="22" nillable="true" ma:displayName="Author" ma:format="Dropdown" ma:hidden="true" ma:internalName="Author0" ma:readOnly="false">
      <xsd:simpleType>
        <xsd:restriction base="dms:Text">
          <xsd:maxLength value="255"/>
        </xsd:restriction>
      </xsd:simpleType>
    </xsd:element>
    <xsd:element name="Title0" ma:index="23" nillable="true" ma:displayName="Title" ma:format="Dropdown" ma:internalName="Title0">
      <xsd:simpleType>
        <xsd:restriction base="dms:Text">
          <xsd:maxLength value="255"/>
        </xsd:restriction>
      </xsd:simpleType>
    </xsd:element>
    <xsd:element name="Year" ma:index="24" nillable="true" ma:displayName="Year" ma:format="Dropdown" ma:indexed="true" ma:internalName="Year">
      <xsd:simpleType>
        <xsd:restriction base="dms:Text">
          <xsd:maxLength value="255"/>
        </xsd:restriction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NotebookType" ma:index="26" nillable="true" ma:displayName="Notebook Type" ma:internalName="NotebookType">
      <xsd:simpleType>
        <xsd:restriction base="dms:Text"/>
      </xsd:simpleType>
    </xsd:element>
    <xsd:element name="FolderType" ma:index="27" nillable="true" ma:displayName="Folder Type" ma:internalName="FolderType">
      <xsd:simpleType>
        <xsd:restriction base="dms:Text"/>
      </xsd:simpleType>
    </xsd:element>
    <xsd:element name="CultureName" ma:index="28" nillable="true" ma:displayName="Culture Name" ma:internalName="CultureName">
      <xsd:simpleType>
        <xsd:restriction base="dms:Text"/>
      </xsd:simpleType>
    </xsd:element>
    <xsd:element name="AppVersion" ma:index="29" nillable="true" ma:displayName="App Version" ma:internalName="AppVersion">
      <xsd:simpleType>
        <xsd:restriction base="dms:Text"/>
      </xsd:simpleType>
    </xsd:element>
    <xsd:element name="TeamsChannelId" ma:index="30" nillable="true" ma:displayName="Teams Channel Id" ma:internalName="TeamsChannelId">
      <xsd:simpleType>
        <xsd:restriction base="dms:Text"/>
      </xsd:simpleType>
    </xsd:element>
    <xsd:element name="Owner" ma:index="31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32" nillable="true" ma:displayName="Math Settings" ma:internalName="Math_Settings">
      <xsd:simpleType>
        <xsd:restriction base="dms:Text"/>
      </xsd:simpleType>
    </xsd:element>
    <xsd:element name="DefaultSectionNames" ma:index="33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34" nillable="true" ma:displayName="Templates" ma:internalName="Templates">
      <xsd:simpleType>
        <xsd:restriction base="dms:Note">
          <xsd:maxLength value="255"/>
        </xsd:restriction>
      </xsd:simpleType>
    </xsd:element>
    <xsd:element name="Leaders" ma:index="35" nillable="true" ma:displayName="Leaders" ma:internalName="Lead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s" ma:index="36" nillable="true" ma:displayName="Members" ma:internalName="Memb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_Groups" ma:index="37" nillable="true" ma:displayName="Member Groups" ma:internalName="Member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8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9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Leaders" ma:index="40" nillable="true" ma:displayName="Invited Leaders" ma:internalName="Invited_Leaders">
      <xsd:simpleType>
        <xsd:restriction base="dms:Note">
          <xsd:maxLength value="255"/>
        </xsd:restriction>
      </xsd:simpleType>
    </xsd:element>
    <xsd:element name="Invited_Members" ma:index="41" nillable="true" ma:displayName="Invited Members" ma:internalName="Invited_Members">
      <xsd:simpleType>
        <xsd:restriction base="dms:Note">
          <xsd:maxLength value="255"/>
        </xsd:restriction>
      </xsd:simpleType>
    </xsd:element>
    <xsd:element name="Self_Registration_Enabled" ma:index="42" nillable="true" ma:displayName="Self Registration Enabled" ma:internalName="Self_Registration_Enabled">
      <xsd:simpleType>
        <xsd:restriction base="dms:Boolean"/>
      </xsd:simpleType>
    </xsd:element>
    <xsd:element name="Has_Leaders_Only_SectionGroup" ma:index="43" nillable="true" ma:displayName="Has Leaders Only SectionGroup" ma:internalName="Has_Leaders_Only_SectionGroup">
      <xsd:simpleType>
        <xsd:restriction base="dms:Boolean"/>
      </xsd:simpleType>
    </xsd:element>
    <xsd:element name="Is_Collaboration_Space_Locked" ma:index="44" nillable="true" ma:displayName="Is Collaboration Space Locked" ma:internalName="Is_Collaboration_Space_Locked">
      <xsd:simpleType>
        <xsd:restriction base="dms:Boolean"/>
      </xsd:simpleType>
    </xsd:element>
    <xsd:element name="IsNotebookLocked" ma:index="45" nillable="true" ma:displayName="Is Notebook Locked" ma:internalName="IsNotebookLocked">
      <xsd:simpleType>
        <xsd:restriction base="dms:Boolean"/>
      </xsd:simpleType>
    </xsd:element>
    <xsd:element name="Teams_Channel_Section_Location" ma:index="46" nillable="true" ma:displayName="Teams Channel Section Location" ma:internalName="Teams_Channel_Section_Location">
      <xsd:simpleType>
        <xsd:restriction base="dms:Text"/>
      </xsd:simpleType>
    </xsd:element>
    <xsd:element name="MediaServiceSearchProperties" ma:index="4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x30a2__x30c3__x30d7__x30ed__x30fc__x30c9__x65e5__x4ed8_" ma:index="48" nillable="true" ma:displayName="アップロード日付" ma:format="Dropdown" ma:internalName="_x30a2__x30c3__x30d7__x30ed__x30fc__x30c9__x65e5__x4ed8_">
      <xsd:simpleType>
        <xsd:restriction base="dms:Text">
          <xsd:maxLength value="255"/>
        </xsd:restriction>
      </xsd:simpleType>
    </xsd:element>
    <xsd:element name="MediaServiceBillingMetadata" ma:index="4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dc8989-56fb-4b1d-a38b-166581c893ff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621ce9b0-18e4-41e2-8ccf-cb74b8811c8e}" ma:internalName="TaxCatchAll" ma:readOnly="false" ma:showField="CatchAllData" ma:web="bbdc8989-56fb-4b1d-a38b-166581c893f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共有相手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有相手の詳細情報" ma:hidden="true" ma:internalName="SharedWithDetail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コンテンツ タイプ"/>
        <xsd:element ref="dc:title" minOccurs="0" maxOccurs="1" ma:index="1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26A834E-B1B5-46FD-BC6A-86110B9E53A8}">
  <ds:schemaRefs>
    <ds:schemaRef ds:uri="f61654bb-b7fc-45ad-85e3-d08f7c4a7ee2"/>
    <ds:schemaRef ds:uri="http://schemas.microsoft.com/office/infopath/2007/PartnerControls"/>
    <ds:schemaRef ds:uri="http://purl.org/dc/dcmitype/"/>
    <ds:schemaRef ds:uri="http://purl.org/dc/elements/1.1/"/>
    <ds:schemaRef ds:uri="bbdc8989-56fb-4b1d-a38b-166581c893ff"/>
    <ds:schemaRef ds:uri="http://purl.org/dc/terms/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F2D09310-C45E-477D-9B05-494A1C2D17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1654bb-b7fc-45ad-85e3-d08f7c4a7ee2"/>
    <ds:schemaRef ds:uri="bbdc8989-56fb-4b1d-a38b-166581c893f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A8BCAEC-5EDD-4F8B-8062-E645C37DABB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TM03090434[[fn=木版活字]]</Template>
  <TotalTime>2027</TotalTime>
  <Words>624</Words>
  <Application>Microsoft Office PowerPoint</Application>
  <PresentationFormat>On-screen Show (16:9)</PresentationFormat>
  <Paragraphs>144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Yu Gothic Medium</vt:lpstr>
      <vt:lpstr>Yu Gothic Medium</vt:lpstr>
      <vt:lpstr>Abadi</vt:lpstr>
      <vt:lpstr>Arial</vt:lpstr>
      <vt:lpstr>Cambria</vt:lpstr>
      <vt:lpstr>Cambria Math</vt:lpstr>
      <vt:lpstr>Rockwell</vt:lpstr>
      <vt:lpstr>Rockwell Condensed</vt:lpstr>
      <vt:lpstr>Wingdings</vt:lpstr>
      <vt:lpstr>木版活字</vt:lpstr>
      <vt:lpstr>Pose Graph Optimization for Vision-Only Freehand 3D Ultrasound Reconstruction</vt:lpstr>
      <vt:lpstr>   Reminder</vt:lpstr>
      <vt:lpstr>   What did I do?</vt:lpstr>
      <vt:lpstr>   Pose Graph Optimization</vt:lpstr>
      <vt:lpstr>   Pose Graph Optimization</vt:lpstr>
      <vt:lpstr>   Error metrics in DualTrack</vt:lpstr>
      <vt:lpstr>   Evaluations</vt:lpstr>
      <vt:lpstr>   Explanations of Results</vt:lpstr>
      <vt:lpstr>   Next steps</vt:lpstr>
      <vt:lpstr>   Sources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 Presentation</dc:title>
  <dc:subject/>
  <dc:creator>Unknown Creator</dc:creator>
  <cp:keywords/>
  <dc:description/>
  <cp:lastModifiedBy>brgzg 2001</cp:lastModifiedBy>
  <cp:revision>798</cp:revision>
  <dcterms:created xsi:type="dcterms:W3CDTF">2020-07-20T06:28:23Z</dcterms:created>
  <dcterms:modified xsi:type="dcterms:W3CDTF">2026-06-05T07:24:02Z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0x010100352A53F757E5E848A18782864458E644</vt:lpwstr>
  </property>
  <property fmtid="{D5CDD505-2E9C-101B-9397-08002B2CF9AE}" pid="3" name="MediaServiceImageTags">
    <vt:lpwstr/>
  </property>
</Properties>
</file>