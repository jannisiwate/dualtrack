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15"/>
  </p:notesMasterIdLst>
  <p:sldIdLst>
    <p:sldId id="256" r:id="rId5"/>
    <p:sldId id="282" r:id="rId6"/>
    <p:sldId id="296" r:id="rId7"/>
    <p:sldId id="297" r:id="rId8"/>
    <p:sldId id="286" r:id="rId9"/>
    <p:sldId id="299" r:id="rId10"/>
    <p:sldId id="300" r:id="rId11"/>
    <p:sldId id="301" r:id="rId12"/>
    <p:sldId id="298" r:id="rId13"/>
    <p:sldId id="302" r:id="rId14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150" autoAdjust="0"/>
  </p:normalViewPr>
  <p:slideViewPr>
    <p:cSldViewPr>
      <p:cViewPr varScale="1">
        <p:scale>
          <a:sx n="111" d="100"/>
          <a:sy n="111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18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1389-0821-4682-D9C0-5C395DD7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2EEA0-A488-5FC5-F9F9-2B5CDAC74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939AB-37A0-B2C6-427A-027C0FA26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20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4DD3-64F3-8232-353D-F77CE363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6DDA7-5173-7335-429B-31316B75A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06C7-AB11-E097-381C-289331DFE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88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6842-0B0E-91C8-7F35-B356EFFB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FB22F-F84F-D3D2-EF9C-3CF06ED16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00DD1-C3C9-F066-CCEC-C1128C44A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65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973B-E51E-FE48-A457-2C39A84F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78778-BE6F-A199-3EDC-09525DED6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949C-59CE-8F46-43E0-68FFBF397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One scan, first 100 frames</a:t>
            </a:r>
          </a:p>
          <a:p>
            <a:pPr marL="171450" indent="-171450">
              <a:buFontTx/>
              <a:buChar char="-"/>
            </a:pPr>
            <a:r>
              <a:rPr lang="en-US" dirty="0"/>
              <a:t>Slight correlation between transform magnitude and error</a:t>
            </a:r>
          </a:p>
        </p:txBody>
      </p:sp>
    </p:spTree>
    <p:extLst>
      <p:ext uri="{BB962C8B-B14F-4D97-AF65-F5344CB8AC3E}">
        <p14:creationId xmlns:p14="http://schemas.microsoft.com/office/powerpoint/2010/main" val="596583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10AB-35FE-15B6-B7ED-5B05C5D5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FE2BB-792B-A211-B750-0BC0AFDD4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CF089-96BD-1CC4-EF9C-2166115F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general trend is fine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Note: z, pitch, roll from </a:t>
            </a:r>
            <a:r>
              <a:rPr lang="en-US" dirty="0" err="1"/>
              <a:t>DualTrack</a:t>
            </a:r>
            <a:r>
              <a:rPr lang="en-US" dirty="0"/>
              <a:t>: No jitter</a:t>
            </a:r>
          </a:p>
        </p:txBody>
      </p:sp>
    </p:spTree>
    <p:extLst>
      <p:ext uri="{BB962C8B-B14F-4D97-AF65-F5344CB8AC3E}">
        <p14:creationId xmlns:p14="http://schemas.microsoft.com/office/powerpoint/2010/main" val="1878294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9E11-F854-381E-81FF-78627306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D516A-FCAB-3BAD-E4AA-0D468D9B7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21611-294A-235E-8221-D36A650DE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General direction is fine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Again no jitter for </a:t>
            </a:r>
            <a:r>
              <a:rPr lang="en-US" dirty="0" err="1"/>
              <a:t>DualTrack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IR retains jitter</a:t>
            </a:r>
          </a:p>
        </p:txBody>
      </p:sp>
    </p:spTree>
    <p:extLst>
      <p:ext uri="{BB962C8B-B14F-4D97-AF65-F5344CB8AC3E}">
        <p14:creationId xmlns:p14="http://schemas.microsoft.com/office/powerpoint/2010/main" val="400062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13E8-7E23-C53F-A2B7-7DA3FC6B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82575-8C9D-EC7D-86DD-DC4B643AB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E6708-94EC-1D21-425B-EF7C3C48E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15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3A74-A868-DB05-9DE4-3163F367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71AA7-33FB-F080-7C37-8E277DC9B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D47DC-0751-CEBC-9F51-035CB3939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1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3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Update 01.06.2026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F51D-1F4A-E04A-82D8-9A4283BF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B685D2-3F37-9201-C050-35C8C663A4F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What did I do?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933E20B-BB1C-95A6-267B-BCA6EEE361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Enhance Image Registration (IR) (</a:t>
            </a:r>
            <a:r>
              <a:rPr lang="en-US" sz="2000" b="0" dirty="0" err="1"/>
              <a:t>SimpleITK</a:t>
            </a:r>
            <a:r>
              <a:rPr lang="en-US" sz="2000" b="0" dirty="0"/>
              <a:t>, only 2D so far!)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Metrics, optimizers, techniques, parameters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Evaluate IR on whole scans (no adaption to PGO here): Find frame poses only using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3EE220-6A3A-B3F0-3A80-F744F769768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2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7902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2B53-B5F2-A1E3-3EBB-B5867E5D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6F34E-01EF-6142-08CA-DF02143894C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Basics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6D7C7229-3472-4A02-4A8E-E5E32A9ABFB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6C9760-3356-4A61-D00B-8C2E67448ABF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EDAF894-32A7-5310-7C54-33EE09373E6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3</a:t>
            </a:fld>
            <a:endParaRPr lang="en-JP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1723FDE-40A9-C37B-C89E-1E3A3184345D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8483346" y="4704588"/>
            <a:ext cx="480060" cy="273844"/>
          </a:xfrm>
        </p:spPr>
        <p:txBody>
          <a:bodyPr/>
          <a:lstStyle/>
          <a:p>
            <a:fld id="{7475F232-FFFE-5E6C-5554-2F165DAD28C0}" type="slidenum">
              <a:rPr lang="en-JP" smtClean="0"/>
              <a:t>3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8E20572-F08F-1BD2-CC05-0C0DC7518880}"/>
              </a:ext>
            </a:extLst>
          </p:cNvPr>
          <p:cNvSpPr txBox="1">
            <a:spLocks/>
          </p:cNvSpPr>
          <p:nvPr/>
        </p:nvSpPr>
        <p:spPr>
          <a:xfrm>
            <a:off x="251520" y="774789"/>
            <a:ext cx="8640960" cy="24345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Find transform which makes one image align with another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8" name="Picture 6" descr="Basic example of an image registration procedure. F is the target image, M is the image to be registered, and R′ is the registered image. ">
            <a:extLst>
              <a:ext uri="{FF2B5EF4-FFF2-40B4-BE49-F238E27FC236}">
                <a16:creationId xmlns:a16="http://schemas.microsoft.com/office/drawing/2014/main" id="{C2E2E3ED-A985-C5A8-61B0-404F15D45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877" y="1302362"/>
            <a:ext cx="5128245" cy="135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C78DC5-E40D-7F52-6C67-A948B9DB2666}"/>
              </a:ext>
            </a:extLst>
          </p:cNvPr>
          <p:cNvSpPr txBox="1"/>
          <p:nvPr/>
        </p:nvSpPr>
        <p:spPr>
          <a:xfrm>
            <a:off x="1247594" y="2798217"/>
            <a:ext cx="6648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游ゴシック Medium" panose="020B0500000000000000" pitchFamily="50" charset="-128"/>
              </a:rPr>
              <a:t>Source: https://www.researchgate.net/figure/Basic-example-of-an-image-registration-procedure-F-is-the-target-image-M-is-the-image_fig4_320212021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41FDF-9AC0-DA11-97E8-23BE9D68CA20}"/>
              </a:ext>
            </a:extLst>
          </p:cNvPr>
          <p:cNvSpPr txBox="1"/>
          <p:nvPr/>
        </p:nvSpPr>
        <p:spPr>
          <a:xfrm>
            <a:off x="323528" y="3507854"/>
            <a:ext cx="32031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F: fixed, M: moving</a:t>
            </a:r>
          </a:p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 err="1">
                <a:latin typeface="游ゴシック Medium" panose="020B0500000000000000" pitchFamily="50" charset="-128"/>
              </a:rPr>
              <a:t>SimpleITK</a:t>
            </a:r>
            <a:r>
              <a:rPr lang="en-US" sz="2000" dirty="0">
                <a:latin typeface="游ゴシック Medium" panose="020B0500000000000000" pitchFamily="50" charset="-128"/>
              </a:rPr>
              <a:t>: Finds T</a:t>
            </a:r>
            <a:r>
              <a:rPr lang="en-US" sz="2000" baseline="-25000" dirty="0">
                <a:latin typeface="游ゴシック Medium" panose="020B0500000000000000" pitchFamily="50" charset="-128"/>
              </a:rPr>
              <a:t>M➔F</a:t>
            </a:r>
          </a:p>
        </p:txBody>
      </p:sp>
    </p:spTree>
    <p:extLst>
      <p:ext uri="{BB962C8B-B14F-4D97-AF65-F5344CB8AC3E}">
        <p14:creationId xmlns:p14="http://schemas.microsoft.com/office/powerpoint/2010/main" val="275731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4A2B-423D-99A8-D915-BE58B73D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9BED0A-C42D-E113-00DA-FE9CC602D1C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Combination of transforms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32A2463-26B6-52EF-00F5-AE43100F6426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513FA28-6BE8-0A43-8E1A-A0633AAD6525}"/>
              </a:ext>
            </a:extLst>
          </p:cNvPr>
          <p:cNvSpPr txBox="1">
            <a:spLocks/>
          </p:cNvSpPr>
          <p:nvPr/>
        </p:nvSpPr>
        <p:spPr>
          <a:xfrm>
            <a:off x="323528" y="784016"/>
            <a:ext cx="8218099" cy="398686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	IR works in 2D and gives 3DoF transforms (x, y, yaw)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	Volume reconstruction works in 3D and needs 6DoF 	transforms (x, y, z, pitch, yaw, roll)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➔ Combine 2D IR pose and 3D </a:t>
            </a:r>
            <a:r>
              <a:rPr lang="en-US" sz="2000" dirty="0" err="1"/>
              <a:t>DualTrack</a:t>
            </a:r>
            <a:r>
              <a:rPr lang="en-US" sz="2000" dirty="0"/>
              <a:t> pose: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    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 err="1"/>
              <a:t>DualTrack</a:t>
            </a:r>
            <a:endParaRPr lang="en-US" sz="2000" b="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39B2C2E-02C6-FBC6-F4E0-D451018F62FA}"/>
              </a:ext>
            </a:extLst>
          </p:cNvPr>
          <p:cNvSpPr txBox="1">
            <a:spLocks/>
          </p:cNvSpPr>
          <p:nvPr/>
        </p:nvSpPr>
        <p:spPr>
          <a:xfrm>
            <a:off x="8635746" y="48569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  <p:sp>
        <p:nvSpPr>
          <p:cNvPr id="8" name="Flowchart: Extract 7">
            <a:extLst>
              <a:ext uri="{FF2B5EF4-FFF2-40B4-BE49-F238E27FC236}">
                <a16:creationId xmlns:a16="http://schemas.microsoft.com/office/drawing/2014/main" id="{EB13424F-58B9-7F73-E2A1-2ECDB187D47E}"/>
              </a:ext>
            </a:extLst>
          </p:cNvPr>
          <p:cNvSpPr/>
          <p:nvPr/>
        </p:nvSpPr>
        <p:spPr>
          <a:xfrm>
            <a:off x="331603" y="913897"/>
            <a:ext cx="571138" cy="429556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游ゴシック Medium" panose="020B0500000000000000" pitchFamily="50" charset="-128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C6CB093-EAB5-BE9B-F7ED-8248CC402F49}"/>
              </a:ext>
            </a:extLst>
          </p:cNvPr>
          <p:cNvSpPr txBox="1">
            <a:spLocks/>
          </p:cNvSpPr>
          <p:nvPr/>
        </p:nvSpPr>
        <p:spPr>
          <a:xfrm>
            <a:off x="473156" y="987574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D34E499-B241-1F55-648A-4072000A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11522"/>
              </p:ext>
            </p:extLst>
          </p:nvPr>
        </p:nvGraphicFramePr>
        <p:xfrm>
          <a:off x="5580112" y="3219822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13" name="Left Bracket 12">
            <a:extLst>
              <a:ext uri="{FF2B5EF4-FFF2-40B4-BE49-F238E27FC236}">
                <a16:creationId xmlns:a16="http://schemas.microsoft.com/office/drawing/2014/main" id="{5E1FC24A-9E7F-EDA6-5D82-7877689F2D55}"/>
              </a:ext>
            </a:extLst>
          </p:cNvPr>
          <p:cNvSpPr/>
          <p:nvPr/>
        </p:nvSpPr>
        <p:spPr>
          <a:xfrm>
            <a:off x="5423920" y="3170943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6D7F319D-AD1F-B275-15D6-99C425155390}"/>
              </a:ext>
            </a:extLst>
          </p:cNvPr>
          <p:cNvSpPr/>
          <p:nvPr/>
        </p:nvSpPr>
        <p:spPr>
          <a:xfrm rot="10800000">
            <a:off x="7289541" y="3170943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618D0D-FC9F-EF70-28D4-3346B0670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58353"/>
              </p:ext>
            </p:extLst>
          </p:nvPr>
        </p:nvGraphicFramePr>
        <p:xfrm>
          <a:off x="2048272" y="2331635"/>
          <a:ext cx="1446281" cy="1027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70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</a:tblGrid>
              <a:tr h="36518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651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8091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</a:tbl>
          </a:graphicData>
        </a:graphic>
      </p:graphicFrame>
      <p:sp>
        <p:nvSpPr>
          <p:cNvPr id="17" name="Left Bracket 16">
            <a:extLst>
              <a:ext uri="{FF2B5EF4-FFF2-40B4-BE49-F238E27FC236}">
                <a16:creationId xmlns:a16="http://schemas.microsoft.com/office/drawing/2014/main" id="{E52893EF-A2D2-0FFD-851E-BEBE650DCA30}"/>
              </a:ext>
            </a:extLst>
          </p:cNvPr>
          <p:cNvSpPr/>
          <p:nvPr/>
        </p:nvSpPr>
        <p:spPr>
          <a:xfrm>
            <a:off x="1892080" y="2282756"/>
            <a:ext cx="240909" cy="1076431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778F082A-8556-DF6E-C222-266A03334E45}"/>
              </a:ext>
            </a:extLst>
          </p:cNvPr>
          <p:cNvSpPr/>
          <p:nvPr/>
        </p:nvSpPr>
        <p:spPr>
          <a:xfrm rot="10800000">
            <a:off x="3194579" y="2298454"/>
            <a:ext cx="240909" cy="1076431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C8867A3-4A2D-0614-7B06-1ABBD3BC1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11891"/>
              </p:ext>
            </p:extLst>
          </p:nvPr>
        </p:nvGraphicFramePr>
        <p:xfrm>
          <a:off x="2051720" y="3611166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20" name="Left Bracket 19">
            <a:extLst>
              <a:ext uri="{FF2B5EF4-FFF2-40B4-BE49-F238E27FC236}">
                <a16:creationId xmlns:a16="http://schemas.microsoft.com/office/drawing/2014/main" id="{48AF3A2D-5335-D4AE-A70C-EAF89F8E30E3}"/>
              </a:ext>
            </a:extLst>
          </p:cNvPr>
          <p:cNvSpPr/>
          <p:nvPr/>
        </p:nvSpPr>
        <p:spPr>
          <a:xfrm>
            <a:off x="1895528" y="3562287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B5065C06-BDAF-78F4-C716-A2074C1BAE9C}"/>
              </a:ext>
            </a:extLst>
          </p:cNvPr>
          <p:cNvSpPr/>
          <p:nvPr/>
        </p:nvSpPr>
        <p:spPr>
          <a:xfrm rot="10800000">
            <a:off x="3761149" y="3562287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824662-9373-A6A5-2531-A196D3A25EC0}"/>
              </a:ext>
            </a:extLst>
          </p:cNvPr>
          <p:cNvCxnSpPr/>
          <p:nvPr/>
        </p:nvCxnSpPr>
        <p:spPr>
          <a:xfrm>
            <a:off x="3707904" y="2643758"/>
            <a:ext cx="1584176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C98F4E0-F740-C9E6-5232-CED0E97F7935}"/>
              </a:ext>
            </a:extLst>
          </p:cNvPr>
          <p:cNvSpPr txBox="1"/>
          <p:nvPr/>
        </p:nvSpPr>
        <p:spPr>
          <a:xfrm>
            <a:off x="4160273" y="2446767"/>
            <a:ext cx="105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x, y, yaw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C3470C-5905-420B-5946-61AFE79ED05A}"/>
              </a:ext>
            </a:extLst>
          </p:cNvPr>
          <p:cNvCxnSpPr/>
          <p:nvPr/>
        </p:nvCxnSpPr>
        <p:spPr>
          <a:xfrm flipV="1">
            <a:off x="4247964" y="4234077"/>
            <a:ext cx="963879" cy="30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214CE6-C016-CC8D-DEF8-51A7C19AB17F}"/>
              </a:ext>
            </a:extLst>
          </p:cNvPr>
          <p:cNvSpPr txBox="1"/>
          <p:nvPr/>
        </p:nvSpPr>
        <p:spPr>
          <a:xfrm>
            <a:off x="4017766" y="3779266"/>
            <a:ext cx="139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z, pitch, roll</a:t>
            </a:r>
          </a:p>
        </p:txBody>
      </p:sp>
    </p:spTree>
    <p:extLst>
      <p:ext uri="{BB962C8B-B14F-4D97-AF65-F5344CB8AC3E}">
        <p14:creationId xmlns:p14="http://schemas.microsoft.com/office/powerpoint/2010/main" val="393743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B051-0EF6-8F7B-56A4-C014AFF6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2CB50-C8A5-0856-D78D-E98286EBC0A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</a:t>
            </a:r>
            <a:r>
              <a:rPr lang="en-US" sz="2400" dirty="0" err="1">
                <a:ea typeface="游ゴシック Medium"/>
                <a:cs typeface="Times New Roman"/>
              </a:rPr>
              <a:t>SimpleITK</a:t>
            </a:r>
            <a:endParaRPr lang="en-US" sz="2400" dirty="0">
              <a:ea typeface="游ゴシック Medium"/>
              <a:cs typeface="Times New Roman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E78D97E-74FD-2C66-7EBF-94EB233ED3EB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What works best so far (</a:t>
            </a:r>
            <a:r>
              <a:rPr lang="en-US" sz="2000" dirty="0" err="1">
                <a:ea typeface="游ゴシック Medium"/>
                <a:cs typeface="Times New Roman"/>
              </a:rPr>
              <a:t>SimpleITK</a:t>
            </a:r>
            <a:r>
              <a:rPr lang="en-US" sz="2000" dirty="0">
                <a:ea typeface="游ゴシック Medium"/>
                <a:cs typeface="Times New Roman"/>
              </a:rPr>
              <a:t>):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solidFill>
                  <a:schemeClr val="tx1"/>
                </a:solidFill>
                <a:ea typeface="游ゴシック Medium"/>
                <a:cs typeface="Times New Roman"/>
              </a:rPr>
              <a:t>Metric</a:t>
            </a:r>
            <a:r>
              <a:rPr lang="en-US" sz="2000" b="0" dirty="0">
                <a:ea typeface="游ゴシック Medium"/>
                <a:cs typeface="Times New Roman"/>
              </a:rPr>
              <a:t>: Mattes Mutual Information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solidFill>
                  <a:schemeClr val="tx1"/>
                </a:solidFill>
                <a:ea typeface="游ゴシック Medium"/>
                <a:cs typeface="Times New Roman"/>
              </a:rPr>
              <a:t>Maximize information between fixed and moving image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Uses combination various probability distributions</a:t>
            </a:r>
          </a:p>
          <a:p>
            <a:pPr lvl="1">
              <a:buClr>
                <a:srgbClr val="9E3611"/>
              </a:buClr>
            </a:pPr>
            <a:endParaRPr lang="en-US" sz="185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Optimizer: Gradient Descent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Init with pose estimation from </a:t>
            </a:r>
            <a:r>
              <a:rPr lang="en-US" sz="1850" b="0" dirty="0" err="1">
                <a:ea typeface="游ゴシック Medium"/>
                <a:cs typeface="Times New Roman"/>
              </a:rPr>
              <a:t>DualTrack</a:t>
            </a:r>
            <a:r>
              <a:rPr lang="en-US" sz="1850" b="0" dirty="0">
                <a:ea typeface="游ゴシック Medium"/>
                <a:cs typeface="Times New Roman"/>
              </a:rPr>
              <a:t> (</a:t>
            </a:r>
            <a:r>
              <a:rPr lang="en-US" sz="1850" b="0" dirty="0" err="1">
                <a:ea typeface="游ゴシック Medium"/>
                <a:cs typeface="Times New Roman"/>
              </a:rPr>
              <a:t>init</a:t>
            </a:r>
            <a:r>
              <a:rPr lang="en-US" sz="1850" b="0" dirty="0">
                <a:ea typeface="游ゴシック Medium"/>
                <a:cs typeface="Times New Roman"/>
              </a:rPr>
              <a:t> with identity works almost equally well)</a:t>
            </a:r>
          </a:p>
          <a:p>
            <a:pPr lvl="1">
              <a:buClr>
                <a:srgbClr val="9E3611"/>
              </a:buClr>
            </a:pPr>
            <a:endParaRPr lang="en-US" sz="185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Extra: Multi Resolution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Perform IR on </a:t>
            </a:r>
            <a:r>
              <a:rPr lang="en-US" sz="1850" b="0" dirty="0" err="1">
                <a:ea typeface="游ゴシック Medium"/>
                <a:cs typeface="Times New Roman"/>
              </a:rPr>
              <a:t>downsampled</a:t>
            </a:r>
            <a:r>
              <a:rPr lang="en-US" sz="1850" b="0" dirty="0">
                <a:ea typeface="游ゴシック Medium"/>
                <a:cs typeface="Times New Roman"/>
              </a:rPr>
              <a:t> versions of fixed and moving and combine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Emphasize global features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Slight improvement of results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AB01D8D-8608-E5C2-BC25-E92EDC8B4C7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5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41138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BFF6-F96D-759B-7CD5-FE798303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579CF-050E-2E4C-565F-8F9AEE04871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AB8BF09-3CC4-BE08-8058-C4E80F75A750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      Norm of translational vector		                    Angle of the rotation  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26921FA-F22E-5477-6E36-22AFF44AB2E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6</a:t>
            </a:fld>
            <a:endParaRPr lang="en-JP"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CB09F907-91E2-66DC-A06B-F98D7F1B2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0"/>
            <a:ext cx="914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3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46F0-4886-E1AB-21AB-5E3D278D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04A049-4A1D-2A82-224B-3C431ED2206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DD8E8B9-C7CA-94B6-5C83-2E0F0AD60C18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Blue: GT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Yellow: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38C8B24-24FF-6957-259C-F6EB4148B521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7</a:t>
            </a:fld>
            <a:endParaRPr lang="en-JP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0938B9-F821-E185-E3EE-A3237F47D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657388"/>
            <a:ext cx="58483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1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F4D0-91CB-6276-B7ED-90D27F78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E8E00-7FD1-6F1E-FDC3-FF01AA1BD96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6616A3B-5A00-8CDF-BFBA-C5996F8B948C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BA5A07-CC6C-1956-E939-1B54DCAF1C9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8</a:t>
            </a:fld>
            <a:endParaRPr lang="en-JP" dirty="0"/>
          </a:p>
        </p:txBody>
      </p:sp>
      <p:pic>
        <p:nvPicPr>
          <p:cNvPr id="9" name="Picture 8" descr="A graph on a grid&#10;&#10;AI-generated content may be incorrect.">
            <a:extLst>
              <a:ext uri="{FF2B5EF4-FFF2-40B4-BE49-F238E27FC236}">
                <a16:creationId xmlns:a16="http://schemas.microsoft.com/office/drawing/2014/main" id="{7FBA6B78-B9DF-0168-DF83-472578948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14" y="665757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5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E615-AAEB-85FD-6A44-E1614A63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9D0D0E-5139-8637-F4ED-74D6CAAA275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Problem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6618D5B-77FA-8994-A5A3-4939BDC58824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Problem</a:t>
            </a:r>
            <a:r>
              <a:rPr lang="en-US" sz="2000" b="0" dirty="0">
                <a:ea typeface="游ゴシック Medium"/>
                <a:cs typeface="Times New Roman"/>
              </a:rPr>
              <a:t>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2D IR does not account for out-of-plane motion (z axis)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 y                                                          </a:t>
            </a:r>
            <a:r>
              <a:rPr lang="en-US" sz="2000" b="0" dirty="0" err="1">
                <a:ea typeface="游ゴシック Medium"/>
                <a:cs typeface="Times New Roman"/>
              </a:rPr>
              <a:t>y</a:t>
            </a: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							       x						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	        x						z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Features present in one picture are not necessarily present in the other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2D IR cannot find a transform which makes the two images align perfectly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GT transform will not yield a perfect error metric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AB306FF-6212-2853-245A-1687794578FA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9</a:t>
            </a:fld>
            <a:endParaRPr lang="en-JP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92867-713B-53BD-0E58-DD806D3F62EE}"/>
              </a:ext>
            </a:extLst>
          </p:cNvPr>
          <p:cNvSpPr/>
          <p:nvPr/>
        </p:nvSpPr>
        <p:spPr>
          <a:xfrm>
            <a:off x="1547664" y="1851670"/>
            <a:ext cx="792088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DAF8C-1498-EDC2-5A45-DEAE5FC3278B}"/>
              </a:ext>
            </a:extLst>
          </p:cNvPr>
          <p:cNvSpPr/>
          <p:nvPr/>
        </p:nvSpPr>
        <p:spPr>
          <a:xfrm>
            <a:off x="2987824" y="1851670"/>
            <a:ext cx="792088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FE8E0-B909-D391-C20A-98A17EFCAFA1}"/>
              </a:ext>
            </a:extLst>
          </p:cNvPr>
          <p:cNvSpPr/>
          <p:nvPr/>
        </p:nvSpPr>
        <p:spPr>
          <a:xfrm>
            <a:off x="5521545" y="1851670"/>
            <a:ext cx="792088" cy="792088"/>
          </a:xfrm>
          <a:prstGeom prst="rect">
            <a:avLst/>
          </a:prstGeom>
          <a:scene3d>
            <a:camera prst="orthographicFront">
              <a:rot lat="19799999" lon="329996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23DA5-5419-E853-70EE-478CB5895B8E}"/>
              </a:ext>
            </a:extLst>
          </p:cNvPr>
          <p:cNvSpPr/>
          <p:nvPr/>
        </p:nvSpPr>
        <p:spPr>
          <a:xfrm>
            <a:off x="6516216" y="1851670"/>
            <a:ext cx="792088" cy="792088"/>
          </a:xfrm>
          <a:prstGeom prst="rect">
            <a:avLst/>
          </a:prstGeom>
          <a:scene3d>
            <a:camera prst="orthographicFront">
              <a:rot lat="19799999" lon="329996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0FC7E9-0368-4B6E-EE65-2103BB15D0F2}"/>
              </a:ext>
            </a:extLst>
          </p:cNvPr>
          <p:cNvCxnSpPr>
            <a:cxnSpLocks/>
          </p:cNvCxnSpPr>
          <p:nvPr/>
        </p:nvCxnSpPr>
        <p:spPr>
          <a:xfrm>
            <a:off x="2411760" y="2251425"/>
            <a:ext cx="50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AAC163-8BF5-3C22-18DA-3D11C3110ECE}"/>
              </a:ext>
            </a:extLst>
          </p:cNvPr>
          <p:cNvCxnSpPr>
            <a:cxnSpLocks/>
          </p:cNvCxnSpPr>
          <p:nvPr/>
        </p:nvCxnSpPr>
        <p:spPr>
          <a:xfrm>
            <a:off x="6156176" y="2265019"/>
            <a:ext cx="50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CF09BC-FC37-0628-91C8-391B321031B7}"/>
              </a:ext>
            </a:extLst>
          </p:cNvPr>
          <p:cNvCxnSpPr/>
          <p:nvPr/>
        </p:nvCxnSpPr>
        <p:spPr>
          <a:xfrm flipV="1">
            <a:off x="1187624" y="1851670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52777-E938-7B27-8B01-5E90D1C2E7C4}"/>
              </a:ext>
            </a:extLst>
          </p:cNvPr>
          <p:cNvCxnSpPr/>
          <p:nvPr/>
        </p:nvCxnSpPr>
        <p:spPr>
          <a:xfrm>
            <a:off x="1187624" y="285978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E11D03-01C0-AC1D-769E-8F550BC2D25F}"/>
              </a:ext>
            </a:extLst>
          </p:cNvPr>
          <p:cNvCxnSpPr/>
          <p:nvPr/>
        </p:nvCxnSpPr>
        <p:spPr>
          <a:xfrm flipV="1">
            <a:off x="5580112" y="1853233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BF172C-0E26-7B99-3F0D-7FB62ADDDD75}"/>
              </a:ext>
            </a:extLst>
          </p:cNvPr>
          <p:cNvCxnSpPr>
            <a:cxnSpLocks/>
          </p:cNvCxnSpPr>
          <p:nvPr/>
        </p:nvCxnSpPr>
        <p:spPr>
          <a:xfrm flipV="1">
            <a:off x="5580112" y="2355726"/>
            <a:ext cx="792088" cy="52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19258C-7F9D-E6B6-5ECB-484EF04F58E4}"/>
              </a:ext>
            </a:extLst>
          </p:cNvPr>
          <p:cNvCxnSpPr>
            <a:cxnSpLocks/>
          </p:cNvCxnSpPr>
          <p:nvPr/>
        </p:nvCxnSpPr>
        <p:spPr>
          <a:xfrm>
            <a:off x="5588496" y="2878481"/>
            <a:ext cx="927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5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89B8-59B9-7747-9CFF-C3695100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456144-7424-555C-A8FB-2C3175541B0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Next steps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C7CFA56-C9F2-51A1-50B0-B1CA269CF9C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10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F24EC59-7D7C-1FB8-8E3A-F9AD0DBE5F14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Improve 2D IR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Combine with PGO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Try 3D IR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Write Master Thesis</a:t>
            </a:r>
          </a:p>
        </p:txBody>
      </p:sp>
    </p:spTree>
    <p:extLst>
      <p:ext uri="{BB962C8B-B14F-4D97-AF65-F5344CB8AC3E}">
        <p14:creationId xmlns:p14="http://schemas.microsoft.com/office/powerpoint/2010/main" val="4237612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2486</TotalTime>
  <Words>474</Words>
  <Application>Microsoft Office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Yu Gothic Medium</vt:lpstr>
      <vt:lpstr>Yu Gothic Medium</vt:lpstr>
      <vt:lpstr>Abadi</vt:lpstr>
      <vt:lpstr>Arial</vt:lpstr>
      <vt:lpstr>Cambria</vt:lpstr>
      <vt:lpstr>Cambria Math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   What did I do?</vt:lpstr>
      <vt:lpstr>   Image Registration: Basics</vt:lpstr>
      <vt:lpstr>   Image Registration: Combination of transforms</vt:lpstr>
      <vt:lpstr>   Image Registration: SimpleITK</vt:lpstr>
      <vt:lpstr>   Image Registration: Results</vt:lpstr>
      <vt:lpstr>   Image Registration: Results</vt:lpstr>
      <vt:lpstr>   Image Registration: Results</vt:lpstr>
      <vt:lpstr>   Image Registration: Problem</vt:lpstr>
      <vt:lpstr>   Next steps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1075</cp:revision>
  <dcterms:created xsi:type="dcterms:W3CDTF">2020-07-20T06:28:23Z</dcterms:created>
  <dcterms:modified xsi:type="dcterms:W3CDTF">2026-07-05T08:20:19Z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